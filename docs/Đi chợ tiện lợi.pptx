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7"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44000"/>
  <p:embeddedFontLst>
    <p:embeddedFont>
      <p:font typeface="Lato" panose="020F0502020204030203" pitchFamily="3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C0393F9-CDA0-4E3F-9450-044A11AE9FAB}">
  <a:tblStyle styleId="{2C0393F9-CDA0-4E3F-9450-044A11AE9FAB}"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56" autoAdjust="0"/>
    <p:restoredTop sz="94660"/>
  </p:normalViewPr>
  <p:slideViewPr>
    <p:cSldViewPr snapToGrid="0">
      <p:cViewPr varScale="1">
        <p:scale>
          <a:sx n="78" d="100"/>
          <a:sy n="78" d="100"/>
        </p:scale>
        <p:origin x="1613"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 name="Google Shape;5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 name="Google Shape;59;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 name="Google Shape;66;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 name="Google Shape;83;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2" name="Google Shape;332;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3" name="Google Shape;373;p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and Content">
  <p:cSld name="1_Title and Content">
    <p:bg>
      <p:bgPr>
        <a:blipFill>
          <a:blip r:embed="rId2">
            <a:alphaModFix/>
          </a:blip>
          <a:stretch>
            <a:fillRect/>
          </a:stretch>
        </a:blipFill>
        <a:effectLst/>
      </p:bgPr>
    </p:bg>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Only">
  <p:cSld name="1_Title Only">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511295" y="224917"/>
            <a:ext cx="5397627"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2800"/>
              <a:buFont typeface="Lato"/>
              <a:buNone/>
              <a:defRPr sz="2800" b="1" i="0" u="none" strike="noStrike" cap="none">
                <a:solidFill>
                  <a:schemeClr val="dk1"/>
                </a:solidFill>
                <a:latin typeface="Arial" panose="020B0604020202020204" pitchFamily="34" charset="0"/>
                <a:ea typeface="Lato"/>
                <a:cs typeface="Arial" panose="020B0604020202020204" pitchFamily="34" charset="0"/>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3"/>
          <p:cNvSpPr txBox="1">
            <a:spLocks noGrp="1"/>
          </p:cNvSpPr>
          <p:nvPr>
            <p:ph type="body" idx="1"/>
          </p:nvPr>
        </p:nvSpPr>
        <p:spPr>
          <a:xfrm>
            <a:off x="3524251" y="1011238"/>
            <a:ext cx="5384672" cy="5529262"/>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panose="020B0604020202020204" pitchFamily="34" charset="0"/>
                <a:ea typeface="Lato"/>
                <a:cs typeface="Arial" panose="020B0604020202020204" pitchFamily="34" charset="0"/>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4" name="Google Shape;14;p3"/>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F2F2F2"/>
                </a:solidFill>
                <a:latin typeface="Arial" panose="020B0604020202020204" pitchFamily="34" charset="0"/>
                <a:ea typeface="Lato"/>
                <a:cs typeface="Arial" panose="020B0604020202020204" pitchFamily="34" charset="0"/>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15" name="Google Shape;15;p3"/>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Arial" panose="020B0604020202020204" pitchFamily="34" charset="0"/>
                <a:ea typeface="Lato"/>
                <a:cs typeface="Arial" panose="020B0604020202020204" pitchFamily="34" charset="0"/>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16" name="Google Shape;16;p3"/>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Arial" panose="020B0604020202020204" pitchFamily="34" charset="0"/>
                <a:ea typeface="Lato"/>
                <a:cs typeface="Arial" panose="020B0604020202020204" pitchFamily="34" charset="0"/>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Section Header">
  <p:cSld name="1_Section Header">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4"/>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Arial" panose="020B0604020202020204" pitchFamily="34" charset="0"/>
                <a:ea typeface="Lato"/>
                <a:cs typeface="Arial" panose="020B0604020202020204" pitchFamily="34" charset="0"/>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19" name="Google Shape;19;p4"/>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Arial" panose="020B0604020202020204" pitchFamily="34" charset="0"/>
                <a:ea typeface="Lato"/>
                <a:cs typeface="Arial" panose="020B0604020202020204" pitchFamily="34" charset="0"/>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20" name="Google Shape;20;p4"/>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Arial" panose="020B0604020202020204" pitchFamily="34" charset="0"/>
                <a:ea typeface="Lato"/>
                <a:cs typeface="Arial" panose="020B0604020202020204" pitchFamily="34" charset="0"/>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fld id="{00000000-1234-1234-1234-123412341234}" type="slidenum">
              <a:rPr lang="en-US" smtClean="0"/>
              <a:pPr/>
              <a:t>‹#›</a:t>
            </a:fld>
            <a:endParaRPr lang="en-US"/>
          </a:p>
        </p:txBody>
      </p:sp>
      <p:sp>
        <p:nvSpPr>
          <p:cNvPr id="21" name="Google Shape;21;p4"/>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Arial" panose="020B0604020202020204" pitchFamily="34" charset="0"/>
                <a:ea typeface="Lato"/>
                <a:cs typeface="Arial" panose="020B0604020202020204" pitchFamily="34" charset="0"/>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2" name="Google Shape;22;p4"/>
          <p:cNvSpPr txBox="1">
            <a:spLocks noGrp="1"/>
          </p:cNvSpPr>
          <p:nvPr>
            <p:ph type="body" idx="1"/>
          </p:nvPr>
        </p:nvSpPr>
        <p:spPr>
          <a:xfrm>
            <a:off x="235077" y="841247"/>
            <a:ext cx="8674100" cy="530339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panose="020B0604020202020204" pitchFamily="34" charset="0"/>
                <a:ea typeface="Lato"/>
                <a:cs typeface="Arial" panose="020B0604020202020204" pitchFamily="34" charset="0"/>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Content with Caption">
  <p:cSld name="1_Content with Caption">
    <p:bg>
      <p:bgPr>
        <a:blipFill>
          <a:blip r:embed="rId2">
            <a:alphaModFix/>
          </a:blip>
          <a:stretch>
            <a:fillRect/>
          </a:stretch>
        </a:blipFill>
        <a:effectLst/>
      </p:bgPr>
    </p:bg>
    <p:spTree>
      <p:nvGrpSpPr>
        <p:cNvPr id="1" name="Shape 23"/>
        <p:cNvGrpSpPr/>
        <p:nvPr/>
      </p:nvGrpSpPr>
      <p:grpSpPr>
        <a:xfrm>
          <a:off x="0" y="0"/>
          <a:ext cx="0" cy="0"/>
          <a:chOff x="0" y="0"/>
          <a:chExt cx="0" cy="0"/>
        </a:xfrm>
      </p:grpSpPr>
      <p:sp>
        <p:nvSpPr>
          <p:cNvPr id="24" name="Google Shape;24;p5"/>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F2F2F2"/>
                </a:solidFill>
                <a:latin typeface="Arial" panose="020B0604020202020204" pitchFamily="34" charset="0"/>
                <a:ea typeface="Lato"/>
                <a:cs typeface="Arial" panose="020B0604020202020204" pitchFamily="34" charset="0"/>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25" name="Google Shape;25;p5"/>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Arial" panose="020B0604020202020204" pitchFamily="34" charset="0"/>
                <a:ea typeface="Lato"/>
                <a:cs typeface="Arial" panose="020B0604020202020204" pitchFamily="34" charset="0"/>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26" name="Google Shape;26;p5"/>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Arial" panose="020B0604020202020204" pitchFamily="34" charset="0"/>
                <a:ea typeface="Lato"/>
                <a:cs typeface="Arial" panose="020B0604020202020204" pitchFamily="34" charset="0"/>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ustom Layout">
  <p:cSld name="Custom Layout">
    <p:bg>
      <p:bgPr>
        <a:blipFill>
          <a:blip r:embed="rId2">
            <a:alphaModFix/>
          </a:blip>
          <a:stretch>
            <a:fillRect/>
          </a:stretch>
        </a:blipFill>
        <a:effectLst/>
      </p:bgPr>
    </p:bg>
    <p:spTree>
      <p:nvGrpSpPr>
        <p:cNvPr id="1" name="Shape 27"/>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a:alphaModFix/>
          </a:blip>
          <a:stretch>
            <a:fillRect/>
          </a:stretch>
        </a:blipFill>
        <a:effectLst/>
      </p:bgPr>
    </p:bg>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2380488" y="2365248"/>
            <a:ext cx="4383024" cy="2127504"/>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lt1"/>
              </a:buClr>
              <a:buSzPts val="4800"/>
              <a:buFont typeface="Lato"/>
              <a:buNone/>
              <a:defRPr sz="4800" b="1" i="0" u="none" strike="noStrike" cap="none">
                <a:solidFill>
                  <a:schemeClr val="lt1"/>
                </a:solidFill>
                <a:latin typeface="Arial" panose="020B0604020202020204" pitchFamily="34" charset="0"/>
                <a:ea typeface="Lato"/>
                <a:cs typeface="Arial" panose="020B0604020202020204" pitchFamily="34" charset="0"/>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wo Content">
  <p:cSld name="1_Two Content">
    <p:bg>
      <p:bgPr>
        <a:blipFill>
          <a:blip r:embed="rId2">
            <a:alphaModFix/>
          </a:blip>
          <a:stretch>
            <a:fillRect/>
          </a:stretch>
        </a:blipFill>
        <a:effectLst/>
      </p:bgPr>
    </p:bg>
    <p:spTree>
      <p:nvGrpSpPr>
        <p:cNvPr id="1" name="Shape 30"/>
        <p:cNvGrpSpPr/>
        <p:nvPr/>
      </p:nvGrpSpPr>
      <p:grpSpPr>
        <a:xfrm>
          <a:off x="0" y="0"/>
          <a:ext cx="0" cy="0"/>
          <a:chOff x="0" y="0"/>
          <a:chExt cx="0" cy="0"/>
        </a:xfrm>
      </p:grpSpPr>
      <p:sp>
        <p:nvSpPr>
          <p:cNvPr id="31" name="Google Shape;31;p8"/>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Arial" panose="020B0604020202020204" pitchFamily="34" charset="0"/>
                <a:ea typeface="Lato"/>
                <a:cs typeface="Arial" panose="020B0604020202020204" pitchFamily="34" charset="0"/>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32" name="Google Shape;32;p8"/>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Arial" panose="020B0604020202020204" pitchFamily="34" charset="0"/>
                <a:ea typeface="Lato"/>
                <a:cs typeface="Arial" panose="020B0604020202020204" pitchFamily="34" charset="0"/>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33" name="Google Shape;33;p8"/>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Arial" panose="020B0604020202020204" pitchFamily="34" charset="0"/>
                <a:ea typeface="Lato"/>
                <a:cs typeface="Arial" panose="020B0604020202020204" pitchFamily="34" charset="0"/>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fld id="{00000000-1234-1234-1234-123412341234}" type="slidenum">
              <a:rPr lang="en-US" smtClean="0"/>
              <a:pPr/>
              <a:t>‹#›</a:t>
            </a:fld>
            <a:endParaRPr lang="en-US"/>
          </a:p>
        </p:txBody>
      </p:sp>
      <p:sp>
        <p:nvSpPr>
          <p:cNvPr id="34" name="Google Shape;34;p8"/>
          <p:cNvSpPr txBox="1">
            <a:spLocks noGrp="1"/>
          </p:cNvSpPr>
          <p:nvPr>
            <p:ph type="body" idx="1"/>
          </p:nvPr>
        </p:nvSpPr>
        <p:spPr>
          <a:xfrm>
            <a:off x="528828" y="1423289"/>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panose="020B0604020202020204" pitchFamily="34" charset="0"/>
                <a:ea typeface="Lato"/>
                <a:cs typeface="Arial" panose="020B0604020202020204" pitchFamily="34" charset="0"/>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5" name="Google Shape;35;p8"/>
          <p:cNvSpPr txBox="1">
            <a:spLocks noGrp="1"/>
          </p:cNvSpPr>
          <p:nvPr>
            <p:ph type="body" idx="2"/>
          </p:nvPr>
        </p:nvSpPr>
        <p:spPr>
          <a:xfrm>
            <a:off x="4572000" y="1423289"/>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panose="020B0604020202020204" pitchFamily="34" charset="0"/>
                <a:ea typeface="Lato"/>
                <a:cs typeface="Arial" panose="020B0604020202020204" pitchFamily="34" charset="0"/>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 name="Google Shape;36;p8"/>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Arial" panose="020B0604020202020204" pitchFamily="34" charset="0"/>
                <a:ea typeface="Lato"/>
                <a:cs typeface="Arial" panose="020B0604020202020204" pitchFamily="34" charset="0"/>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Comparison">
  <p:cSld name="1_Comparison">
    <p:bg>
      <p:bgPr>
        <a:blipFill>
          <a:blip r:embed="rId2">
            <a:alphaModFix/>
          </a:blip>
          <a:stretch>
            <a:fillRect/>
          </a:stretch>
        </a:blipFill>
        <a:effectLst/>
      </p:bgPr>
    </p:bg>
    <p:spTree>
      <p:nvGrpSpPr>
        <p:cNvPr id="1" name="Shape 37"/>
        <p:cNvGrpSpPr/>
        <p:nvPr/>
      </p:nvGrpSpPr>
      <p:grpSpPr>
        <a:xfrm>
          <a:off x="0" y="0"/>
          <a:ext cx="0" cy="0"/>
          <a:chOff x="0" y="0"/>
          <a:chExt cx="0" cy="0"/>
        </a:xfrm>
      </p:grpSpPr>
      <p:sp>
        <p:nvSpPr>
          <p:cNvPr id="38" name="Google Shape;38;p9"/>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Arial" panose="020B0604020202020204" pitchFamily="34" charset="0"/>
                <a:ea typeface="Lato"/>
                <a:cs typeface="Arial" panose="020B0604020202020204" pitchFamily="34" charset="0"/>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39" name="Google Shape;39;p9"/>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Arial" panose="020B0604020202020204" pitchFamily="34" charset="0"/>
                <a:ea typeface="Lato"/>
                <a:cs typeface="Arial" panose="020B0604020202020204" pitchFamily="34" charset="0"/>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40" name="Google Shape;40;p9"/>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Arial" panose="020B0604020202020204" pitchFamily="34" charset="0"/>
                <a:ea typeface="Lato"/>
                <a:cs typeface="Arial" panose="020B0604020202020204" pitchFamily="34" charset="0"/>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fld id="{00000000-1234-1234-1234-123412341234}" type="slidenum">
              <a:rPr lang="en-US" smtClean="0"/>
              <a:pPr/>
              <a:t>‹#›</a:t>
            </a:fld>
            <a:endParaRPr lang="en-US"/>
          </a:p>
        </p:txBody>
      </p:sp>
      <p:sp>
        <p:nvSpPr>
          <p:cNvPr id="41" name="Google Shape;41;p9"/>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Arial" panose="020B0604020202020204" pitchFamily="34" charset="0"/>
                <a:ea typeface="Lato"/>
                <a:cs typeface="Arial" panose="020B0604020202020204" pitchFamily="34" charset="0"/>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9"/>
          <p:cNvSpPr txBox="1">
            <a:spLocks noGrp="1"/>
          </p:cNvSpPr>
          <p:nvPr>
            <p:ph type="body" idx="1"/>
          </p:nvPr>
        </p:nvSpPr>
        <p:spPr>
          <a:xfrm>
            <a:off x="234950" y="963168"/>
            <a:ext cx="8674100" cy="5132832"/>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panose="020B0604020202020204" pitchFamily="34" charset="0"/>
                <a:ea typeface="Lato"/>
                <a:cs typeface="Arial" panose="020B0604020202020204" pitchFamily="34" charset="0"/>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Blank">
  <p:cSld name="1_Blank">
    <p:bg>
      <p:bgPr>
        <a:blipFill>
          <a:blip r:embed="rId2">
            <a:alphaModFix/>
          </a:blip>
          <a:stretch>
            <a:fillRect/>
          </a:stretch>
        </a:blipFill>
        <a:effectLst/>
      </p:bgPr>
    </p:bg>
    <p:spTree>
      <p:nvGrpSpPr>
        <p:cNvPr id="1" name="Shape 43"/>
        <p:cNvGrpSpPr/>
        <p:nvPr/>
      </p:nvGrpSpPr>
      <p:grpSpPr>
        <a:xfrm>
          <a:off x="0" y="0"/>
          <a:ext cx="0" cy="0"/>
          <a:chOff x="0" y="0"/>
          <a:chExt cx="0" cy="0"/>
        </a:xfrm>
      </p:grpSpPr>
      <p:sp>
        <p:nvSpPr>
          <p:cNvPr id="44" name="Google Shape;44;p10"/>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Arial" panose="020B0604020202020204" pitchFamily="34" charset="0"/>
                <a:ea typeface="Lato"/>
                <a:cs typeface="Arial" panose="020B0604020202020204" pitchFamily="34" charset="0"/>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5" name="Google Shape;45;p10"/>
          <p:cNvSpPr txBox="1">
            <a:spLocks noGrp="1"/>
          </p:cNvSpPr>
          <p:nvPr>
            <p:ph type="body" idx="1"/>
          </p:nvPr>
        </p:nvSpPr>
        <p:spPr>
          <a:xfrm>
            <a:off x="595884" y="1533017"/>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panose="020B0604020202020204" pitchFamily="34" charset="0"/>
                <a:ea typeface="Lato"/>
                <a:cs typeface="Arial" panose="020B0604020202020204" pitchFamily="34" charset="0"/>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10"/>
          <p:cNvSpPr txBox="1">
            <a:spLocks noGrp="1"/>
          </p:cNvSpPr>
          <p:nvPr>
            <p:ph type="body" idx="2"/>
          </p:nvPr>
        </p:nvSpPr>
        <p:spPr>
          <a:xfrm>
            <a:off x="4639056" y="1533017"/>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panose="020B0604020202020204" pitchFamily="34" charset="0"/>
                <a:ea typeface="Lato"/>
                <a:cs typeface="Arial" panose="020B0604020202020204" pitchFamily="34" charset="0"/>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7" name="Google Shape;47;p10"/>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Arial" panose="020B0604020202020204" pitchFamily="34" charset="0"/>
                <a:ea typeface="Lato"/>
                <a:cs typeface="Arial" panose="020B0604020202020204" pitchFamily="34" charset="0"/>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48" name="Google Shape;48;p10"/>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Arial" panose="020B0604020202020204" pitchFamily="34" charset="0"/>
                <a:ea typeface="Lato"/>
                <a:cs typeface="Arial" panose="020B0604020202020204" pitchFamily="34" charset="0"/>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49" name="Google Shape;49;p10"/>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Arial" panose="020B0604020202020204" pitchFamily="34" charset="0"/>
                <a:ea typeface="Lato"/>
                <a:cs typeface="Arial" panose="020B0604020202020204" pitchFamily="34" charset="0"/>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1">
            <a:alphaModFix/>
          </a:blip>
          <a:stretch>
            <a:fillRect/>
          </a:stretch>
        </a:blip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1" descr="Text&#10;&#10;Description automatically generated"/>
          <p:cNvPicPr preferRelativeResize="0"/>
          <p:nvPr/>
        </p:nvPicPr>
        <p:blipFill rotWithShape="1">
          <a:blip r:embed="rId3">
            <a:alphaModFix/>
          </a:blip>
          <a:srcRect/>
          <a:stretch/>
        </p:blipFill>
        <p:spPr>
          <a:xfrm>
            <a:off x="413012" y="317038"/>
            <a:ext cx="2576374" cy="936215"/>
          </a:xfrm>
          <a:prstGeom prst="rect">
            <a:avLst/>
          </a:prstGeom>
          <a:noFill/>
          <a:ln>
            <a:noFill/>
          </a:ln>
        </p:spPr>
      </p:pic>
      <p:sp>
        <p:nvSpPr>
          <p:cNvPr id="55" name="Google Shape;55;p11"/>
          <p:cNvSpPr txBox="1"/>
          <p:nvPr/>
        </p:nvSpPr>
        <p:spPr>
          <a:xfrm>
            <a:off x="413012" y="2421636"/>
            <a:ext cx="7342482" cy="8487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C00000"/>
              </a:buClr>
              <a:buSzPts val="5400"/>
              <a:buFont typeface="Lato"/>
              <a:buNone/>
            </a:pPr>
            <a:r>
              <a:rPr lang="en-US" sz="5400" b="1" i="0" u="none" strike="noStrike" cap="none">
                <a:solidFill>
                  <a:srgbClr val="C00000"/>
                </a:solidFill>
                <a:latin typeface="Arial" panose="020B0604020202020204" pitchFamily="34" charset="0"/>
                <a:ea typeface="Lato"/>
                <a:cs typeface="Arial" panose="020B0604020202020204" pitchFamily="34" charset="0"/>
                <a:sym typeface="Lato"/>
              </a:rPr>
              <a:t>ĐI CHỢ TIỆN LỢI</a:t>
            </a:r>
            <a:endParaRPr>
              <a:latin typeface="Arial" panose="020B0604020202020204" pitchFamily="34" charset="0"/>
            </a:endParaRPr>
          </a:p>
        </p:txBody>
      </p:sp>
      <p:sp>
        <p:nvSpPr>
          <p:cNvPr id="56" name="Google Shape;56;p11"/>
          <p:cNvSpPr txBox="1"/>
          <p:nvPr/>
        </p:nvSpPr>
        <p:spPr>
          <a:xfrm>
            <a:off x="413012" y="3567622"/>
            <a:ext cx="7342482" cy="84879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C00000"/>
              </a:buClr>
              <a:buSzPts val="2200"/>
              <a:buFont typeface="Lato"/>
              <a:buNone/>
            </a:pPr>
            <a:r>
              <a:rPr lang="en-US" sz="2200" b="0" i="0" u="none" strike="noStrike" cap="none">
                <a:solidFill>
                  <a:srgbClr val="C00000"/>
                </a:solidFill>
                <a:latin typeface="Arial" panose="020B0604020202020204" pitchFamily="34" charset="0"/>
                <a:ea typeface="Lato"/>
                <a:cs typeface="Arial" panose="020B0604020202020204" pitchFamily="34" charset="0"/>
                <a:sym typeface="Lato"/>
              </a:rPr>
              <a:t>Mô hình yêu cầu và thiết kế tổng quan hệ thống</a:t>
            </a:r>
            <a:endParaRPr>
              <a:latin typeface="Arial" panose="020B0604020202020204" pitchFamily="34" charset="0"/>
            </a:endParaRPr>
          </a:p>
          <a:p>
            <a:pPr marL="0" marR="0" lvl="0" indent="0" algn="l" rtl="0">
              <a:lnSpc>
                <a:spcPct val="90000"/>
              </a:lnSpc>
              <a:spcBef>
                <a:spcPts val="1000"/>
              </a:spcBef>
              <a:spcAft>
                <a:spcPts val="0"/>
              </a:spcAft>
              <a:buClr>
                <a:srgbClr val="C00000"/>
              </a:buClr>
              <a:buSzPts val="1800"/>
              <a:buFont typeface="Lato"/>
              <a:buNone/>
            </a:pPr>
            <a:r>
              <a:rPr lang="en-US" sz="1800" b="0" i="0" u="none" strike="noStrike" cap="none">
                <a:solidFill>
                  <a:srgbClr val="C00000"/>
                </a:solidFill>
                <a:latin typeface="Arial" panose="020B0604020202020204" pitchFamily="34" charset="0"/>
                <a:ea typeface="Lato"/>
                <a:cs typeface="Arial" panose="020B0604020202020204" pitchFamily="34" charset="0"/>
                <a:sym typeface="Lato"/>
              </a:rPr>
              <a:t>IT4788 – Phát triển ứng dụng đa nền tảng</a:t>
            </a:r>
            <a:endParaRPr>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2"/>
          <p:cNvSpPr txBox="1">
            <a:spLocks noGrp="1"/>
          </p:cNvSpPr>
          <p:nvPr>
            <p:ph type="title"/>
          </p:nvPr>
        </p:nvSpPr>
        <p:spPr>
          <a:xfrm>
            <a:off x="3511295" y="224917"/>
            <a:ext cx="5397627"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800"/>
              <a:buFont typeface="Lato"/>
              <a:buNone/>
            </a:pPr>
            <a:r>
              <a:rPr lang="en-US" sz="2800" b="1">
                <a:solidFill>
                  <a:schemeClr val="dk1"/>
                </a:solidFill>
                <a:sym typeface="Lato"/>
              </a:rPr>
              <a:t>Nội dung</a:t>
            </a:r>
            <a:endParaRPr/>
          </a:p>
        </p:txBody>
      </p:sp>
      <p:sp>
        <p:nvSpPr>
          <p:cNvPr id="62" name="Google Shape;62;p12"/>
          <p:cNvSpPr txBox="1">
            <a:spLocks noGrp="1"/>
          </p:cNvSpPr>
          <p:nvPr>
            <p:ph type="body" idx="1"/>
          </p:nvPr>
        </p:nvSpPr>
        <p:spPr>
          <a:xfrm>
            <a:off x="3524251" y="1011238"/>
            <a:ext cx="5384672" cy="552926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C00000"/>
              </a:buClr>
              <a:buSzPts val="1600"/>
              <a:buNone/>
            </a:pPr>
            <a:r>
              <a:rPr lang="en-US" sz="1600" b="1" i="0">
                <a:solidFill>
                  <a:srgbClr val="C00000"/>
                </a:solidFill>
                <a:sym typeface="Lato"/>
              </a:rPr>
              <a:t>Mô hình yêu cầu</a:t>
            </a:r>
            <a:endParaRPr/>
          </a:p>
          <a:p>
            <a:pPr marL="457200" lvl="0" indent="-457200" algn="l" rtl="0">
              <a:lnSpc>
                <a:spcPct val="90000"/>
              </a:lnSpc>
              <a:spcBef>
                <a:spcPts val="1000"/>
              </a:spcBef>
              <a:spcAft>
                <a:spcPts val="0"/>
              </a:spcAft>
              <a:buClr>
                <a:srgbClr val="1F1F1F"/>
              </a:buClr>
              <a:buSzPts val="2000"/>
              <a:buFont typeface="Calibri"/>
              <a:buAutoNum type="arabicPeriod"/>
            </a:pPr>
            <a:r>
              <a:rPr lang="en-US" sz="2000" b="0" i="0">
                <a:solidFill>
                  <a:srgbClr val="1F1F1F"/>
                </a:solidFill>
                <a:sym typeface="Lato"/>
              </a:rPr>
              <a:t>Bài toán và phạm vi</a:t>
            </a:r>
            <a:endParaRPr/>
          </a:p>
          <a:p>
            <a:pPr marL="457200" lvl="0" indent="-457200" algn="l" rtl="0">
              <a:lnSpc>
                <a:spcPct val="90000"/>
              </a:lnSpc>
              <a:spcBef>
                <a:spcPts val="1000"/>
              </a:spcBef>
              <a:spcAft>
                <a:spcPts val="0"/>
              </a:spcAft>
              <a:buClr>
                <a:srgbClr val="1F1F1F"/>
              </a:buClr>
              <a:buSzPts val="2000"/>
              <a:buFont typeface="Calibri"/>
              <a:buAutoNum type="arabicPeriod"/>
            </a:pPr>
            <a:r>
              <a:rPr lang="en-US" sz="2000" b="0" i="0">
                <a:solidFill>
                  <a:srgbClr val="1F1F1F"/>
                </a:solidFill>
                <a:sym typeface="Lato"/>
              </a:rPr>
              <a:t>Tác nhân và use case</a:t>
            </a:r>
            <a:endParaRPr/>
          </a:p>
          <a:p>
            <a:pPr marL="457200" lvl="0" indent="-457200" algn="l" rtl="0">
              <a:lnSpc>
                <a:spcPct val="90000"/>
              </a:lnSpc>
              <a:spcBef>
                <a:spcPts val="1000"/>
              </a:spcBef>
              <a:spcAft>
                <a:spcPts val="0"/>
              </a:spcAft>
              <a:buClr>
                <a:srgbClr val="1F1F1F"/>
              </a:buClr>
              <a:buSzPts val="2000"/>
              <a:buFont typeface="Calibri"/>
              <a:buAutoNum type="arabicPeriod"/>
            </a:pPr>
            <a:r>
              <a:rPr lang="en-US" sz="2000" b="0" i="0">
                <a:solidFill>
                  <a:srgbClr val="1F1F1F"/>
                </a:solidFill>
                <a:sym typeface="Lato"/>
              </a:rPr>
              <a:t>Yêu cầu chức năng</a:t>
            </a:r>
            <a:endParaRPr/>
          </a:p>
          <a:p>
            <a:pPr marL="457200" lvl="0" indent="-457200" algn="l" rtl="0">
              <a:lnSpc>
                <a:spcPct val="90000"/>
              </a:lnSpc>
              <a:spcBef>
                <a:spcPts val="1000"/>
              </a:spcBef>
              <a:spcAft>
                <a:spcPts val="0"/>
              </a:spcAft>
              <a:buClr>
                <a:srgbClr val="1F1F1F"/>
              </a:buClr>
              <a:buSzPts val="2000"/>
              <a:buFont typeface="Calibri"/>
              <a:buAutoNum type="arabicPeriod"/>
            </a:pPr>
            <a:r>
              <a:rPr lang="en-US" sz="2000" b="0" i="0">
                <a:solidFill>
                  <a:srgbClr val="1F1F1F"/>
                </a:solidFill>
                <a:sym typeface="Lato"/>
              </a:rPr>
              <a:t>Phân quyền và quy tắc nghiệp vụ</a:t>
            </a:r>
            <a:endParaRPr/>
          </a:p>
          <a:p>
            <a:pPr marL="457200" lvl="0" indent="-457200" algn="l" rtl="0">
              <a:lnSpc>
                <a:spcPct val="90000"/>
              </a:lnSpc>
              <a:spcBef>
                <a:spcPts val="1000"/>
              </a:spcBef>
              <a:spcAft>
                <a:spcPts val="0"/>
              </a:spcAft>
              <a:buClr>
                <a:srgbClr val="1F1F1F"/>
              </a:buClr>
              <a:buSzPts val="2000"/>
              <a:buFont typeface="Calibri"/>
              <a:buAutoNum type="arabicPeriod"/>
            </a:pPr>
            <a:r>
              <a:rPr lang="en-US" sz="2000" b="0" i="0">
                <a:solidFill>
                  <a:srgbClr val="1F1F1F"/>
                </a:solidFill>
                <a:sym typeface="Lato"/>
              </a:rPr>
              <a:t>Yêu cầu phi chức năng</a:t>
            </a:r>
            <a:endParaRPr/>
          </a:p>
          <a:p>
            <a:pPr marL="0" lvl="0" indent="0" algn="l" rtl="0">
              <a:lnSpc>
                <a:spcPct val="90000"/>
              </a:lnSpc>
              <a:spcBef>
                <a:spcPts val="2200"/>
              </a:spcBef>
              <a:spcAft>
                <a:spcPts val="0"/>
              </a:spcAft>
              <a:buClr>
                <a:srgbClr val="C00000"/>
              </a:buClr>
              <a:buSzPts val="1600"/>
              <a:buNone/>
            </a:pPr>
            <a:r>
              <a:rPr lang="en-US" sz="1600" b="1" i="0">
                <a:solidFill>
                  <a:srgbClr val="C00000"/>
                </a:solidFill>
                <a:sym typeface="Lato"/>
              </a:rPr>
              <a:t>Thiết kế tổng quan</a:t>
            </a:r>
            <a:endParaRPr/>
          </a:p>
          <a:p>
            <a:pPr marL="457200" lvl="0" indent="-457200" algn="l" rtl="0">
              <a:lnSpc>
                <a:spcPct val="90000"/>
              </a:lnSpc>
              <a:spcBef>
                <a:spcPts val="1000"/>
              </a:spcBef>
              <a:spcAft>
                <a:spcPts val="0"/>
              </a:spcAft>
              <a:buClr>
                <a:srgbClr val="1F1F1F"/>
              </a:buClr>
              <a:buSzPts val="2000"/>
              <a:buFont typeface="Calibri"/>
              <a:buAutoNum type="arabicPeriod" startAt="6"/>
            </a:pPr>
            <a:r>
              <a:rPr lang="en-US" sz="2000" b="0" i="0">
                <a:solidFill>
                  <a:srgbClr val="1F1F1F"/>
                </a:solidFill>
                <a:sym typeface="Lato"/>
              </a:rPr>
              <a:t>Kiến trúc tổng quan</a:t>
            </a:r>
            <a:endParaRPr/>
          </a:p>
          <a:p>
            <a:pPr marL="457200" lvl="0" indent="-457200" algn="l" rtl="0">
              <a:lnSpc>
                <a:spcPct val="90000"/>
              </a:lnSpc>
              <a:spcBef>
                <a:spcPts val="1000"/>
              </a:spcBef>
              <a:spcAft>
                <a:spcPts val="0"/>
              </a:spcAft>
              <a:buClr>
                <a:srgbClr val="1F1F1F"/>
              </a:buClr>
              <a:buSzPts val="2000"/>
              <a:buFont typeface="Calibri"/>
              <a:buAutoNum type="arabicPeriod" startAt="6"/>
            </a:pPr>
            <a:r>
              <a:rPr lang="en-US" sz="2000" b="0" i="0">
                <a:solidFill>
                  <a:srgbClr val="1F1F1F"/>
                </a:solidFill>
                <a:sym typeface="Lato"/>
              </a:rPr>
              <a:t>Mô hình dữ liệu</a:t>
            </a:r>
            <a:endParaRPr/>
          </a:p>
        </p:txBody>
      </p:sp>
      <p:sp>
        <p:nvSpPr>
          <p:cNvPr id="63" name="Google Shape;63;p12"/>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3"/>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a:t>
            </a:fld>
            <a:endParaRPr/>
          </a:p>
        </p:txBody>
      </p:sp>
      <p:sp>
        <p:nvSpPr>
          <p:cNvPr id="69" name="Google Shape;69;p13"/>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sz="2800" b="1">
                <a:solidFill>
                  <a:schemeClr val="lt1"/>
                </a:solidFill>
                <a:sym typeface="Lato"/>
              </a:rPr>
              <a:t>Bài toán và mục tiêu</a:t>
            </a:r>
            <a:endParaRPr/>
          </a:p>
        </p:txBody>
      </p:sp>
      <p:sp>
        <p:nvSpPr>
          <p:cNvPr id="70" name="Google Shape;70;p13"/>
          <p:cNvSpPr txBox="1"/>
          <p:nvPr/>
        </p:nvSpPr>
        <p:spPr>
          <a:xfrm>
            <a:off x="411480" y="960120"/>
            <a:ext cx="832104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0" i="0" u="none" strike="noStrike" cap="none">
                <a:solidFill>
                  <a:srgbClr val="1F1F1F"/>
                </a:solidFill>
                <a:latin typeface="Arial" panose="020B0604020202020204" pitchFamily="34" charset="0"/>
                <a:ea typeface="Lato"/>
                <a:cs typeface="Arial" panose="020B0604020202020204" pitchFamily="34" charset="0"/>
                <a:sym typeface="Lato"/>
              </a:rPr>
              <a:t>“Đi chợ tiện lợi” là ứng dụng di động đa nền tảng hỗ trợ hộ gia đình trong ba việc:</a:t>
            </a:r>
            <a:endParaRPr>
              <a:latin typeface="Arial" panose="020B0604020202020204" pitchFamily="34" charset="0"/>
            </a:endParaRPr>
          </a:p>
        </p:txBody>
      </p:sp>
      <p:sp>
        <p:nvSpPr>
          <p:cNvPr id="71" name="Google Shape;71;p13"/>
          <p:cNvSpPr/>
          <p:nvPr/>
        </p:nvSpPr>
        <p:spPr>
          <a:xfrm>
            <a:off x="411480" y="1600200"/>
            <a:ext cx="2621280" cy="914400"/>
          </a:xfrm>
          <a:prstGeom prst="roundRect">
            <a:avLst>
              <a:gd name="adj" fmla="val 8000"/>
            </a:avLst>
          </a:prstGeom>
          <a:solidFill>
            <a:srgbClr val="FBEAEA"/>
          </a:solidFill>
          <a:ln>
            <a:noFill/>
          </a:ln>
        </p:spPr>
        <p:txBody>
          <a:bodyPr spcFirstLastPara="1" wrap="square" lIns="109725" tIns="27425" rIns="109725" bIns="27425" anchor="ctr" anchorCtr="0">
            <a:noAutofit/>
          </a:bodyPr>
          <a:lstStyle/>
          <a:p>
            <a:pPr marL="0" marR="0" lvl="0" indent="0" algn="ctr" rtl="0">
              <a:spcBef>
                <a:spcPts val="0"/>
              </a:spcBef>
              <a:spcAft>
                <a:spcPts val="0"/>
              </a:spcAft>
              <a:buNone/>
            </a:pPr>
            <a:r>
              <a:rPr lang="en-US" sz="1400" b="1" i="0" u="none" strike="noStrike" cap="none">
                <a:solidFill>
                  <a:srgbClr val="1F1F1F"/>
                </a:solidFill>
                <a:latin typeface="Arial" panose="020B0604020202020204" pitchFamily="34" charset="0"/>
                <a:ea typeface="Lato"/>
                <a:cs typeface="Arial" panose="020B0604020202020204" pitchFamily="34" charset="0"/>
                <a:sym typeface="Lato"/>
              </a:rPr>
              <a:t>Quản lý việc mua sắm thực phẩm</a:t>
            </a:r>
            <a:endParaRPr>
              <a:latin typeface="Arial" panose="020B0604020202020204" pitchFamily="34" charset="0"/>
            </a:endParaRPr>
          </a:p>
        </p:txBody>
      </p:sp>
      <p:sp>
        <p:nvSpPr>
          <p:cNvPr id="72" name="Google Shape;72;p13"/>
          <p:cNvSpPr/>
          <p:nvPr/>
        </p:nvSpPr>
        <p:spPr>
          <a:xfrm>
            <a:off x="3261360" y="1600200"/>
            <a:ext cx="2621280" cy="914400"/>
          </a:xfrm>
          <a:prstGeom prst="roundRect">
            <a:avLst>
              <a:gd name="adj" fmla="val 8000"/>
            </a:avLst>
          </a:prstGeom>
          <a:solidFill>
            <a:srgbClr val="FBEAEA"/>
          </a:solidFill>
          <a:ln>
            <a:noFill/>
          </a:ln>
        </p:spPr>
        <p:txBody>
          <a:bodyPr spcFirstLastPara="1" wrap="square" lIns="109725" tIns="27425" rIns="109725" bIns="27425" anchor="ctr" anchorCtr="0">
            <a:noAutofit/>
          </a:bodyPr>
          <a:lstStyle/>
          <a:p>
            <a:pPr marL="0" marR="0" lvl="0" indent="0" algn="ctr" rtl="0">
              <a:spcBef>
                <a:spcPts val="0"/>
              </a:spcBef>
              <a:spcAft>
                <a:spcPts val="0"/>
              </a:spcAft>
              <a:buNone/>
            </a:pPr>
            <a:r>
              <a:rPr lang="en-US" sz="1400" b="1" i="0" u="none" strike="noStrike" cap="none">
                <a:solidFill>
                  <a:srgbClr val="1F1F1F"/>
                </a:solidFill>
                <a:latin typeface="Arial" panose="020B0604020202020204" pitchFamily="34" charset="0"/>
                <a:ea typeface="Lato"/>
                <a:cs typeface="Arial" panose="020B0604020202020204" pitchFamily="34" charset="0"/>
                <a:sym typeface="Lato"/>
              </a:rPr>
              <a:t>Theo dõi thực phẩm lưu trữ trong tủ lạnh</a:t>
            </a:r>
            <a:endParaRPr>
              <a:latin typeface="Arial" panose="020B0604020202020204" pitchFamily="34" charset="0"/>
            </a:endParaRPr>
          </a:p>
        </p:txBody>
      </p:sp>
      <p:sp>
        <p:nvSpPr>
          <p:cNvPr id="73" name="Google Shape;73;p13"/>
          <p:cNvSpPr/>
          <p:nvPr/>
        </p:nvSpPr>
        <p:spPr>
          <a:xfrm>
            <a:off x="6111240" y="1600200"/>
            <a:ext cx="2621280" cy="914400"/>
          </a:xfrm>
          <a:prstGeom prst="roundRect">
            <a:avLst>
              <a:gd name="adj" fmla="val 8000"/>
            </a:avLst>
          </a:prstGeom>
          <a:solidFill>
            <a:srgbClr val="FBEAEA"/>
          </a:solidFill>
          <a:ln>
            <a:noFill/>
          </a:ln>
        </p:spPr>
        <p:txBody>
          <a:bodyPr spcFirstLastPara="1" wrap="square" lIns="109725" tIns="27425" rIns="109725" bIns="27425" anchor="ctr" anchorCtr="0">
            <a:noAutofit/>
          </a:bodyPr>
          <a:lstStyle/>
          <a:p>
            <a:pPr marL="0" marR="0" lvl="0" indent="0" algn="ctr" rtl="0">
              <a:spcBef>
                <a:spcPts val="0"/>
              </a:spcBef>
              <a:spcAft>
                <a:spcPts val="0"/>
              </a:spcAft>
              <a:buNone/>
            </a:pPr>
            <a:r>
              <a:rPr lang="en-US" sz="1400" b="1" i="0" u="none" strike="noStrike" cap="none">
                <a:solidFill>
                  <a:srgbClr val="1F1F1F"/>
                </a:solidFill>
                <a:latin typeface="Arial" panose="020B0604020202020204" pitchFamily="34" charset="0"/>
                <a:ea typeface="Lato"/>
                <a:cs typeface="Arial" panose="020B0604020202020204" pitchFamily="34" charset="0"/>
                <a:sym typeface="Lato"/>
              </a:rPr>
              <a:t>Lập kế hoạch bữa ăn</a:t>
            </a:r>
            <a:endParaRPr>
              <a:latin typeface="Arial" panose="020B0604020202020204" pitchFamily="34" charset="0"/>
            </a:endParaRPr>
          </a:p>
        </p:txBody>
      </p:sp>
      <p:sp>
        <p:nvSpPr>
          <p:cNvPr id="74" name="Google Shape;74;p13"/>
          <p:cNvSpPr txBox="1"/>
          <p:nvPr/>
        </p:nvSpPr>
        <p:spPr>
          <a:xfrm>
            <a:off x="411480" y="2880360"/>
            <a:ext cx="832104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C00000"/>
                </a:solidFill>
                <a:latin typeface="Arial" panose="020B0604020202020204" pitchFamily="34" charset="0"/>
                <a:ea typeface="Lato"/>
                <a:cs typeface="Arial" panose="020B0604020202020204" pitchFamily="34" charset="0"/>
                <a:sym typeface="Lato"/>
              </a:rPr>
              <a:t>Mục tiêu của hệ thống</a:t>
            </a:r>
            <a:endParaRPr>
              <a:latin typeface="Arial" panose="020B0604020202020204" pitchFamily="34" charset="0"/>
            </a:endParaRPr>
          </a:p>
        </p:txBody>
      </p:sp>
      <p:sp>
        <p:nvSpPr>
          <p:cNvPr id="75" name="Google Shape;75;p13"/>
          <p:cNvSpPr/>
          <p:nvPr/>
        </p:nvSpPr>
        <p:spPr>
          <a:xfrm>
            <a:off x="411480" y="3383280"/>
            <a:ext cx="4023359" cy="1737360"/>
          </a:xfrm>
          <a:prstGeom prst="roundRect">
            <a:avLst>
              <a:gd name="adj" fmla="val 4210"/>
            </a:avLst>
          </a:prstGeom>
          <a:solidFill>
            <a:srgbClr val="F3F3F3"/>
          </a:solidFill>
          <a:ln>
            <a:noFill/>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6" name="Google Shape;76;p13"/>
          <p:cNvSpPr txBox="1"/>
          <p:nvPr/>
        </p:nvSpPr>
        <p:spPr>
          <a:xfrm>
            <a:off x="685800" y="3566160"/>
            <a:ext cx="1371600"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00" b="1" i="0" u="none" strike="noStrike" cap="none">
                <a:solidFill>
                  <a:srgbClr val="C00000"/>
                </a:solidFill>
                <a:latin typeface="Arial" panose="020B0604020202020204" pitchFamily="34" charset="0"/>
                <a:ea typeface="Lato"/>
                <a:cs typeface="Arial" panose="020B0604020202020204" pitchFamily="34" charset="0"/>
                <a:sym typeface="Lato"/>
              </a:rPr>
              <a:t>01</a:t>
            </a:r>
            <a:endParaRPr>
              <a:latin typeface="Arial" panose="020B0604020202020204" pitchFamily="34" charset="0"/>
            </a:endParaRPr>
          </a:p>
        </p:txBody>
      </p:sp>
      <p:sp>
        <p:nvSpPr>
          <p:cNvPr id="77" name="Google Shape;77;p13"/>
          <p:cNvSpPr txBox="1"/>
          <p:nvPr/>
        </p:nvSpPr>
        <p:spPr>
          <a:xfrm>
            <a:off x="685800" y="4160520"/>
            <a:ext cx="3474719"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0" i="0" u="none" strike="noStrike" cap="none">
                <a:solidFill>
                  <a:srgbClr val="1F1F1F"/>
                </a:solidFill>
                <a:latin typeface="Arial" panose="020B0604020202020204" pitchFamily="34" charset="0"/>
                <a:ea typeface="Lato"/>
                <a:cs typeface="Arial" panose="020B0604020202020204" pitchFamily="34" charset="0"/>
                <a:sym typeface="Lato"/>
              </a:rPr>
              <a:t>Hạn chế lãng phí thực phẩm do quá hạn sử dụng</a:t>
            </a:r>
            <a:endParaRPr>
              <a:latin typeface="Arial" panose="020B0604020202020204" pitchFamily="34" charset="0"/>
            </a:endParaRPr>
          </a:p>
        </p:txBody>
      </p:sp>
      <p:sp>
        <p:nvSpPr>
          <p:cNvPr id="78" name="Google Shape;78;p13"/>
          <p:cNvSpPr/>
          <p:nvPr/>
        </p:nvSpPr>
        <p:spPr>
          <a:xfrm>
            <a:off x="4709159" y="3383280"/>
            <a:ext cx="4023359" cy="1737360"/>
          </a:xfrm>
          <a:prstGeom prst="roundRect">
            <a:avLst>
              <a:gd name="adj" fmla="val 4210"/>
            </a:avLst>
          </a:prstGeom>
          <a:solidFill>
            <a:srgbClr val="F3F3F3"/>
          </a:solidFill>
          <a:ln>
            <a:noFill/>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9" name="Google Shape;79;p13"/>
          <p:cNvSpPr txBox="1"/>
          <p:nvPr/>
        </p:nvSpPr>
        <p:spPr>
          <a:xfrm>
            <a:off x="4983479" y="3566160"/>
            <a:ext cx="1371600"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00" b="1" i="0" u="none" strike="noStrike" cap="none">
                <a:solidFill>
                  <a:srgbClr val="C00000"/>
                </a:solidFill>
                <a:latin typeface="Arial" panose="020B0604020202020204" pitchFamily="34" charset="0"/>
                <a:ea typeface="Lato"/>
                <a:cs typeface="Arial" panose="020B0604020202020204" pitchFamily="34" charset="0"/>
                <a:sym typeface="Lato"/>
              </a:rPr>
              <a:t>02</a:t>
            </a:r>
            <a:endParaRPr>
              <a:latin typeface="Arial" panose="020B0604020202020204" pitchFamily="34" charset="0"/>
            </a:endParaRPr>
          </a:p>
        </p:txBody>
      </p:sp>
      <p:sp>
        <p:nvSpPr>
          <p:cNvPr id="80" name="Google Shape;80;p13"/>
          <p:cNvSpPr txBox="1"/>
          <p:nvPr/>
        </p:nvSpPr>
        <p:spPr>
          <a:xfrm>
            <a:off x="4983479" y="4160520"/>
            <a:ext cx="3474719"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0" i="0" u="none" strike="noStrike" cap="none">
                <a:solidFill>
                  <a:srgbClr val="1F1F1F"/>
                </a:solidFill>
                <a:latin typeface="Arial" panose="020B0604020202020204" pitchFamily="34" charset="0"/>
                <a:ea typeface="Lato"/>
                <a:cs typeface="Arial" panose="020B0604020202020204" pitchFamily="34" charset="0"/>
                <a:sym typeface="Lato"/>
              </a:rPr>
              <a:t>Giảm thời gian chuẩn bị cho việc mua sắm và nấu nướng</a:t>
            </a:r>
            <a:endParaRPr>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4"/>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a:t>
            </a:fld>
            <a:endParaRPr/>
          </a:p>
        </p:txBody>
      </p:sp>
      <p:sp>
        <p:nvSpPr>
          <p:cNvPr id="86" name="Google Shape;86;p14"/>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sz="2800" b="1">
                <a:solidFill>
                  <a:schemeClr val="lt1"/>
                </a:solidFill>
                <a:sym typeface="Lato"/>
              </a:rPr>
              <a:t>Phạm vi xây dựng</a:t>
            </a:r>
            <a:endParaRPr/>
          </a:p>
        </p:txBody>
      </p:sp>
      <p:sp>
        <p:nvSpPr>
          <p:cNvPr id="87" name="Google Shape;87;p14"/>
          <p:cNvSpPr/>
          <p:nvPr/>
        </p:nvSpPr>
        <p:spPr>
          <a:xfrm>
            <a:off x="411480" y="1005840"/>
            <a:ext cx="2621280" cy="2240280"/>
          </a:xfrm>
          <a:prstGeom prst="roundRect">
            <a:avLst>
              <a:gd name="adj" fmla="val 3265"/>
            </a:avLst>
          </a:prstGeom>
          <a:solidFill>
            <a:srgbClr val="F3F3F3"/>
          </a:solidFill>
          <a:ln>
            <a:noFill/>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 name="Google Shape;88;p14"/>
          <p:cNvSpPr/>
          <p:nvPr/>
        </p:nvSpPr>
        <p:spPr>
          <a:xfrm>
            <a:off x="640080" y="1234440"/>
            <a:ext cx="420624" cy="420624"/>
          </a:xfrm>
          <a:prstGeom prst="ellipse">
            <a:avLst/>
          </a:prstGeom>
          <a:solidFill>
            <a:srgbClr val="C00000"/>
          </a:solidFill>
          <a:ln>
            <a:noFill/>
          </a:ln>
        </p:spPr>
        <p:txBody>
          <a:bodyPr spcFirstLastPara="1" wrap="square" lIns="0" tIns="27425" rIns="0" bIns="27425" anchor="ctr" anchorCtr="0">
            <a:noAutofit/>
          </a:bodyPr>
          <a:lstStyle/>
          <a:p>
            <a:pPr marL="0" marR="0" lvl="0" indent="0" algn="ctr" rtl="0">
              <a:spcBef>
                <a:spcPts val="0"/>
              </a:spcBef>
              <a:spcAft>
                <a:spcPts val="0"/>
              </a:spcAft>
              <a:buNone/>
            </a:pPr>
            <a:r>
              <a:rPr lang="en-US" sz="1500" b="1" i="0" u="none" strike="noStrike" cap="none">
                <a:solidFill>
                  <a:srgbClr val="FFFFFF"/>
                </a:solidFill>
                <a:latin typeface="Arial" panose="020B0604020202020204" pitchFamily="34" charset="0"/>
                <a:ea typeface="Lato"/>
                <a:cs typeface="Arial" panose="020B0604020202020204" pitchFamily="34" charset="0"/>
                <a:sym typeface="Lato"/>
              </a:rPr>
              <a:t>1</a:t>
            </a:r>
            <a:endParaRPr>
              <a:latin typeface="Arial" panose="020B0604020202020204" pitchFamily="34" charset="0"/>
            </a:endParaRPr>
          </a:p>
        </p:txBody>
      </p:sp>
      <p:sp>
        <p:nvSpPr>
          <p:cNvPr id="89" name="Google Shape;89;p14"/>
          <p:cNvSpPr txBox="1"/>
          <p:nvPr/>
        </p:nvSpPr>
        <p:spPr>
          <a:xfrm>
            <a:off x="640080" y="1828800"/>
            <a:ext cx="2164080" cy="93871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F1F1F"/>
                </a:solidFill>
                <a:latin typeface="Arial" panose="020B0604020202020204" pitchFamily="34" charset="0"/>
                <a:ea typeface="Lato"/>
                <a:cs typeface="Arial" panose="020B0604020202020204" pitchFamily="34" charset="0"/>
                <a:sym typeface="Lato"/>
              </a:rPr>
              <a:t>Database server và service server</a:t>
            </a:r>
            <a:endParaRPr>
              <a:latin typeface="Arial" panose="020B0604020202020204" pitchFamily="34" charset="0"/>
            </a:endParaRPr>
          </a:p>
          <a:p>
            <a:pPr marL="0" marR="0" lvl="0" indent="0" algn="l" rtl="0">
              <a:spcBef>
                <a:spcPts val="600"/>
              </a:spcBef>
              <a:spcAft>
                <a:spcPts val="0"/>
              </a:spcAft>
              <a:buNone/>
            </a:pPr>
            <a:r>
              <a:rPr lang="en-US" sz="1300" b="0" i="0" u="none" strike="noStrike" cap="none">
                <a:solidFill>
                  <a:srgbClr val="595959"/>
                </a:solidFill>
                <a:latin typeface="Arial" panose="020B0604020202020204" pitchFamily="34" charset="0"/>
                <a:ea typeface="Lato"/>
                <a:cs typeface="Arial" panose="020B0604020202020204" pitchFamily="34" charset="0"/>
                <a:sym typeface="Lato"/>
              </a:rPr>
              <a:t>Cung cấp dữ liệu cho ứng dụng di động</a:t>
            </a:r>
            <a:endParaRPr>
              <a:latin typeface="Arial" panose="020B0604020202020204" pitchFamily="34" charset="0"/>
            </a:endParaRPr>
          </a:p>
        </p:txBody>
      </p:sp>
      <p:sp>
        <p:nvSpPr>
          <p:cNvPr id="90" name="Google Shape;90;p14"/>
          <p:cNvSpPr/>
          <p:nvPr/>
        </p:nvSpPr>
        <p:spPr>
          <a:xfrm>
            <a:off x="3261360" y="1005840"/>
            <a:ext cx="2621280" cy="2240280"/>
          </a:xfrm>
          <a:prstGeom prst="roundRect">
            <a:avLst>
              <a:gd name="adj" fmla="val 3265"/>
            </a:avLst>
          </a:prstGeom>
          <a:solidFill>
            <a:srgbClr val="F3F3F3"/>
          </a:solidFill>
          <a:ln>
            <a:noFill/>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1" name="Google Shape;91;p14"/>
          <p:cNvSpPr/>
          <p:nvPr/>
        </p:nvSpPr>
        <p:spPr>
          <a:xfrm>
            <a:off x="3489960" y="1234440"/>
            <a:ext cx="420624" cy="420624"/>
          </a:xfrm>
          <a:prstGeom prst="ellipse">
            <a:avLst/>
          </a:prstGeom>
          <a:solidFill>
            <a:srgbClr val="C00000"/>
          </a:solidFill>
          <a:ln>
            <a:noFill/>
          </a:ln>
        </p:spPr>
        <p:txBody>
          <a:bodyPr spcFirstLastPara="1" wrap="square" lIns="0" tIns="27425" rIns="0" bIns="27425" anchor="ctr" anchorCtr="0">
            <a:noAutofit/>
          </a:bodyPr>
          <a:lstStyle/>
          <a:p>
            <a:pPr marL="0" marR="0" lvl="0" indent="0" algn="ctr" rtl="0">
              <a:spcBef>
                <a:spcPts val="0"/>
              </a:spcBef>
              <a:spcAft>
                <a:spcPts val="0"/>
              </a:spcAft>
              <a:buNone/>
            </a:pPr>
            <a:r>
              <a:rPr lang="en-US" sz="1500" b="1" i="0" u="none" strike="noStrike" cap="none">
                <a:solidFill>
                  <a:srgbClr val="FFFFFF"/>
                </a:solidFill>
                <a:latin typeface="Arial" panose="020B0604020202020204" pitchFamily="34" charset="0"/>
                <a:ea typeface="Lato"/>
                <a:cs typeface="Arial" panose="020B0604020202020204" pitchFamily="34" charset="0"/>
                <a:sym typeface="Lato"/>
              </a:rPr>
              <a:t>2</a:t>
            </a:r>
            <a:endParaRPr>
              <a:latin typeface="Arial" panose="020B0604020202020204" pitchFamily="34" charset="0"/>
            </a:endParaRPr>
          </a:p>
        </p:txBody>
      </p:sp>
      <p:sp>
        <p:nvSpPr>
          <p:cNvPr id="92" name="Google Shape;92;p14"/>
          <p:cNvSpPr txBox="1"/>
          <p:nvPr/>
        </p:nvSpPr>
        <p:spPr>
          <a:xfrm>
            <a:off x="3489960" y="1828800"/>
            <a:ext cx="2164080" cy="70788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F1F1F"/>
                </a:solidFill>
                <a:latin typeface="Arial" panose="020B0604020202020204" pitchFamily="34" charset="0"/>
                <a:ea typeface="Lato"/>
                <a:cs typeface="Arial" panose="020B0604020202020204" pitchFamily="34" charset="0"/>
                <a:sym typeface="Lato"/>
              </a:rPr>
              <a:t>Thư viện xử lý JSON</a:t>
            </a:r>
            <a:endParaRPr>
              <a:latin typeface="Arial" panose="020B0604020202020204" pitchFamily="34" charset="0"/>
            </a:endParaRPr>
          </a:p>
          <a:p>
            <a:pPr marL="0" marR="0" lvl="0" indent="0" algn="l" rtl="0">
              <a:spcBef>
                <a:spcPts val="600"/>
              </a:spcBef>
              <a:spcAft>
                <a:spcPts val="0"/>
              </a:spcAft>
              <a:buNone/>
            </a:pPr>
            <a:r>
              <a:rPr lang="en-US" sz="1300" b="0" i="0" u="none" strike="noStrike" cap="none">
                <a:solidFill>
                  <a:srgbClr val="595959"/>
                </a:solidFill>
                <a:latin typeface="Arial" panose="020B0604020202020204" pitchFamily="34" charset="0"/>
                <a:ea typeface="Lato"/>
                <a:cs typeface="Arial" panose="020B0604020202020204" pitchFamily="34" charset="0"/>
                <a:sym typeface="Lato"/>
              </a:rPr>
              <a:t>Xử lý dữ liệu JSON do server trả về</a:t>
            </a:r>
            <a:endParaRPr>
              <a:latin typeface="Arial" panose="020B0604020202020204" pitchFamily="34" charset="0"/>
            </a:endParaRPr>
          </a:p>
        </p:txBody>
      </p:sp>
      <p:sp>
        <p:nvSpPr>
          <p:cNvPr id="93" name="Google Shape;93;p14"/>
          <p:cNvSpPr/>
          <p:nvPr/>
        </p:nvSpPr>
        <p:spPr>
          <a:xfrm>
            <a:off x="6111240" y="1005840"/>
            <a:ext cx="2621280" cy="2240280"/>
          </a:xfrm>
          <a:prstGeom prst="roundRect">
            <a:avLst>
              <a:gd name="adj" fmla="val 3265"/>
            </a:avLst>
          </a:prstGeom>
          <a:solidFill>
            <a:srgbClr val="F3F3F3"/>
          </a:solidFill>
          <a:ln>
            <a:noFill/>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4" name="Google Shape;94;p14"/>
          <p:cNvSpPr/>
          <p:nvPr/>
        </p:nvSpPr>
        <p:spPr>
          <a:xfrm>
            <a:off x="6339840" y="1234440"/>
            <a:ext cx="420624" cy="420624"/>
          </a:xfrm>
          <a:prstGeom prst="ellipse">
            <a:avLst/>
          </a:prstGeom>
          <a:solidFill>
            <a:srgbClr val="C00000"/>
          </a:solidFill>
          <a:ln>
            <a:noFill/>
          </a:ln>
        </p:spPr>
        <p:txBody>
          <a:bodyPr spcFirstLastPara="1" wrap="square" lIns="0" tIns="27425" rIns="0" bIns="27425" anchor="ctr" anchorCtr="0">
            <a:noAutofit/>
          </a:bodyPr>
          <a:lstStyle/>
          <a:p>
            <a:pPr marL="0" marR="0" lvl="0" indent="0" algn="ctr" rtl="0">
              <a:spcBef>
                <a:spcPts val="0"/>
              </a:spcBef>
              <a:spcAft>
                <a:spcPts val="0"/>
              </a:spcAft>
              <a:buNone/>
            </a:pPr>
            <a:r>
              <a:rPr lang="en-US" sz="1500" b="1" i="0" u="none" strike="noStrike" cap="none">
                <a:solidFill>
                  <a:srgbClr val="FFFFFF"/>
                </a:solidFill>
                <a:latin typeface="Arial" panose="020B0604020202020204" pitchFamily="34" charset="0"/>
                <a:ea typeface="Lato"/>
                <a:cs typeface="Arial" panose="020B0604020202020204" pitchFamily="34" charset="0"/>
                <a:sym typeface="Lato"/>
              </a:rPr>
              <a:t>3</a:t>
            </a:r>
            <a:endParaRPr>
              <a:latin typeface="Arial" panose="020B0604020202020204" pitchFamily="34" charset="0"/>
            </a:endParaRPr>
          </a:p>
        </p:txBody>
      </p:sp>
      <p:sp>
        <p:nvSpPr>
          <p:cNvPr id="95" name="Google Shape;95;p14"/>
          <p:cNvSpPr txBox="1"/>
          <p:nvPr/>
        </p:nvSpPr>
        <p:spPr>
          <a:xfrm>
            <a:off x="6339840" y="1828800"/>
            <a:ext cx="216408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F1F1F"/>
                </a:solidFill>
                <a:latin typeface="Arial" panose="020B0604020202020204" pitchFamily="34" charset="0"/>
                <a:ea typeface="Lato"/>
                <a:cs typeface="Arial" panose="020B0604020202020204" pitchFamily="34" charset="0"/>
                <a:sym typeface="Lato"/>
              </a:rPr>
              <a:t>Ứng dụng di động</a:t>
            </a:r>
            <a:endParaRPr>
              <a:latin typeface="Arial" panose="020B0604020202020204" pitchFamily="34" charset="0"/>
            </a:endParaRPr>
          </a:p>
          <a:p>
            <a:pPr marL="0" marR="0" lvl="0" indent="0" algn="l" rtl="0">
              <a:spcBef>
                <a:spcPts val="600"/>
              </a:spcBef>
              <a:spcAft>
                <a:spcPts val="0"/>
              </a:spcAft>
              <a:buNone/>
            </a:pPr>
            <a:r>
              <a:rPr lang="en-US" sz="1300" b="0" i="0" u="none" strike="noStrike" cap="none">
                <a:solidFill>
                  <a:srgbClr val="595959"/>
                </a:solidFill>
                <a:latin typeface="Arial" panose="020B0604020202020204" pitchFamily="34" charset="0"/>
                <a:ea typeface="Lato"/>
                <a:cs typeface="Arial" panose="020B0604020202020204" pitchFamily="34" charset="0"/>
                <a:sym typeface="Lato"/>
              </a:rPr>
              <a:t>Giao diện và xử lý sự kiện</a:t>
            </a:r>
            <a:endParaRPr>
              <a:latin typeface="Arial" panose="020B0604020202020204" pitchFamily="34" charset="0"/>
            </a:endParaRPr>
          </a:p>
        </p:txBody>
      </p:sp>
      <p:sp>
        <p:nvSpPr>
          <p:cNvPr id="96" name="Google Shape;96;p14"/>
          <p:cNvSpPr/>
          <p:nvPr/>
        </p:nvSpPr>
        <p:spPr>
          <a:xfrm>
            <a:off x="411480" y="3474720"/>
            <a:ext cx="2621280" cy="2240280"/>
          </a:xfrm>
          <a:prstGeom prst="roundRect">
            <a:avLst>
              <a:gd name="adj" fmla="val 3265"/>
            </a:avLst>
          </a:prstGeom>
          <a:solidFill>
            <a:srgbClr val="F3F3F3"/>
          </a:solidFill>
          <a:ln>
            <a:noFill/>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 name="Google Shape;97;p14"/>
          <p:cNvSpPr/>
          <p:nvPr/>
        </p:nvSpPr>
        <p:spPr>
          <a:xfrm>
            <a:off x="640080" y="3703320"/>
            <a:ext cx="420624" cy="420624"/>
          </a:xfrm>
          <a:prstGeom prst="ellipse">
            <a:avLst/>
          </a:prstGeom>
          <a:solidFill>
            <a:srgbClr val="C00000"/>
          </a:solidFill>
          <a:ln>
            <a:noFill/>
          </a:ln>
        </p:spPr>
        <p:txBody>
          <a:bodyPr spcFirstLastPara="1" wrap="square" lIns="0" tIns="27425" rIns="0" bIns="27425" anchor="ctr" anchorCtr="0">
            <a:noAutofit/>
          </a:bodyPr>
          <a:lstStyle/>
          <a:p>
            <a:pPr marL="0" marR="0" lvl="0" indent="0" algn="ctr" rtl="0">
              <a:spcBef>
                <a:spcPts val="0"/>
              </a:spcBef>
              <a:spcAft>
                <a:spcPts val="0"/>
              </a:spcAft>
              <a:buNone/>
            </a:pPr>
            <a:r>
              <a:rPr lang="en-US" sz="1500" b="1" i="0" u="none" strike="noStrike" cap="none">
                <a:solidFill>
                  <a:srgbClr val="FFFFFF"/>
                </a:solidFill>
                <a:latin typeface="Arial" panose="020B0604020202020204" pitchFamily="34" charset="0"/>
                <a:ea typeface="Lato"/>
                <a:cs typeface="Arial" panose="020B0604020202020204" pitchFamily="34" charset="0"/>
                <a:sym typeface="Lato"/>
              </a:rPr>
              <a:t>4</a:t>
            </a:r>
            <a:endParaRPr>
              <a:latin typeface="Arial" panose="020B0604020202020204" pitchFamily="34" charset="0"/>
            </a:endParaRPr>
          </a:p>
        </p:txBody>
      </p:sp>
      <p:sp>
        <p:nvSpPr>
          <p:cNvPr id="98" name="Google Shape;98;p14"/>
          <p:cNvSpPr txBox="1"/>
          <p:nvPr/>
        </p:nvSpPr>
        <p:spPr>
          <a:xfrm>
            <a:off x="640080" y="4297680"/>
            <a:ext cx="2164080" cy="70788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F1F1F"/>
                </a:solidFill>
                <a:latin typeface="Arial" panose="020B0604020202020204" pitchFamily="34" charset="0"/>
                <a:ea typeface="Lato"/>
                <a:cs typeface="Arial" panose="020B0604020202020204" pitchFamily="34" charset="0"/>
                <a:sym typeface="Lato"/>
              </a:rPr>
              <a:t>Chức năng quản trị</a:t>
            </a:r>
            <a:endParaRPr>
              <a:latin typeface="Arial" panose="020B0604020202020204" pitchFamily="34" charset="0"/>
            </a:endParaRPr>
          </a:p>
          <a:p>
            <a:pPr marL="0" marR="0" lvl="0" indent="0" algn="l" rtl="0">
              <a:spcBef>
                <a:spcPts val="600"/>
              </a:spcBef>
              <a:spcAft>
                <a:spcPts val="0"/>
              </a:spcAft>
              <a:buNone/>
            </a:pPr>
            <a:r>
              <a:rPr lang="en-US" sz="1300" b="0" i="0" u="none" strike="noStrike" cap="none">
                <a:solidFill>
                  <a:srgbClr val="595959"/>
                </a:solidFill>
                <a:latin typeface="Arial" panose="020B0604020202020204" pitchFamily="34" charset="0"/>
                <a:ea typeface="Lato"/>
                <a:cs typeface="Arial" panose="020B0604020202020204" pitchFamily="34" charset="0"/>
                <a:sym typeface="Lato"/>
              </a:rPr>
              <a:t>Dành cho quản trị viên hệ thống</a:t>
            </a:r>
            <a:endParaRPr>
              <a:latin typeface="Arial" panose="020B0604020202020204" pitchFamily="34" charset="0"/>
            </a:endParaRPr>
          </a:p>
        </p:txBody>
      </p:sp>
      <p:sp>
        <p:nvSpPr>
          <p:cNvPr id="99" name="Google Shape;99;p14"/>
          <p:cNvSpPr/>
          <p:nvPr/>
        </p:nvSpPr>
        <p:spPr>
          <a:xfrm>
            <a:off x="3261360" y="3474720"/>
            <a:ext cx="2621280" cy="2240280"/>
          </a:xfrm>
          <a:prstGeom prst="roundRect">
            <a:avLst>
              <a:gd name="adj" fmla="val 3265"/>
            </a:avLst>
          </a:prstGeom>
          <a:solidFill>
            <a:srgbClr val="F3F3F3"/>
          </a:solidFill>
          <a:ln>
            <a:noFill/>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0" name="Google Shape;100;p14"/>
          <p:cNvSpPr/>
          <p:nvPr/>
        </p:nvSpPr>
        <p:spPr>
          <a:xfrm>
            <a:off x="3489960" y="3703320"/>
            <a:ext cx="420624" cy="420624"/>
          </a:xfrm>
          <a:prstGeom prst="ellipse">
            <a:avLst/>
          </a:prstGeom>
          <a:solidFill>
            <a:srgbClr val="C00000"/>
          </a:solidFill>
          <a:ln>
            <a:noFill/>
          </a:ln>
        </p:spPr>
        <p:txBody>
          <a:bodyPr spcFirstLastPara="1" wrap="square" lIns="0" tIns="27425" rIns="0" bIns="27425" anchor="ctr" anchorCtr="0">
            <a:noAutofit/>
          </a:bodyPr>
          <a:lstStyle/>
          <a:p>
            <a:pPr marL="0" marR="0" lvl="0" indent="0" algn="ctr" rtl="0">
              <a:spcBef>
                <a:spcPts val="0"/>
              </a:spcBef>
              <a:spcAft>
                <a:spcPts val="0"/>
              </a:spcAft>
              <a:buNone/>
            </a:pPr>
            <a:r>
              <a:rPr lang="en-US" sz="1500" b="1" i="0" u="none" strike="noStrike" cap="none">
                <a:solidFill>
                  <a:srgbClr val="FFFFFF"/>
                </a:solidFill>
                <a:latin typeface="Arial" panose="020B0604020202020204" pitchFamily="34" charset="0"/>
                <a:ea typeface="Lato"/>
                <a:cs typeface="Arial" panose="020B0604020202020204" pitchFamily="34" charset="0"/>
                <a:sym typeface="Lato"/>
              </a:rPr>
              <a:t>5</a:t>
            </a:r>
            <a:endParaRPr>
              <a:latin typeface="Arial" panose="020B0604020202020204" pitchFamily="34" charset="0"/>
            </a:endParaRPr>
          </a:p>
        </p:txBody>
      </p:sp>
      <p:sp>
        <p:nvSpPr>
          <p:cNvPr id="101" name="Google Shape;101;p14"/>
          <p:cNvSpPr txBox="1"/>
          <p:nvPr/>
        </p:nvSpPr>
        <p:spPr>
          <a:xfrm>
            <a:off x="3489960" y="4297680"/>
            <a:ext cx="2164080" cy="70788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F1F1F"/>
                </a:solidFill>
                <a:latin typeface="Arial" panose="020B0604020202020204" pitchFamily="34" charset="0"/>
                <a:ea typeface="Lato"/>
                <a:cs typeface="Arial" panose="020B0604020202020204" pitchFamily="34" charset="0"/>
                <a:sym typeface="Lato"/>
              </a:rPr>
              <a:t>Thông báo đẩy</a:t>
            </a:r>
            <a:endParaRPr>
              <a:latin typeface="Arial" panose="020B0604020202020204" pitchFamily="34" charset="0"/>
            </a:endParaRPr>
          </a:p>
          <a:p>
            <a:pPr marL="0" marR="0" lvl="0" indent="0" algn="l" rtl="0">
              <a:spcBef>
                <a:spcPts val="600"/>
              </a:spcBef>
              <a:spcAft>
                <a:spcPts val="0"/>
              </a:spcAft>
              <a:buNone/>
            </a:pPr>
            <a:r>
              <a:rPr lang="en-US" sz="1300" b="0" i="0" u="none" strike="noStrike" cap="none">
                <a:solidFill>
                  <a:srgbClr val="595959"/>
                </a:solidFill>
                <a:latin typeface="Arial" panose="020B0604020202020204" pitchFamily="34" charset="0"/>
                <a:ea typeface="Lato"/>
                <a:cs typeface="Arial" panose="020B0604020202020204" pitchFamily="34" charset="0"/>
                <a:sym typeface="Lato"/>
              </a:rPr>
              <a:t>Xử lý push notification phía client</a:t>
            </a:r>
            <a:endParaRPr>
              <a:latin typeface="Arial" panose="020B0604020202020204" pitchFamily="34" charset="0"/>
            </a:endParaRPr>
          </a:p>
        </p:txBody>
      </p:sp>
      <p:sp>
        <p:nvSpPr>
          <p:cNvPr id="102" name="Google Shape;102;p14"/>
          <p:cNvSpPr/>
          <p:nvPr/>
        </p:nvSpPr>
        <p:spPr>
          <a:xfrm>
            <a:off x="6111240" y="3474720"/>
            <a:ext cx="2621280" cy="2240280"/>
          </a:xfrm>
          <a:prstGeom prst="roundRect">
            <a:avLst>
              <a:gd name="adj" fmla="val 3265"/>
            </a:avLst>
          </a:prstGeom>
          <a:solidFill>
            <a:srgbClr val="F3F3F3"/>
          </a:solidFill>
          <a:ln>
            <a:noFill/>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3" name="Google Shape;103;p14"/>
          <p:cNvSpPr/>
          <p:nvPr/>
        </p:nvSpPr>
        <p:spPr>
          <a:xfrm>
            <a:off x="6339840" y="3703320"/>
            <a:ext cx="420624" cy="420624"/>
          </a:xfrm>
          <a:prstGeom prst="ellipse">
            <a:avLst/>
          </a:prstGeom>
          <a:solidFill>
            <a:srgbClr val="C00000"/>
          </a:solidFill>
          <a:ln>
            <a:noFill/>
          </a:ln>
        </p:spPr>
        <p:txBody>
          <a:bodyPr spcFirstLastPara="1" wrap="square" lIns="0" tIns="27425" rIns="0" bIns="27425" anchor="ctr" anchorCtr="0">
            <a:noAutofit/>
          </a:bodyPr>
          <a:lstStyle/>
          <a:p>
            <a:pPr marL="0" marR="0" lvl="0" indent="0" algn="ctr" rtl="0">
              <a:spcBef>
                <a:spcPts val="0"/>
              </a:spcBef>
              <a:spcAft>
                <a:spcPts val="0"/>
              </a:spcAft>
              <a:buNone/>
            </a:pPr>
            <a:r>
              <a:rPr lang="en-US" sz="1500" b="1" i="0" u="none" strike="noStrike" cap="none">
                <a:solidFill>
                  <a:srgbClr val="FFFFFF"/>
                </a:solidFill>
                <a:latin typeface="Arial" panose="020B0604020202020204" pitchFamily="34" charset="0"/>
                <a:ea typeface="Lato"/>
                <a:cs typeface="Arial" panose="020B0604020202020204" pitchFamily="34" charset="0"/>
                <a:sym typeface="Lato"/>
              </a:rPr>
              <a:t>6</a:t>
            </a:r>
            <a:endParaRPr>
              <a:latin typeface="Arial" panose="020B0604020202020204" pitchFamily="34" charset="0"/>
            </a:endParaRPr>
          </a:p>
        </p:txBody>
      </p:sp>
      <p:sp>
        <p:nvSpPr>
          <p:cNvPr id="104" name="Google Shape;104;p14"/>
          <p:cNvSpPr txBox="1"/>
          <p:nvPr/>
        </p:nvSpPr>
        <p:spPr>
          <a:xfrm>
            <a:off x="6339840" y="4297680"/>
            <a:ext cx="2164080" cy="70788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F1F1F"/>
                </a:solidFill>
                <a:latin typeface="Arial" panose="020B0604020202020204" pitchFamily="34" charset="0"/>
                <a:ea typeface="Lato"/>
                <a:cs typeface="Arial" panose="020B0604020202020204" pitchFamily="34" charset="0"/>
                <a:sym typeface="Lato"/>
              </a:rPr>
              <a:t>Kiểm thử tổng hợp</a:t>
            </a:r>
            <a:endParaRPr>
              <a:latin typeface="Arial" panose="020B0604020202020204" pitchFamily="34" charset="0"/>
            </a:endParaRPr>
          </a:p>
          <a:p>
            <a:pPr marL="0" marR="0" lvl="0" indent="0" algn="l" rtl="0">
              <a:spcBef>
                <a:spcPts val="600"/>
              </a:spcBef>
              <a:spcAft>
                <a:spcPts val="0"/>
              </a:spcAft>
              <a:buNone/>
            </a:pPr>
            <a:r>
              <a:rPr lang="en-US" sz="1300" b="0" i="0" u="none" strike="noStrike" cap="none">
                <a:solidFill>
                  <a:srgbClr val="595959"/>
                </a:solidFill>
                <a:latin typeface="Arial" panose="020B0604020202020204" pitchFamily="34" charset="0"/>
                <a:ea typeface="Lato"/>
                <a:cs typeface="Arial" panose="020B0604020202020204" pitchFamily="34" charset="0"/>
                <a:sym typeface="Lato"/>
              </a:rPr>
              <a:t>Bao gồm kiểm thử chéo giữa các thành viên</a:t>
            </a:r>
            <a:endParaRPr>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5"/>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5</a:t>
            </a:fld>
            <a:endParaRPr/>
          </a:p>
        </p:txBody>
      </p:sp>
      <p:sp>
        <p:nvSpPr>
          <p:cNvPr id="110" name="Google Shape;110;p15"/>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sz="2800" b="1">
                <a:solidFill>
                  <a:schemeClr val="lt1"/>
                </a:solidFill>
                <a:sym typeface="Lato"/>
              </a:rPr>
              <a:t>Tác nhân của hệ thống</a:t>
            </a:r>
            <a:endParaRPr/>
          </a:p>
        </p:txBody>
      </p:sp>
      <p:graphicFrame>
        <p:nvGraphicFramePr>
          <p:cNvPr id="111" name="Google Shape;111;p15"/>
          <p:cNvGraphicFramePr/>
          <p:nvPr/>
        </p:nvGraphicFramePr>
        <p:xfrm>
          <a:off x="411480" y="960120"/>
          <a:ext cx="8321050" cy="3950175"/>
        </p:xfrm>
        <a:graphic>
          <a:graphicData uri="http://schemas.openxmlformats.org/drawingml/2006/table">
            <a:tbl>
              <a:tblPr firstRow="1">
                <a:noFill/>
                <a:tableStyleId>{2C0393F9-CDA0-4E3F-9450-044A11AE9FAB}</a:tableStyleId>
              </a:tblPr>
              <a:tblGrid>
                <a:gridCol w="1463050">
                  <a:extLst>
                    <a:ext uri="{9D8B030D-6E8A-4147-A177-3AD203B41FA5}">
                      <a16:colId xmlns:a16="http://schemas.microsoft.com/office/drawing/2014/main" val="20000"/>
                    </a:ext>
                  </a:extLst>
                </a:gridCol>
                <a:gridCol w="2926075">
                  <a:extLst>
                    <a:ext uri="{9D8B030D-6E8A-4147-A177-3AD203B41FA5}">
                      <a16:colId xmlns:a16="http://schemas.microsoft.com/office/drawing/2014/main" val="20001"/>
                    </a:ext>
                  </a:extLst>
                </a:gridCol>
                <a:gridCol w="3931925">
                  <a:extLst>
                    <a:ext uri="{9D8B030D-6E8A-4147-A177-3AD203B41FA5}">
                      <a16:colId xmlns:a16="http://schemas.microsoft.com/office/drawing/2014/main" val="20002"/>
                    </a:ext>
                  </a:extLst>
                </a:gridCol>
              </a:tblGrid>
              <a:tr h="384050">
                <a:tc>
                  <a:txBody>
                    <a:bodyPr/>
                    <a:lstStyle/>
                    <a:p>
                      <a:pPr marL="0" marR="0" lvl="0" indent="0" algn="l" rtl="0">
                        <a:spcBef>
                          <a:spcPts val="0"/>
                        </a:spcBef>
                        <a:spcAft>
                          <a:spcPts val="0"/>
                        </a:spcAft>
                        <a:buNone/>
                      </a:pPr>
                      <a:r>
                        <a:rPr lang="en-US" sz="1200" b="1" i="0" u="none" strike="noStrike" cap="none">
                          <a:solidFill>
                            <a:srgbClr val="FFFFFF"/>
                          </a:solidFill>
                          <a:latin typeface="Arial" panose="020B0604020202020204" pitchFamily="34" charset="0"/>
                          <a:ea typeface="Lato"/>
                          <a:cs typeface="Arial" panose="020B0604020202020204" pitchFamily="34" charset="0"/>
                          <a:sym typeface="Lato"/>
                        </a:rPr>
                        <a:t>Tác nhân</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C00000"/>
                    </a:solidFill>
                  </a:tcPr>
                </a:tc>
                <a:tc>
                  <a:txBody>
                    <a:bodyPr/>
                    <a:lstStyle/>
                    <a:p>
                      <a:pPr marL="0" marR="0" lvl="0" indent="0" algn="l" rtl="0">
                        <a:spcBef>
                          <a:spcPts val="0"/>
                        </a:spcBef>
                        <a:spcAft>
                          <a:spcPts val="0"/>
                        </a:spcAft>
                        <a:buNone/>
                      </a:pPr>
                      <a:r>
                        <a:rPr lang="en-US" sz="1200" b="1" i="0" u="none" strike="noStrike" cap="none">
                          <a:solidFill>
                            <a:srgbClr val="FFFFFF"/>
                          </a:solidFill>
                          <a:latin typeface="Arial" panose="020B0604020202020204" pitchFamily="34" charset="0"/>
                          <a:ea typeface="Lato"/>
                          <a:cs typeface="Arial" panose="020B0604020202020204" pitchFamily="34" charset="0"/>
                          <a:sym typeface="Lato"/>
                        </a:rPr>
                        <a:t>Mô tả</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C00000"/>
                    </a:solidFill>
                  </a:tcPr>
                </a:tc>
                <a:tc>
                  <a:txBody>
                    <a:bodyPr/>
                    <a:lstStyle/>
                    <a:p>
                      <a:pPr marL="0" marR="0" lvl="0" indent="0" algn="l" rtl="0">
                        <a:spcBef>
                          <a:spcPts val="0"/>
                        </a:spcBef>
                        <a:spcAft>
                          <a:spcPts val="0"/>
                        </a:spcAft>
                        <a:buNone/>
                      </a:pPr>
                      <a:r>
                        <a:rPr lang="en-US" sz="1200" b="1" i="0" u="none" strike="noStrike" cap="none">
                          <a:solidFill>
                            <a:srgbClr val="FFFFFF"/>
                          </a:solidFill>
                          <a:latin typeface="Arial" panose="020B0604020202020204" pitchFamily="34" charset="0"/>
                          <a:ea typeface="Lato"/>
                          <a:cs typeface="Arial" panose="020B0604020202020204" pitchFamily="34" charset="0"/>
                          <a:sym typeface="Lato"/>
                        </a:rPr>
                        <a:t>Chức năng chính</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C00000"/>
                    </a:solidFill>
                  </a:tcPr>
                </a:tc>
                <a:extLst>
                  <a:ext uri="{0D108BD9-81ED-4DB2-BD59-A6C34878D82A}">
                    <a16:rowId xmlns:a16="http://schemas.microsoft.com/office/drawing/2014/main" val="10000"/>
                  </a:ext>
                </a:extLst>
              </a:tr>
              <a:tr h="713225">
                <a:tc>
                  <a:txBody>
                    <a:bodyPr/>
                    <a:lstStyle/>
                    <a:p>
                      <a:pPr marL="0" marR="0" lvl="0" indent="0" algn="l" rtl="0">
                        <a:spcBef>
                          <a:spcPts val="0"/>
                        </a:spcBef>
                        <a:spcAft>
                          <a:spcPts val="0"/>
                        </a:spcAft>
                        <a:buNone/>
                      </a:pPr>
                      <a:r>
                        <a:rPr lang="en-US" sz="1200" b="1" i="0" u="none" strike="noStrike" cap="none">
                          <a:solidFill>
                            <a:srgbClr val="1F1F1F"/>
                          </a:solidFill>
                          <a:latin typeface="Arial" panose="020B0604020202020204" pitchFamily="34" charset="0"/>
                          <a:ea typeface="Lato"/>
                          <a:cs typeface="Arial" panose="020B0604020202020204" pitchFamily="34" charset="0"/>
                          <a:sym typeface="Lato"/>
                        </a:rPr>
                        <a:t>Khách</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F1F1F"/>
                          </a:solidFill>
                          <a:latin typeface="Arial" panose="020B0604020202020204" pitchFamily="34" charset="0"/>
                          <a:ea typeface="Lato"/>
                          <a:cs typeface="Arial" panose="020B0604020202020204" pitchFamily="34" charset="0"/>
                          <a:sym typeface="Lato"/>
                        </a:rPr>
                        <a:t>Người dùng chưa đăng nhập</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F1F1F"/>
                          </a:solidFill>
                          <a:latin typeface="Arial" panose="020B0604020202020204" pitchFamily="34" charset="0"/>
                          <a:ea typeface="Lato"/>
                          <a:cs typeface="Arial" panose="020B0604020202020204" pitchFamily="34" charset="0"/>
                          <a:sym typeface="Lato"/>
                        </a:rPr>
                        <a:t>Đăng ký tài khoản, xác minh email, đăng nhập</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713225">
                <a:tc>
                  <a:txBody>
                    <a:bodyPr/>
                    <a:lstStyle/>
                    <a:p>
                      <a:pPr marL="0" marR="0" lvl="0" indent="0" algn="l" rtl="0">
                        <a:spcBef>
                          <a:spcPts val="0"/>
                        </a:spcBef>
                        <a:spcAft>
                          <a:spcPts val="0"/>
                        </a:spcAft>
                        <a:buNone/>
                      </a:pPr>
                      <a:r>
                        <a:rPr lang="en-US" sz="1200" b="1" i="0" u="none" strike="noStrike" cap="none">
                          <a:solidFill>
                            <a:srgbClr val="1F1F1F"/>
                          </a:solidFill>
                          <a:latin typeface="Arial" panose="020B0604020202020204" pitchFamily="34" charset="0"/>
                          <a:ea typeface="Lato"/>
                          <a:cs typeface="Arial" panose="020B0604020202020204" pitchFamily="34" charset="0"/>
                          <a:sym typeface="Lato"/>
                        </a:rPr>
                        <a:t>Thành viên</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F1F1F"/>
                          </a:solidFill>
                          <a:latin typeface="Arial" panose="020B0604020202020204" pitchFamily="34" charset="0"/>
                          <a:ea typeface="Lato"/>
                          <a:cs typeface="Arial" panose="020B0604020202020204" pitchFamily="34" charset="0"/>
                          <a:sym typeface="Lato"/>
                        </a:rPr>
                        <a:t>Người dùng đã đăng nhập và thuộc một nhóm gia đình</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F1F1F"/>
                          </a:solidFill>
                          <a:latin typeface="Arial" panose="020B0604020202020204" pitchFamily="34" charset="0"/>
                          <a:ea typeface="Lato"/>
                          <a:cs typeface="Arial" panose="020B0604020202020204" pitchFamily="34" charset="0"/>
                          <a:sym typeface="Lato"/>
                        </a:rPr>
                        <a:t>Quản lý thực phẩm, tủ lạnh và công thức nấu ăn; thực hiện danh sách mua sắm được phân công</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713225">
                <a:tc>
                  <a:txBody>
                    <a:bodyPr/>
                    <a:lstStyle/>
                    <a:p>
                      <a:pPr marL="0" marR="0" lvl="0" indent="0" algn="l" rtl="0">
                        <a:spcBef>
                          <a:spcPts val="0"/>
                        </a:spcBef>
                        <a:spcAft>
                          <a:spcPts val="0"/>
                        </a:spcAft>
                        <a:buNone/>
                      </a:pPr>
                      <a:r>
                        <a:rPr lang="en-US" sz="1200" b="1" i="0" u="none" strike="noStrike" cap="none">
                          <a:solidFill>
                            <a:srgbClr val="1F1F1F"/>
                          </a:solidFill>
                          <a:latin typeface="Arial" panose="020B0604020202020204" pitchFamily="34" charset="0"/>
                          <a:ea typeface="Lato"/>
                          <a:cs typeface="Arial" panose="020B0604020202020204" pitchFamily="34" charset="0"/>
                          <a:sym typeface="Lato"/>
                        </a:rPr>
                        <a:t>Trưởng nhóm</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F1F1F"/>
                          </a:solidFill>
                          <a:latin typeface="Arial" panose="020B0604020202020204" pitchFamily="34" charset="0"/>
                          <a:ea typeface="Lato"/>
                          <a:cs typeface="Arial" panose="020B0604020202020204" pitchFamily="34" charset="0"/>
                          <a:sym typeface="Lato"/>
                        </a:rPr>
                        <a:t>Thành viên đã tạo nhóm gia đình</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F1F1F"/>
                          </a:solidFill>
                          <a:latin typeface="Arial" panose="020B0604020202020204" pitchFamily="34" charset="0"/>
                          <a:ea typeface="Lato"/>
                          <a:cs typeface="Arial" panose="020B0604020202020204" pitchFamily="34" charset="0"/>
                          <a:sym typeface="Lato"/>
                        </a:rPr>
                        <a:t>Quản lý thành viên; tạo và phân công danh sách mua sắm; lập kế hoạch bữa ăn</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713225">
                <a:tc>
                  <a:txBody>
                    <a:bodyPr/>
                    <a:lstStyle/>
                    <a:p>
                      <a:pPr marL="0" marR="0" lvl="0" indent="0" algn="l" rtl="0">
                        <a:spcBef>
                          <a:spcPts val="0"/>
                        </a:spcBef>
                        <a:spcAft>
                          <a:spcPts val="0"/>
                        </a:spcAft>
                        <a:buNone/>
                      </a:pPr>
                      <a:r>
                        <a:rPr lang="en-US" sz="1200" b="1" i="0" u="none" strike="noStrike" cap="none">
                          <a:solidFill>
                            <a:srgbClr val="1F1F1F"/>
                          </a:solidFill>
                          <a:latin typeface="Arial" panose="020B0604020202020204" pitchFamily="34" charset="0"/>
                          <a:ea typeface="Lato"/>
                          <a:cs typeface="Arial" panose="020B0604020202020204" pitchFamily="34" charset="0"/>
                          <a:sym typeface="Lato"/>
                        </a:rPr>
                        <a:t>Quản trị viên</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F1F1F"/>
                          </a:solidFill>
                          <a:latin typeface="Arial" panose="020B0604020202020204" pitchFamily="34" charset="0"/>
                          <a:ea typeface="Lato"/>
                          <a:cs typeface="Arial" panose="020B0604020202020204" pitchFamily="34" charset="0"/>
                          <a:sym typeface="Lato"/>
                        </a:rPr>
                        <a:t>Tài khoản quản trị hệ thống</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F1F1F"/>
                          </a:solidFill>
                          <a:latin typeface="Arial" panose="020B0604020202020204" pitchFamily="34" charset="0"/>
                          <a:ea typeface="Lato"/>
                          <a:cs typeface="Arial" panose="020B0604020202020204" pitchFamily="34" charset="0"/>
                          <a:sym typeface="Lato"/>
                        </a:rPr>
                        <a:t>Quản lý tài khoản người dùng, danh mục thực phẩm và đơn vị đo; xem nhật ký hệ thống</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713225">
                <a:tc>
                  <a:txBody>
                    <a:bodyPr/>
                    <a:lstStyle/>
                    <a:p>
                      <a:pPr marL="0" marR="0" lvl="0" indent="0" algn="l" rtl="0">
                        <a:spcBef>
                          <a:spcPts val="0"/>
                        </a:spcBef>
                        <a:spcAft>
                          <a:spcPts val="0"/>
                        </a:spcAft>
                        <a:buNone/>
                      </a:pPr>
                      <a:r>
                        <a:rPr lang="en-US" sz="1200" b="1" i="0" u="none" strike="noStrike" cap="none">
                          <a:solidFill>
                            <a:srgbClr val="1F1F1F"/>
                          </a:solidFill>
                          <a:latin typeface="Arial" panose="020B0604020202020204" pitchFamily="34" charset="0"/>
                          <a:ea typeface="Lato"/>
                          <a:cs typeface="Arial" panose="020B0604020202020204" pitchFamily="34" charset="0"/>
                          <a:sym typeface="Lato"/>
                        </a:rPr>
                        <a:t>System</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F1F1F"/>
                          </a:solidFill>
                          <a:latin typeface="Arial" panose="020B0604020202020204" pitchFamily="34" charset="0"/>
                          <a:ea typeface="Lato"/>
                          <a:cs typeface="Arial" panose="020B0604020202020204" pitchFamily="34" charset="0"/>
                          <a:sym typeface="Lato"/>
                        </a:rPr>
                        <a:t>Tác nhân hệ thống, đại diện cho các tác vụ tự động chạy theo lịch trên server</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F1F1F"/>
                          </a:solidFill>
                          <a:latin typeface="Arial" panose="020B0604020202020204" pitchFamily="34" charset="0"/>
                          <a:ea typeface="Lato"/>
                          <a:cs typeface="Arial" panose="020B0604020202020204" pitchFamily="34" charset="0"/>
                          <a:sym typeface="Lato"/>
                        </a:rPr>
                        <a:t>Kiểm tra thực phẩm sắp hết hạn và gửi thông báo</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bl>
          </a:graphicData>
        </a:graphic>
      </p:graphicFrame>
      <p:sp>
        <p:nvSpPr>
          <p:cNvPr id="112" name="Google Shape;112;p15"/>
          <p:cNvSpPr txBox="1"/>
          <p:nvPr/>
        </p:nvSpPr>
        <p:spPr>
          <a:xfrm>
            <a:off x="411480" y="5120640"/>
            <a:ext cx="832104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595959"/>
                </a:solidFill>
                <a:latin typeface="Arial" panose="020B0604020202020204" pitchFamily="34" charset="0"/>
                <a:ea typeface="Lato"/>
                <a:cs typeface="Arial" panose="020B0604020202020204" pitchFamily="34" charset="0"/>
                <a:sym typeface="Lato"/>
              </a:rPr>
              <a:t>Trưởng nhóm kế thừa toàn bộ quyền của thành viên. Hệ thống sử dụng hai dịch vụ bên ngoài: dịch vụ email gửi mã xác minh tài khoản và dịch vụ thông báo đẩy chuyển thông báo đến thiết bị của người dùng.</a:t>
            </a:r>
            <a:endParaRPr>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6"/>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6</a:t>
            </a:fld>
            <a:endParaRPr/>
          </a:p>
        </p:txBody>
      </p:sp>
      <p:sp>
        <p:nvSpPr>
          <p:cNvPr id="118" name="Google Shape;118;p16"/>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sz="2800" b="1">
                <a:solidFill>
                  <a:schemeClr val="lt1"/>
                </a:solidFill>
                <a:sym typeface="Lato"/>
              </a:rPr>
              <a:t>Biểu đồ use case tổng quan</a:t>
            </a:r>
            <a:endParaRPr/>
          </a:p>
        </p:txBody>
      </p:sp>
      <p:sp>
        <p:nvSpPr>
          <p:cNvPr id="119" name="Google Shape;119;p16"/>
          <p:cNvSpPr/>
          <p:nvPr/>
        </p:nvSpPr>
        <p:spPr>
          <a:xfrm>
            <a:off x="2715768" y="896112"/>
            <a:ext cx="3712463" cy="4983480"/>
          </a:xfrm>
          <a:prstGeom prst="roundRect">
            <a:avLst>
              <a:gd name="adj" fmla="val 2463"/>
            </a:avLst>
          </a:prstGeom>
          <a:noFill/>
          <a:ln w="9525" cap="flat" cmpd="sng">
            <a:solidFill>
              <a:srgbClr val="8C8C8C"/>
            </a:solidFill>
            <a:prstDash val="solid"/>
            <a:miter lim="8000"/>
            <a:headEnd type="none" w="sm" len="sm"/>
            <a:tailEnd type="none" w="sm" len="sm"/>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0" name="Google Shape;120;p16"/>
          <p:cNvSpPr txBox="1"/>
          <p:nvPr/>
        </p:nvSpPr>
        <p:spPr>
          <a:xfrm>
            <a:off x="2825496" y="914400"/>
            <a:ext cx="2743200"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b="0" i="0" u="none" strike="noStrike" cap="none">
                <a:solidFill>
                  <a:srgbClr val="595959"/>
                </a:solidFill>
                <a:latin typeface="Arial" panose="020B0604020202020204" pitchFamily="34" charset="0"/>
                <a:ea typeface="Lato"/>
                <a:cs typeface="Arial" panose="020B0604020202020204" pitchFamily="34" charset="0"/>
                <a:sym typeface="Lato"/>
              </a:rPr>
              <a:t>Hệ thống Đi chợ tiện lợi</a:t>
            </a:r>
            <a:endParaRPr>
              <a:latin typeface="Arial" panose="020B0604020202020204" pitchFamily="34" charset="0"/>
            </a:endParaRPr>
          </a:p>
        </p:txBody>
      </p:sp>
      <p:cxnSp>
        <p:nvCxnSpPr>
          <p:cNvPr id="121" name="Google Shape;121;p16"/>
          <p:cNvCxnSpPr/>
          <p:nvPr/>
        </p:nvCxnSpPr>
        <p:spPr>
          <a:xfrm>
            <a:off x="1280160" y="1261872"/>
            <a:ext cx="1645920" cy="0"/>
          </a:xfrm>
          <a:prstGeom prst="straightConnector1">
            <a:avLst/>
          </a:prstGeom>
          <a:noFill/>
          <a:ln w="12700" cap="flat" cmpd="sng">
            <a:solidFill>
              <a:srgbClr val="8C8C8C"/>
            </a:solidFill>
            <a:prstDash val="solid"/>
            <a:miter lim="8000"/>
            <a:headEnd type="none" w="sm" len="sm"/>
            <a:tailEnd type="none" w="sm" len="sm"/>
          </a:ln>
        </p:spPr>
      </p:cxnSp>
      <p:cxnSp>
        <p:nvCxnSpPr>
          <p:cNvPr id="122" name="Google Shape;122;p16"/>
          <p:cNvCxnSpPr/>
          <p:nvPr/>
        </p:nvCxnSpPr>
        <p:spPr>
          <a:xfrm>
            <a:off x="1280160" y="2615184"/>
            <a:ext cx="365760" cy="0"/>
          </a:xfrm>
          <a:prstGeom prst="straightConnector1">
            <a:avLst/>
          </a:prstGeom>
          <a:noFill/>
          <a:ln w="12700" cap="flat" cmpd="sng">
            <a:solidFill>
              <a:srgbClr val="8C8C8C"/>
            </a:solidFill>
            <a:prstDash val="solid"/>
            <a:miter lim="8000"/>
            <a:headEnd type="none" w="sm" len="sm"/>
            <a:tailEnd type="none" w="sm" len="sm"/>
          </a:ln>
        </p:spPr>
      </p:cxnSp>
      <p:cxnSp>
        <p:nvCxnSpPr>
          <p:cNvPr id="123" name="Google Shape;123;p16"/>
          <p:cNvCxnSpPr/>
          <p:nvPr/>
        </p:nvCxnSpPr>
        <p:spPr>
          <a:xfrm rot="10800000" flipH="1">
            <a:off x="1645920" y="1600200"/>
            <a:ext cx="1280160" cy="1014984"/>
          </a:xfrm>
          <a:prstGeom prst="straightConnector1">
            <a:avLst/>
          </a:prstGeom>
          <a:noFill/>
          <a:ln w="12700" cap="flat" cmpd="sng">
            <a:solidFill>
              <a:srgbClr val="8C8C8C"/>
            </a:solidFill>
            <a:prstDash val="solid"/>
            <a:miter lim="8000"/>
            <a:headEnd type="none" w="sm" len="sm"/>
            <a:tailEnd type="none" w="sm" len="sm"/>
          </a:ln>
        </p:spPr>
      </p:cxnSp>
      <p:cxnSp>
        <p:nvCxnSpPr>
          <p:cNvPr id="124" name="Google Shape;124;p16"/>
          <p:cNvCxnSpPr/>
          <p:nvPr/>
        </p:nvCxnSpPr>
        <p:spPr>
          <a:xfrm rot="10800000" flipH="1">
            <a:off x="1645920" y="1938528"/>
            <a:ext cx="1280160" cy="676656"/>
          </a:xfrm>
          <a:prstGeom prst="straightConnector1">
            <a:avLst/>
          </a:prstGeom>
          <a:noFill/>
          <a:ln w="12700" cap="flat" cmpd="sng">
            <a:solidFill>
              <a:srgbClr val="8C8C8C"/>
            </a:solidFill>
            <a:prstDash val="solid"/>
            <a:miter lim="8000"/>
            <a:headEnd type="none" w="sm" len="sm"/>
            <a:tailEnd type="none" w="sm" len="sm"/>
          </a:ln>
        </p:spPr>
      </p:cxnSp>
      <p:cxnSp>
        <p:nvCxnSpPr>
          <p:cNvPr id="125" name="Google Shape;125;p16"/>
          <p:cNvCxnSpPr/>
          <p:nvPr/>
        </p:nvCxnSpPr>
        <p:spPr>
          <a:xfrm rot="10800000" flipH="1">
            <a:off x="1645920" y="2276856"/>
            <a:ext cx="1280160" cy="338328"/>
          </a:xfrm>
          <a:prstGeom prst="straightConnector1">
            <a:avLst/>
          </a:prstGeom>
          <a:noFill/>
          <a:ln w="12700" cap="flat" cmpd="sng">
            <a:solidFill>
              <a:srgbClr val="8C8C8C"/>
            </a:solidFill>
            <a:prstDash val="solid"/>
            <a:miter lim="8000"/>
            <a:headEnd type="none" w="sm" len="sm"/>
            <a:tailEnd type="none" w="sm" len="sm"/>
          </a:ln>
        </p:spPr>
      </p:cxnSp>
      <p:cxnSp>
        <p:nvCxnSpPr>
          <p:cNvPr id="126" name="Google Shape;126;p16"/>
          <p:cNvCxnSpPr/>
          <p:nvPr/>
        </p:nvCxnSpPr>
        <p:spPr>
          <a:xfrm>
            <a:off x="1645920" y="2615184"/>
            <a:ext cx="1280160" cy="0"/>
          </a:xfrm>
          <a:prstGeom prst="straightConnector1">
            <a:avLst/>
          </a:prstGeom>
          <a:noFill/>
          <a:ln w="12700" cap="flat" cmpd="sng">
            <a:solidFill>
              <a:srgbClr val="8C8C8C"/>
            </a:solidFill>
            <a:prstDash val="solid"/>
            <a:miter lim="8000"/>
            <a:headEnd type="none" w="sm" len="sm"/>
            <a:tailEnd type="none" w="sm" len="sm"/>
          </a:ln>
        </p:spPr>
      </p:cxnSp>
      <p:cxnSp>
        <p:nvCxnSpPr>
          <p:cNvPr id="127" name="Google Shape;127;p16"/>
          <p:cNvCxnSpPr/>
          <p:nvPr/>
        </p:nvCxnSpPr>
        <p:spPr>
          <a:xfrm>
            <a:off x="1645920" y="2615184"/>
            <a:ext cx="1280160" cy="338328"/>
          </a:xfrm>
          <a:prstGeom prst="straightConnector1">
            <a:avLst/>
          </a:prstGeom>
          <a:noFill/>
          <a:ln w="12700" cap="flat" cmpd="sng">
            <a:solidFill>
              <a:srgbClr val="8C8C8C"/>
            </a:solidFill>
            <a:prstDash val="solid"/>
            <a:miter lim="8000"/>
            <a:headEnd type="none" w="sm" len="sm"/>
            <a:tailEnd type="none" w="sm" len="sm"/>
          </a:ln>
        </p:spPr>
      </p:cxnSp>
      <p:cxnSp>
        <p:nvCxnSpPr>
          <p:cNvPr id="128" name="Google Shape;128;p16"/>
          <p:cNvCxnSpPr/>
          <p:nvPr/>
        </p:nvCxnSpPr>
        <p:spPr>
          <a:xfrm>
            <a:off x="1645920" y="2615184"/>
            <a:ext cx="1280160" cy="676655"/>
          </a:xfrm>
          <a:prstGeom prst="straightConnector1">
            <a:avLst/>
          </a:prstGeom>
          <a:noFill/>
          <a:ln w="12700" cap="flat" cmpd="sng">
            <a:solidFill>
              <a:srgbClr val="8C8C8C"/>
            </a:solidFill>
            <a:prstDash val="solid"/>
            <a:miter lim="8000"/>
            <a:headEnd type="none" w="sm" len="sm"/>
            <a:tailEnd type="none" w="sm" len="sm"/>
          </a:ln>
        </p:spPr>
      </p:cxnSp>
      <p:cxnSp>
        <p:nvCxnSpPr>
          <p:cNvPr id="129" name="Google Shape;129;p16"/>
          <p:cNvCxnSpPr/>
          <p:nvPr/>
        </p:nvCxnSpPr>
        <p:spPr>
          <a:xfrm>
            <a:off x="1645920" y="2615184"/>
            <a:ext cx="1280160" cy="1014984"/>
          </a:xfrm>
          <a:prstGeom prst="straightConnector1">
            <a:avLst/>
          </a:prstGeom>
          <a:noFill/>
          <a:ln w="12700" cap="flat" cmpd="sng">
            <a:solidFill>
              <a:srgbClr val="8C8C8C"/>
            </a:solidFill>
            <a:prstDash val="solid"/>
            <a:miter lim="8000"/>
            <a:headEnd type="none" w="sm" len="sm"/>
            <a:tailEnd type="none" w="sm" len="sm"/>
          </a:ln>
        </p:spPr>
      </p:cxnSp>
      <p:cxnSp>
        <p:nvCxnSpPr>
          <p:cNvPr id="130" name="Google Shape;130;p16"/>
          <p:cNvCxnSpPr/>
          <p:nvPr/>
        </p:nvCxnSpPr>
        <p:spPr>
          <a:xfrm>
            <a:off x="1280160" y="4306824"/>
            <a:ext cx="365760" cy="0"/>
          </a:xfrm>
          <a:prstGeom prst="straightConnector1">
            <a:avLst/>
          </a:prstGeom>
          <a:noFill/>
          <a:ln w="12700" cap="flat" cmpd="sng">
            <a:solidFill>
              <a:srgbClr val="8C8C8C"/>
            </a:solidFill>
            <a:prstDash val="solid"/>
            <a:miter lim="8000"/>
            <a:headEnd type="none" w="sm" len="sm"/>
            <a:tailEnd type="none" w="sm" len="sm"/>
          </a:ln>
        </p:spPr>
      </p:cxnSp>
      <p:cxnSp>
        <p:nvCxnSpPr>
          <p:cNvPr id="131" name="Google Shape;131;p16"/>
          <p:cNvCxnSpPr/>
          <p:nvPr/>
        </p:nvCxnSpPr>
        <p:spPr>
          <a:xfrm rot="10800000" flipH="1">
            <a:off x="1645920" y="3968496"/>
            <a:ext cx="1280160" cy="338328"/>
          </a:xfrm>
          <a:prstGeom prst="straightConnector1">
            <a:avLst/>
          </a:prstGeom>
          <a:noFill/>
          <a:ln w="12700" cap="flat" cmpd="sng">
            <a:solidFill>
              <a:srgbClr val="8C8C8C"/>
            </a:solidFill>
            <a:prstDash val="solid"/>
            <a:miter lim="8000"/>
            <a:headEnd type="none" w="sm" len="sm"/>
            <a:tailEnd type="none" w="sm" len="sm"/>
          </a:ln>
        </p:spPr>
      </p:cxnSp>
      <p:cxnSp>
        <p:nvCxnSpPr>
          <p:cNvPr id="132" name="Google Shape;132;p16"/>
          <p:cNvCxnSpPr/>
          <p:nvPr/>
        </p:nvCxnSpPr>
        <p:spPr>
          <a:xfrm>
            <a:off x="1645920" y="4306824"/>
            <a:ext cx="1280160" cy="0"/>
          </a:xfrm>
          <a:prstGeom prst="straightConnector1">
            <a:avLst/>
          </a:prstGeom>
          <a:noFill/>
          <a:ln w="12700" cap="flat" cmpd="sng">
            <a:solidFill>
              <a:srgbClr val="8C8C8C"/>
            </a:solidFill>
            <a:prstDash val="solid"/>
            <a:miter lim="8000"/>
            <a:headEnd type="none" w="sm" len="sm"/>
            <a:tailEnd type="none" w="sm" len="sm"/>
          </a:ln>
        </p:spPr>
      </p:cxnSp>
      <p:cxnSp>
        <p:nvCxnSpPr>
          <p:cNvPr id="133" name="Google Shape;133;p16"/>
          <p:cNvCxnSpPr/>
          <p:nvPr/>
        </p:nvCxnSpPr>
        <p:spPr>
          <a:xfrm>
            <a:off x="1645920" y="4306824"/>
            <a:ext cx="1280160" cy="338328"/>
          </a:xfrm>
          <a:prstGeom prst="straightConnector1">
            <a:avLst/>
          </a:prstGeom>
          <a:noFill/>
          <a:ln w="12700" cap="flat" cmpd="sng">
            <a:solidFill>
              <a:srgbClr val="8C8C8C"/>
            </a:solidFill>
            <a:prstDash val="solid"/>
            <a:miter lim="8000"/>
            <a:headEnd type="none" w="sm" len="sm"/>
            <a:tailEnd type="none" w="sm" len="sm"/>
          </a:ln>
        </p:spPr>
      </p:cxnSp>
      <p:cxnSp>
        <p:nvCxnSpPr>
          <p:cNvPr id="134" name="Google Shape;134;p16"/>
          <p:cNvCxnSpPr/>
          <p:nvPr/>
        </p:nvCxnSpPr>
        <p:spPr>
          <a:xfrm rot="10800000">
            <a:off x="6217920" y="3630168"/>
            <a:ext cx="1554480" cy="0"/>
          </a:xfrm>
          <a:prstGeom prst="straightConnector1">
            <a:avLst/>
          </a:prstGeom>
          <a:noFill/>
          <a:ln w="12700" cap="flat" cmpd="sng">
            <a:solidFill>
              <a:srgbClr val="8C8C8C"/>
            </a:solidFill>
            <a:prstDash val="solid"/>
            <a:miter lim="8000"/>
            <a:headEnd type="none" w="sm" len="sm"/>
            <a:tailEnd type="none" w="sm" len="sm"/>
          </a:ln>
        </p:spPr>
      </p:cxnSp>
      <p:cxnSp>
        <p:nvCxnSpPr>
          <p:cNvPr id="135" name="Google Shape;135;p16"/>
          <p:cNvCxnSpPr/>
          <p:nvPr/>
        </p:nvCxnSpPr>
        <p:spPr>
          <a:xfrm rot="10800000">
            <a:off x="7406640" y="5321807"/>
            <a:ext cx="365760" cy="0"/>
          </a:xfrm>
          <a:prstGeom prst="straightConnector1">
            <a:avLst/>
          </a:prstGeom>
          <a:noFill/>
          <a:ln w="12700" cap="flat" cmpd="sng">
            <a:solidFill>
              <a:srgbClr val="8C8C8C"/>
            </a:solidFill>
            <a:prstDash val="solid"/>
            <a:miter lim="8000"/>
            <a:headEnd type="none" w="sm" len="sm"/>
            <a:tailEnd type="none" w="sm" len="sm"/>
          </a:ln>
        </p:spPr>
      </p:cxnSp>
      <p:cxnSp>
        <p:nvCxnSpPr>
          <p:cNvPr id="136" name="Google Shape;136;p16"/>
          <p:cNvCxnSpPr/>
          <p:nvPr/>
        </p:nvCxnSpPr>
        <p:spPr>
          <a:xfrm rot="10800000">
            <a:off x="6217920" y="4983480"/>
            <a:ext cx="1188720" cy="338327"/>
          </a:xfrm>
          <a:prstGeom prst="straightConnector1">
            <a:avLst/>
          </a:prstGeom>
          <a:noFill/>
          <a:ln w="12700" cap="flat" cmpd="sng">
            <a:solidFill>
              <a:srgbClr val="8C8C8C"/>
            </a:solidFill>
            <a:prstDash val="solid"/>
            <a:miter lim="8000"/>
            <a:headEnd type="none" w="sm" len="sm"/>
            <a:tailEnd type="none" w="sm" len="sm"/>
          </a:ln>
        </p:spPr>
      </p:cxnSp>
      <p:cxnSp>
        <p:nvCxnSpPr>
          <p:cNvPr id="137" name="Google Shape;137;p16"/>
          <p:cNvCxnSpPr/>
          <p:nvPr/>
        </p:nvCxnSpPr>
        <p:spPr>
          <a:xfrm rot="10800000">
            <a:off x="6217920" y="5321807"/>
            <a:ext cx="1188720" cy="0"/>
          </a:xfrm>
          <a:prstGeom prst="straightConnector1">
            <a:avLst/>
          </a:prstGeom>
          <a:noFill/>
          <a:ln w="12700" cap="flat" cmpd="sng">
            <a:solidFill>
              <a:srgbClr val="8C8C8C"/>
            </a:solidFill>
            <a:prstDash val="solid"/>
            <a:miter lim="8000"/>
            <a:headEnd type="none" w="sm" len="sm"/>
            <a:tailEnd type="none" w="sm" len="sm"/>
          </a:ln>
        </p:spPr>
      </p:cxnSp>
      <p:cxnSp>
        <p:nvCxnSpPr>
          <p:cNvPr id="138" name="Google Shape;138;p16"/>
          <p:cNvCxnSpPr/>
          <p:nvPr/>
        </p:nvCxnSpPr>
        <p:spPr>
          <a:xfrm flipH="1">
            <a:off x="6217920" y="5321807"/>
            <a:ext cx="1188720" cy="338329"/>
          </a:xfrm>
          <a:prstGeom prst="straightConnector1">
            <a:avLst/>
          </a:prstGeom>
          <a:noFill/>
          <a:ln w="12700" cap="flat" cmpd="sng">
            <a:solidFill>
              <a:srgbClr val="8C8C8C"/>
            </a:solidFill>
            <a:prstDash val="solid"/>
            <a:miter lim="8000"/>
            <a:headEnd type="none" w="sm" len="sm"/>
            <a:tailEnd type="none" w="sm" len="sm"/>
          </a:ln>
        </p:spPr>
      </p:cxnSp>
      <p:cxnSp>
        <p:nvCxnSpPr>
          <p:cNvPr id="139" name="Google Shape;139;p16"/>
          <p:cNvCxnSpPr/>
          <p:nvPr/>
        </p:nvCxnSpPr>
        <p:spPr>
          <a:xfrm rot="10800000">
            <a:off x="1097280" y="3273552"/>
            <a:ext cx="0" cy="768096"/>
          </a:xfrm>
          <a:prstGeom prst="straightConnector1">
            <a:avLst/>
          </a:prstGeom>
          <a:noFill/>
          <a:ln w="12700" cap="flat" cmpd="sng">
            <a:solidFill>
              <a:srgbClr val="8C8C8C"/>
            </a:solidFill>
            <a:prstDash val="solid"/>
            <a:miter lim="8000"/>
            <a:headEnd type="none" w="sm" len="sm"/>
            <a:tailEnd type="none" w="sm" len="sm"/>
          </a:ln>
        </p:spPr>
      </p:cxnSp>
      <p:sp>
        <p:nvSpPr>
          <p:cNvPr id="140" name="Google Shape;140;p16"/>
          <p:cNvSpPr/>
          <p:nvPr/>
        </p:nvSpPr>
        <p:spPr>
          <a:xfrm>
            <a:off x="1014983" y="3145536"/>
            <a:ext cx="164592" cy="128016"/>
          </a:xfrm>
          <a:prstGeom prst="triangle">
            <a:avLst>
              <a:gd name="adj" fmla="val 50000"/>
            </a:avLst>
          </a:prstGeom>
          <a:solidFill>
            <a:srgbClr val="FFFFFF"/>
          </a:solidFill>
          <a:ln w="12700" cap="flat" cmpd="sng">
            <a:solidFill>
              <a:srgbClr val="8C8C8C"/>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1" name="Google Shape;141;p16"/>
          <p:cNvSpPr txBox="1"/>
          <p:nvPr/>
        </p:nvSpPr>
        <p:spPr>
          <a:xfrm>
            <a:off x="1207007" y="3529584"/>
            <a:ext cx="1280160"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b="0" i="0" u="none" strike="noStrike" cap="none">
                <a:solidFill>
                  <a:srgbClr val="595959"/>
                </a:solidFill>
                <a:latin typeface="Arial" panose="020B0604020202020204" pitchFamily="34" charset="0"/>
                <a:ea typeface="Lato"/>
                <a:cs typeface="Arial" panose="020B0604020202020204" pitchFamily="34" charset="0"/>
                <a:sym typeface="Lato"/>
              </a:rPr>
              <a:t>kế thừa quyền</a:t>
            </a:r>
            <a:endParaRPr>
              <a:latin typeface="Arial" panose="020B0604020202020204" pitchFamily="34" charset="0"/>
            </a:endParaRPr>
          </a:p>
        </p:txBody>
      </p:sp>
      <p:sp>
        <p:nvSpPr>
          <p:cNvPr id="142" name="Google Shape;142;p16"/>
          <p:cNvSpPr/>
          <p:nvPr/>
        </p:nvSpPr>
        <p:spPr>
          <a:xfrm>
            <a:off x="2926080" y="1129284"/>
            <a:ext cx="3291840" cy="265176"/>
          </a:xfrm>
          <a:prstGeom prst="roundRect">
            <a:avLst>
              <a:gd name="adj" fmla="val 50000"/>
            </a:avLst>
          </a:prstGeom>
          <a:solidFill>
            <a:srgbClr val="FFFFFF"/>
          </a:solidFill>
          <a:ln w="12700" cap="flat" cmpd="sng">
            <a:solidFill>
              <a:srgbClr val="8C8C8C"/>
            </a:solidFill>
            <a:prstDash val="solid"/>
            <a:miter lim="8000"/>
            <a:headEnd type="none" w="sm" len="sm"/>
            <a:tailEnd type="none" w="sm" len="sm"/>
          </a:ln>
        </p:spPr>
        <p:txBody>
          <a:bodyPr spcFirstLastPara="1" wrap="square" lIns="45700" tIns="27425" rIns="45700" bIns="27425" anchor="ctr" anchorCtr="0">
            <a:noAutofit/>
          </a:bodyPr>
          <a:lstStyle/>
          <a:p>
            <a:pPr marL="0" marR="0" lvl="0" indent="0" algn="ctr" rtl="0">
              <a:spcBef>
                <a:spcPts val="0"/>
              </a:spcBef>
              <a:spcAft>
                <a:spcPts val="0"/>
              </a:spcAft>
              <a:buNone/>
            </a:pPr>
            <a:r>
              <a:rPr lang="en-US" sz="1100" b="0" i="0" u="none" strike="noStrike" cap="none">
                <a:solidFill>
                  <a:srgbClr val="1F1F1F"/>
                </a:solidFill>
                <a:latin typeface="Arial" panose="020B0604020202020204" pitchFamily="34" charset="0"/>
                <a:ea typeface="Lato"/>
                <a:cs typeface="Arial" panose="020B0604020202020204" pitchFamily="34" charset="0"/>
                <a:sym typeface="Lato"/>
              </a:rPr>
              <a:t>Đăng ký, xác minh email, đăng nhập</a:t>
            </a:r>
            <a:endParaRPr>
              <a:latin typeface="Arial" panose="020B0604020202020204" pitchFamily="34" charset="0"/>
            </a:endParaRPr>
          </a:p>
        </p:txBody>
      </p:sp>
      <p:sp>
        <p:nvSpPr>
          <p:cNvPr id="143" name="Google Shape;143;p16"/>
          <p:cNvSpPr/>
          <p:nvPr/>
        </p:nvSpPr>
        <p:spPr>
          <a:xfrm>
            <a:off x="2926080" y="1467612"/>
            <a:ext cx="3291840" cy="265176"/>
          </a:xfrm>
          <a:prstGeom prst="roundRect">
            <a:avLst>
              <a:gd name="adj" fmla="val 50000"/>
            </a:avLst>
          </a:prstGeom>
          <a:solidFill>
            <a:srgbClr val="FFFFFF"/>
          </a:solidFill>
          <a:ln w="12700" cap="flat" cmpd="sng">
            <a:solidFill>
              <a:srgbClr val="8C8C8C"/>
            </a:solidFill>
            <a:prstDash val="solid"/>
            <a:miter lim="8000"/>
            <a:headEnd type="none" w="sm" len="sm"/>
            <a:tailEnd type="none" w="sm" len="sm"/>
          </a:ln>
        </p:spPr>
        <p:txBody>
          <a:bodyPr spcFirstLastPara="1" wrap="square" lIns="45700" tIns="27425" rIns="45700" bIns="27425" anchor="ctr" anchorCtr="0">
            <a:noAutofit/>
          </a:bodyPr>
          <a:lstStyle/>
          <a:p>
            <a:pPr marL="0" marR="0" lvl="0" indent="0" algn="ctr" rtl="0">
              <a:spcBef>
                <a:spcPts val="0"/>
              </a:spcBef>
              <a:spcAft>
                <a:spcPts val="0"/>
              </a:spcAft>
              <a:buNone/>
            </a:pPr>
            <a:r>
              <a:rPr lang="en-US" sz="1100" b="0" i="0" u="none" strike="noStrike" cap="none">
                <a:solidFill>
                  <a:srgbClr val="1F1F1F"/>
                </a:solidFill>
                <a:latin typeface="Arial" panose="020B0604020202020204" pitchFamily="34" charset="0"/>
                <a:ea typeface="Lato"/>
                <a:cs typeface="Arial" panose="020B0604020202020204" pitchFamily="34" charset="0"/>
                <a:sym typeface="Lato"/>
              </a:rPr>
              <a:t>Quản lý hồ sơ, đổi mật khẩu</a:t>
            </a:r>
            <a:endParaRPr>
              <a:latin typeface="Arial" panose="020B0604020202020204" pitchFamily="34" charset="0"/>
            </a:endParaRPr>
          </a:p>
        </p:txBody>
      </p:sp>
      <p:sp>
        <p:nvSpPr>
          <p:cNvPr id="144" name="Google Shape;144;p16"/>
          <p:cNvSpPr/>
          <p:nvPr/>
        </p:nvSpPr>
        <p:spPr>
          <a:xfrm>
            <a:off x="2926080" y="1805940"/>
            <a:ext cx="3291840" cy="265176"/>
          </a:xfrm>
          <a:prstGeom prst="roundRect">
            <a:avLst>
              <a:gd name="adj" fmla="val 50000"/>
            </a:avLst>
          </a:prstGeom>
          <a:solidFill>
            <a:srgbClr val="FFFFFF"/>
          </a:solidFill>
          <a:ln w="12700" cap="flat" cmpd="sng">
            <a:solidFill>
              <a:srgbClr val="8C8C8C"/>
            </a:solidFill>
            <a:prstDash val="solid"/>
            <a:miter lim="8000"/>
            <a:headEnd type="none" w="sm" len="sm"/>
            <a:tailEnd type="none" w="sm" len="sm"/>
          </a:ln>
        </p:spPr>
        <p:txBody>
          <a:bodyPr spcFirstLastPara="1" wrap="square" lIns="45700" tIns="27425" rIns="45700" bIns="27425" anchor="ctr" anchorCtr="0">
            <a:noAutofit/>
          </a:bodyPr>
          <a:lstStyle/>
          <a:p>
            <a:pPr marL="0" marR="0" lvl="0" indent="0" algn="ctr" rtl="0">
              <a:spcBef>
                <a:spcPts val="0"/>
              </a:spcBef>
              <a:spcAft>
                <a:spcPts val="0"/>
              </a:spcAft>
              <a:buNone/>
            </a:pPr>
            <a:r>
              <a:rPr lang="en-US" sz="1100" b="0" i="0" u="none" strike="noStrike" cap="none">
                <a:solidFill>
                  <a:srgbClr val="1F1F1F"/>
                </a:solidFill>
                <a:latin typeface="Arial" panose="020B0604020202020204" pitchFamily="34" charset="0"/>
                <a:ea typeface="Lato"/>
                <a:cs typeface="Arial" panose="020B0604020202020204" pitchFamily="34" charset="0"/>
                <a:sym typeface="Lato"/>
              </a:rPr>
              <a:t>Quản lý thực phẩm và tủ lạnh</a:t>
            </a:r>
            <a:endParaRPr>
              <a:latin typeface="Arial" panose="020B0604020202020204" pitchFamily="34" charset="0"/>
            </a:endParaRPr>
          </a:p>
        </p:txBody>
      </p:sp>
      <p:sp>
        <p:nvSpPr>
          <p:cNvPr id="145" name="Google Shape;145;p16"/>
          <p:cNvSpPr/>
          <p:nvPr/>
        </p:nvSpPr>
        <p:spPr>
          <a:xfrm>
            <a:off x="2926080" y="2144268"/>
            <a:ext cx="3291840" cy="265176"/>
          </a:xfrm>
          <a:prstGeom prst="roundRect">
            <a:avLst>
              <a:gd name="adj" fmla="val 50000"/>
            </a:avLst>
          </a:prstGeom>
          <a:solidFill>
            <a:srgbClr val="FFFFFF"/>
          </a:solidFill>
          <a:ln w="12700" cap="flat" cmpd="sng">
            <a:solidFill>
              <a:srgbClr val="8C8C8C"/>
            </a:solidFill>
            <a:prstDash val="solid"/>
            <a:miter lim="8000"/>
            <a:headEnd type="none" w="sm" len="sm"/>
            <a:tailEnd type="none" w="sm" len="sm"/>
          </a:ln>
        </p:spPr>
        <p:txBody>
          <a:bodyPr spcFirstLastPara="1" wrap="square" lIns="45700" tIns="27425" rIns="45700" bIns="27425" anchor="ctr" anchorCtr="0">
            <a:noAutofit/>
          </a:bodyPr>
          <a:lstStyle/>
          <a:p>
            <a:pPr marL="0" marR="0" lvl="0" indent="0" algn="ctr" rtl="0">
              <a:spcBef>
                <a:spcPts val="0"/>
              </a:spcBef>
              <a:spcAft>
                <a:spcPts val="0"/>
              </a:spcAft>
              <a:buNone/>
            </a:pPr>
            <a:r>
              <a:rPr lang="en-US" sz="1100" b="0" i="0" u="none" strike="noStrike" cap="none">
                <a:solidFill>
                  <a:srgbClr val="1F1F1F"/>
                </a:solidFill>
                <a:latin typeface="Arial" panose="020B0604020202020204" pitchFamily="34" charset="0"/>
                <a:ea typeface="Lato"/>
                <a:cs typeface="Arial" panose="020B0604020202020204" pitchFamily="34" charset="0"/>
                <a:sym typeface="Lato"/>
              </a:rPr>
              <a:t>Thực hiện danh sách mua sắm được giao</a:t>
            </a:r>
            <a:endParaRPr>
              <a:latin typeface="Arial" panose="020B0604020202020204" pitchFamily="34" charset="0"/>
            </a:endParaRPr>
          </a:p>
        </p:txBody>
      </p:sp>
      <p:sp>
        <p:nvSpPr>
          <p:cNvPr id="146" name="Google Shape;146;p16"/>
          <p:cNvSpPr/>
          <p:nvPr/>
        </p:nvSpPr>
        <p:spPr>
          <a:xfrm>
            <a:off x="2926080" y="2482596"/>
            <a:ext cx="3291840" cy="265176"/>
          </a:xfrm>
          <a:prstGeom prst="roundRect">
            <a:avLst>
              <a:gd name="adj" fmla="val 50000"/>
            </a:avLst>
          </a:prstGeom>
          <a:solidFill>
            <a:srgbClr val="FFFFFF"/>
          </a:solidFill>
          <a:ln w="12700" cap="flat" cmpd="sng">
            <a:solidFill>
              <a:srgbClr val="8C8C8C"/>
            </a:solidFill>
            <a:prstDash val="solid"/>
            <a:miter lim="8000"/>
            <a:headEnd type="none" w="sm" len="sm"/>
            <a:tailEnd type="none" w="sm" len="sm"/>
          </a:ln>
        </p:spPr>
        <p:txBody>
          <a:bodyPr spcFirstLastPara="1" wrap="square" lIns="45700" tIns="27425" rIns="45700" bIns="27425" anchor="ctr" anchorCtr="0">
            <a:noAutofit/>
          </a:bodyPr>
          <a:lstStyle/>
          <a:p>
            <a:pPr marL="0" marR="0" lvl="0" indent="0" algn="ctr" rtl="0">
              <a:spcBef>
                <a:spcPts val="0"/>
              </a:spcBef>
              <a:spcAft>
                <a:spcPts val="0"/>
              </a:spcAft>
              <a:buNone/>
            </a:pPr>
            <a:r>
              <a:rPr lang="en-US" sz="1100" b="0" i="0" u="none" strike="noStrike" cap="none">
                <a:solidFill>
                  <a:srgbClr val="1F1F1F"/>
                </a:solidFill>
                <a:latin typeface="Arial" panose="020B0604020202020204" pitchFamily="34" charset="0"/>
                <a:ea typeface="Lato"/>
                <a:cs typeface="Arial" panose="020B0604020202020204" pitchFamily="34" charset="0"/>
                <a:sym typeface="Lato"/>
              </a:rPr>
              <a:t>Quản lý công thức nấu ăn</a:t>
            </a:r>
            <a:endParaRPr>
              <a:latin typeface="Arial" panose="020B0604020202020204" pitchFamily="34" charset="0"/>
            </a:endParaRPr>
          </a:p>
        </p:txBody>
      </p:sp>
      <p:sp>
        <p:nvSpPr>
          <p:cNvPr id="147" name="Google Shape;147;p16"/>
          <p:cNvSpPr/>
          <p:nvPr/>
        </p:nvSpPr>
        <p:spPr>
          <a:xfrm>
            <a:off x="2926080" y="2820924"/>
            <a:ext cx="3291840" cy="265176"/>
          </a:xfrm>
          <a:prstGeom prst="roundRect">
            <a:avLst>
              <a:gd name="adj" fmla="val 50000"/>
            </a:avLst>
          </a:prstGeom>
          <a:solidFill>
            <a:srgbClr val="FFFFFF"/>
          </a:solidFill>
          <a:ln w="12700" cap="flat" cmpd="sng">
            <a:solidFill>
              <a:srgbClr val="8C8C8C"/>
            </a:solidFill>
            <a:prstDash val="solid"/>
            <a:miter lim="8000"/>
            <a:headEnd type="none" w="sm" len="sm"/>
            <a:tailEnd type="none" w="sm" len="sm"/>
          </a:ln>
        </p:spPr>
        <p:txBody>
          <a:bodyPr spcFirstLastPara="1" wrap="square" lIns="45700" tIns="27425" rIns="45700" bIns="27425" anchor="ctr" anchorCtr="0">
            <a:noAutofit/>
          </a:bodyPr>
          <a:lstStyle/>
          <a:p>
            <a:pPr marL="0" marR="0" lvl="0" indent="0" algn="ctr" rtl="0">
              <a:spcBef>
                <a:spcPts val="0"/>
              </a:spcBef>
              <a:spcAft>
                <a:spcPts val="0"/>
              </a:spcAft>
              <a:buNone/>
            </a:pPr>
            <a:r>
              <a:rPr lang="en-US" sz="1100" b="0" i="0" u="none" strike="noStrike" cap="none">
                <a:solidFill>
                  <a:srgbClr val="1F1F1F"/>
                </a:solidFill>
                <a:latin typeface="Arial" panose="020B0604020202020204" pitchFamily="34" charset="0"/>
                <a:ea typeface="Lato"/>
                <a:cs typeface="Arial" panose="020B0604020202020204" pitchFamily="34" charset="0"/>
                <a:sym typeface="Lato"/>
              </a:rPr>
              <a:t>Tìm kiếm, xem gợi ý món ăn</a:t>
            </a:r>
            <a:endParaRPr>
              <a:latin typeface="Arial" panose="020B0604020202020204" pitchFamily="34" charset="0"/>
            </a:endParaRPr>
          </a:p>
        </p:txBody>
      </p:sp>
      <p:sp>
        <p:nvSpPr>
          <p:cNvPr id="148" name="Google Shape;148;p16"/>
          <p:cNvSpPr/>
          <p:nvPr/>
        </p:nvSpPr>
        <p:spPr>
          <a:xfrm>
            <a:off x="2926080" y="3159251"/>
            <a:ext cx="3291840" cy="265176"/>
          </a:xfrm>
          <a:prstGeom prst="roundRect">
            <a:avLst>
              <a:gd name="adj" fmla="val 50000"/>
            </a:avLst>
          </a:prstGeom>
          <a:solidFill>
            <a:srgbClr val="FFFFFF"/>
          </a:solidFill>
          <a:ln w="12700" cap="flat" cmpd="sng">
            <a:solidFill>
              <a:srgbClr val="8C8C8C"/>
            </a:solidFill>
            <a:prstDash val="solid"/>
            <a:miter lim="8000"/>
            <a:headEnd type="none" w="sm" len="sm"/>
            <a:tailEnd type="none" w="sm" len="sm"/>
          </a:ln>
        </p:spPr>
        <p:txBody>
          <a:bodyPr spcFirstLastPara="1" wrap="square" lIns="45700" tIns="27425" rIns="45700" bIns="27425" anchor="ctr" anchorCtr="0">
            <a:noAutofit/>
          </a:bodyPr>
          <a:lstStyle/>
          <a:p>
            <a:pPr marL="0" marR="0" lvl="0" indent="0" algn="ctr" rtl="0">
              <a:spcBef>
                <a:spcPts val="0"/>
              </a:spcBef>
              <a:spcAft>
                <a:spcPts val="0"/>
              </a:spcAft>
              <a:buNone/>
            </a:pPr>
            <a:r>
              <a:rPr lang="en-US" sz="1100" b="0" i="0" u="none" strike="noStrike" cap="none">
                <a:solidFill>
                  <a:srgbClr val="1F1F1F"/>
                </a:solidFill>
                <a:latin typeface="Arial" panose="020B0604020202020204" pitchFamily="34" charset="0"/>
                <a:ea typeface="Lato"/>
                <a:cs typeface="Arial" panose="020B0604020202020204" pitchFamily="34" charset="0"/>
                <a:sym typeface="Lato"/>
              </a:rPr>
              <a:t>Xem báo cáo mua sắm, tiêu thụ</a:t>
            </a:r>
            <a:endParaRPr>
              <a:latin typeface="Arial" panose="020B0604020202020204" pitchFamily="34" charset="0"/>
            </a:endParaRPr>
          </a:p>
        </p:txBody>
      </p:sp>
      <p:sp>
        <p:nvSpPr>
          <p:cNvPr id="149" name="Google Shape;149;p16"/>
          <p:cNvSpPr/>
          <p:nvPr/>
        </p:nvSpPr>
        <p:spPr>
          <a:xfrm>
            <a:off x="2926080" y="3497579"/>
            <a:ext cx="3291840" cy="265176"/>
          </a:xfrm>
          <a:prstGeom prst="roundRect">
            <a:avLst>
              <a:gd name="adj" fmla="val 50000"/>
            </a:avLst>
          </a:prstGeom>
          <a:solidFill>
            <a:srgbClr val="FFFFFF"/>
          </a:solidFill>
          <a:ln w="12700" cap="flat" cmpd="sng">
            <a:solidFill>
              <a:srgbClr val="8C8C8C"/>
            </a:solidFill>
            <a:prstDash val="solid"/>
            <a:miter lim="8000"/>
            <a:headEnd type="none" w="sm" len="sm"/>
            <a:tailEnd type="none" w="sm" len="sm"/>
          </a:ln>
        </p:spPr>
        <p:txBody>
          <a:bodyPr spcFirstLastPara="1" wrap="square" lIns="45700" tIns="27425" rIns="45700" bIns="27425" anchor="ctr" anchorCtr="0">
            <a:noAutofit/>
          </a:bodyPr>
          <a:lstStyle/>
          <a:p>
            <a:pPr marL="0" marR="0" lvl="0" indent="0" algn="ctr" rtl="0">
              <a:spcBef>
                <a:spcPts val="0"/>
              </a:spcBef>
              <a:spcAft>
                <a:spcPts val="0"/>
              </a:spcAft>
              <a:buNone/>
            </a:pPr>
            <a:r>
              <a:rPr lang="en-US" sz="1100" b="0" i="0" u="none" strike="noStrike" cap="none">
                <a:solidFill>
                  <a:srgbClr val="1F1F1F"/>
                </a:solidFill>
                <a:latin typeface="Arial" panose="020B0604020202020204" pitchFamily="34" charset="0"/>
                <a:ea typeface="Lato"/>
                <a:cs typeface="Arial" panose="020B0604020202020204" pitchFamily="34" charset="0"/>
                <a:sym typeface="Lato"/>
              </a:rPr>
              <a:t>Nhận thông báo thực phẩm sắp hết hạn</a:t>
            </a:r>
            <a:endParaRPr>
              <a:latin typeface="Arial" panose="020B0604020202020204" pitchFamily="34" charset="0"/>
            </a:endParaRPr>
          </a:p>
        </p:txBody>
      </p:sp>
      <p:sp>
        <p:nvSpPr>
          <p:cNvPr id="150" name="Google Shape;150;p16"/>
          <p:cNvSpPr/>
          <p:nvPr/>
        </p:nvSpPr>
        <p:spPr>
          <a:xfrm>
            <a:off x="2926080" y="3835908"/>
            <a:ext cx="3291840" cy="265176"/>
          </a:xfrm>
          <a:prstGeom prst="roundRect">
            <a:avLst>
              <a:gd name="adj" fmla="val 50000"/>
            </a:avLst>
          </a:prstGeom>
          <a:solidFill>
            <a:srgbClr val="FFFFFF"/>
          </a:solidFill>
          <a:ln w="12700" cap="flat" cmpd="sng">
            <a:solidFill>
              <a:srgbClr val="8C8C8C"/>
            </a:solidFill>
            <a:prstDash val="solid"/>
            <a:miter lim="8000"/>
            <a:headEnd type="none" w="sm" len="sm"/>
            <a:tailEnd type="none" w="sm" len="sm"/>
          </a:ln>
        </p:spPr>
        <p:txBody>
          <a:bodyPr spcFirstLastPara="1" wrap="square" lIns="45700" tIns="27425" rIns="45700" bIns="27425" anchor="ctr" anchorCtr="0">
            <a:noAutofit/>
          </a:bodyPr>
          <a:lstStyle/>
          <a:p>
            <a:pPr marL="0" marR="0" lvl="0" indent="0" algn="ctr" rtl="0">
              <a:spcBef>
                <a:spcPts val="0"/>
              </a:spcBef>
              <a:spcAft>
                <a:spcPts val="0"/>
              </a:spcAft>
              <a:buNone/>
            </a:pPr>
            <a:r>
              <a:rPr lang="en-US" sz="1100" b="0" i="0" u="none" strike="noStrike" cap="none">
                <a:solidFill>
                  <a:srgbClr val="1F1F1F"/>
                </a:solidFill>
                <a:latin typeface="Arial" panose="020B0604020202020204" pitchFamily="34" charset="0"/>
                <a:ea typeface="Lato"/>
                <a:cs typeface="Arial" panose="020B0604020202020204" pitchFamily="34" charset="0"/>
                <a:sym typeface="Lato"/>
              </a:rPr>
              <a:t>Quản lý nhóm gia đình</a:t>
            </a:r>
            <a:endParaRPr>
              <a:latin typeface="Arial" panose="020B0604020202020204" pitchFamily="34" charset="0"/>
            </a:endParaRPr>
          </a:p>
        </p:txBody>
      </p:sp>
      <p:sp>
        <p:nvSpPr>
          <p:cNvPr id="151" name="Google Shape;151;p16"/>
          <p:cNvSpPr/>
          <p:nvPr/>
        </p:nvSpPr>
        <p:spPr>
          <a:xfrm>
            <a:off x="2926080" y="4174236"/>
            <a:ext cx="3291840" cy="265176"/>
          </a:xfrm>
          <a:prstGeom prst="roundRect">
            <a:avLst>
              <a:gd name="adj" fmla="val 50000"/>
            </a:avLst>
          </a:prstGeom>
          <a:solidFill>
            <a:srgbClr val="FFFFFF"/>
          </a:solidFill>
          <a:ln w="12700" cap="flat" cmpd="sng">
            <a:solidFill>
              <a:srgbClr val="8C8C8C"/>
            </a:solidFill>
            <a:prstDash val="solid"/>
            <a:miter lim="8000"/>
            <a:headEnd type="none" w="sm" len="sm"/>
            <a:tailEnd type="none" w="sm" len="sm"/>
          </a:ln>
        </p:spPr>
        <p:txBody>
          <a:bodyPr spcFirstLastPara="1" wrap="square" lIns="45700" tIns="27425" rIns="45700" bIns="27425" anchor="ctr" anchorCtr="0">
            <a:noAutofit/>
          </a:bodyPr>
          <a:lstStyle/>
          <a:p>
            <a:pPr marL="0" marR="0" lvl="0" indent="0" algn="ctr" rtl="0">
              <a:spcBef>
                <a:spcPts val="0"/>
              </a:spcBef>
              <a:spcAft>
                <a:spcPts val="0"/>
              </a:spcAft>
              <a:buNone/>
            </a:pPr>
            <a:r>
              <a:rPr lang="en-US" sz="1100" b="0" i="0" u="none" strike="noStrike" cap="none">
                <a:solidFill>
                  <a:srgbClr val="1F1F1F"/>
                </a:solidFill>
                <a:latin typeface="Arial" panose="020B0604020202020204" pitchFamily="34" charset="0"/>
                <a:ea typeface="Lato"/>
                <a:cs typeface="Arial" panose="020B0604020202020204" pitchFamily="34" charset="0"/>
                <a:sym typeface="Lato"/>
              </a:rPr>
              <a:t>Tạo, phân công danh sách mua sắm</a:t>
            </a:r>
            <a:endParaRPr>
              <a:latin typeface="Arial" panose="020B0604020202020204" pitchFamily="34" charset="0"/>
            </a:endParaRPr>
          </a:p>
        </p:txBody>
      </p:sp>
      <p:sp>
        <p:nvSpPr>
          <p:cNvPr id="152" name="Google Shape;152;p16"/>
          <p:cNvSpPr/>
          <p:nvPr/>
        </p:nvSpPr>
        <p:spPr>
          <a:xfrm>
            <a:off x="2926080" y="4512564"/>
            <a:ext cx="3291840" cy="265176"/>
          </a:xfrm>
          <a:prstGeom prst="roundRect">
            <a:avLst>
              <a:gd name="adj" fmla="val 50000"/>
            </a:avLst>
          </a:prstGeom>
          <a:solidFill>
            <a:srgbClr val="FFFFFF"/>
          </a:solidFill>
          <a:ln w="12700" cap="flat" cmpd="sng">
            <a:solidFill>
              <a:srgbClr val="8C8C8C"/>
            </a:solidFill>
            <a:prstDash val="solid"/>
            <a:miter lim="8000"/>
            <a:headEnd type="none" w="sm" len="sm"/>
            <a:tailEnd type="none" w="sm" len="sm"/>
          </a:ln>
        </p:spPr>
        <p:txBody>
          <a:bodyPr spcFirstLastPara="1" wrap="square" lIns="45700" tIns="27425" rIns="45700" bIns="27425" anchor="ctr" anchorCtr="0">
            <a:noAutofit/>
          </a:bodyPr>
          <a:lstStyle/>
          <a:p>
            <a:pPr marL="0" marR="0" lvl="0" indent="0" algn="ctr" rtl="0">
              <a:spcBef>
                <a:spcPts val="0"/>
              </a:spcBef>
              <a:spcAft>
                <a:spcPts val="0"/>
              </a:spcAft>
              <a:buNone/>
            </a:pPr>
            <a:r>
              <a:rPr lang="en-US" sz="1100" b="0" i="0" u="none" strike="noStrike" cap="none">
                <a:solidFill>
                  <a:srgbClr val="1F1F1F"/>
                </a:solidFill>
                <a:latin typeface="Arial" panose="020B0604020202020204" pitchFamily="34" charset="0"/>
                <a:ea typeface="Lato"/>
                <a:cs typeface="Arial" panose="020B0604020202020204" pitchFamily="34" charset="0"/>
                <a:sym typeface="Lato"/>
              </a:rPr>
              <a:t>Lập kế hoạch bữa ăn</a:t>
            </a:r>
            <a:endParaRPr>
              <a:latin typeface="Arial" panose="020B0604020202020204" pitchFamily="34" charset="0"/>
            </a:endParaRPr>
          </a:p>
        </p:txBody>
      </p:sp>
      <p:sp>
        <p:nvSpPr>
          <p:cNvPr id="153" name="Google Shape;153;p16"/>
          <p:cNvSpPr/>
          <p:nvPr/>
        </p:nvSpPr>
        <p:spPr>
          <a:xfrm>
            <a:off x="2926080" y="4850892"/>
            <a:ext cx="3291840" cy="265176"/>
          </a:xfrm>
          <a:prstGeom prst="roundRect">
            <a:avLst>
              <a:gd name="adj" fmla="val 50000"/>
            </a:avLst>
          </a:prstGeom>
          <a:solidFill>
            <a:srgbClr val="FFFFFF"/>
          </a:solidFill>
          <a:ln w="12700" cap="flat" cmpd="sng">
            <a:solidFill>
              <a:srgbClr val="8C8C8C"/>
            </a:solidFill>
            <a:prstDash val="solid"/>
            <a:miter lim="8000"/>
            <a:headEnd type="none" w="sm" len="sm"/>
            <a:tailEnd type="none" w="sm" len="sm"/>
          </a:ln>
        </p:spPr>
        <p:txBody>
          <a:bodyPr spcFirstLastPara="1" wrap="square" lIns="45700" tIns="27425" rIns="45700" bIns="27425" anchor="ctr" anchorCtr="0">
            <a:noAutofit/>
          </a:bodyPr>
          <a:lstStyle/>
          <a:p>
            <a:pPr marL="0" marR="0" lvl="0" indent="0" algn="ctr" rtl="0">
              <a:spcBef>
                <a:spcPts val="0"/>
              </a:spcBef>
              <a:spcAft>
                <a:spcPts val="0"/>
              </a:spcAft>
              <a:buNone/>
            </a:pPr>
            <a:r>
              <a:rPr lang="en-US" sz="1100" b="0" i="0" u="none" strike="noStrike" cap="none">
                <a:solidFill>
                  <a:srgbClr val="1F1F1F"/>
                </a:solidFill>
                <a:latin typeface="Arial" panose="020B0604020202020204" pitchFamily="34" charset="0"/>
                <a:ea typeface="Lato"/>
                <a:cs typeface="Arial" panose="020B0604020202020204" pitchFamily="34" charset="0"/>
                <a:sym typeface="Lato"/>
              </a:rPr>
              <a:t>Quản lý tài khoản người dùng</a:t>
            </a:r>
            <a:endParaRPr>
              <a:latin typeface="Arial" panose="020B0604020202020204" pitchFamily="34" charset="0"/>
            </a:endParaRPr>
          </a:p>
        </p:txBody>
      </p:sp>
      <p:sp>
        <p:nvSpPr>
          <p:cNvPr id="154" name="Google Shape;154;p16"/>
          <p:cNvSpPr/>
          <p:nvPr/>
        </p:nvSpPr>
        <p:spPr>
          <a:xfrm>
            <a:off x="2926080" y="5189220"/>
            <a:ext cx="3291840" cy="265176"/>
          </a:xfrm>
          <a:prstGeom prst="roundRect">
            <a:avLst>
              <a:gd name="adj" fmla="val 50000"/>
            </a:avLst>
          </a:prstGeom>
          <a:solidFill>
            <a:srgbClr val="FFFFFF"/>
          </a:solidFill>
          <a:ln w="12700" cap="flat" cmpd="sng">
            <a:solidFill>
              <a:srgbClr val="8C8C8C"/>
            </a:solidFill>
            <a:prstDash val="solid"/>
            <a:miter lim="8000"/>
            <a:headEnd type="none" w="sm" len="sm"/>
            <a:tailEnd type="none" w="sm" len="sm"/>
          </a:ln>
        </p:spPr>
        <p:txBody>
          <a:bodyPr spcFirstLastPara="1" wrap="square" lIns="45700" tIns="27425" rIns="45700" bIns="27425" anchor="ctr" anchorCtr="0">
            <a:noAutofit/>
          </a:bodyPr>
          <a:lstStyle/>
          <a:p>
            <a:pPr marL="0" marR="0" lvl="0" indent="0" algn="ctr" rtl="0">
              <a:spcBef>
                <a:spcPts val="0"/>
              </a:spcBef>
              <a:spcAft>
                <a:spcPts val="0"/>
              </a:spcAft>
              <a:buNone/>
            </a:pPr>
            <a:r>
              <a:rPr lang="en-US" sz="1100" b="0" i="0" u="none" strike="noStrike" cap="none">
                <a:solidFill>
                  <a:srgbClr val="1F1F1F"/>
                </a:solidFill>
                <a:latin typeface="Arial" panose="020B0604020202020204" pitchFamily="34" charset="0"/>
                <a:ea typeface="Lato"/>
                <a:cs typeface="Arial" panose="020B0604020202020204" pitchFamily="34" charset="0"/>
                <a:sym typeface="Lato"/>
              </a:rPr>
              <a:t>Quản lý danh mục và đơn vị đo</a:t>
            </a:r>
            <a:endParaRPr>
              <a:latin typeface="Arial" panose="020B0604020202020204" pitchFamily="34" charset="0"/>
            </a:endParaRPr>
          </a:p>
        </p:txBody>
      </p:sp>
      <p:sp>
        <p:nvSpPr>
          <p:cNvPr id="155" name="Google Shape;155;p16"/>
          <p:cNvSpPr/>
          <p:nvPr/>
        </p:nvSpPr>
        <p:spPr>
          <a:xfrm>
            <a:off x="2926080" y="5527548"/>
            <a:ext cx="3291840" cy="265176"/>
          </a:xfrm>
          <a:prstGeom prst="roundRect">
            <a:avLst>
              <a:gd name="adj" fmla="val 50000"/>
            </a:avLst>
          </a:prstGeom>
          <a:solidFill>
            <a:srgbClr val="FFFFFF"/>
          </a:solidFill>
          <a:ln w="12700" cap="flat" cmpd="sng">
            <a:solidFill>
              <a:srgbClr val="8C8C8C"/>
            </a:solidFill>
            <a:prstDash val="solid"/>
            <a:miter lim="8000"/>
            <a:headEnd type="none" w="sm" len="sm"/>
            <a:tailEnd type="none" w="sm" len="sm"/>
          </a:ln>
        </p:spPr>
        <p:txBody>
          <a:bodyPr spcFirstLastPara="1" wrap="square" lIns="45700" tIns="27425" rIns="45700" bIns="27425" anchor="ctr" anchorCtr="0">
            <a:noAutofit/>
          </a:bodyPr>
          <a:lstStyle/>
          <a:p>
            <a:pPr marL="0" marR="0" lvl="0" indent="0" algn="ctr" rtl="0">
              <a:spcBef>
                <a:spcPts val="0"/>
              </a:spcBef>
              <a:spcAft>
                <a:spcPts val="0"/>
              </a:spcAft>
              <a:buNone/>
            </a:pPr>
            <a:r>
              <a:rPr lang="en-US" sz="1100" b="0" i="0" u="none" strike="noStrike" cap="none">
                <a:solidFill>
                  <a:srgbClr val="1F1F1F"/>
                </a:solidFill>
                <a:latin typeface="Arial" panose="020B0604020202020204" pitchFamily="34" charset="0"/>
                <a:ea typeface="Lato"/>
                <a:cs typeface="Arial" panose="020B0604020202020204" pitchFamily="34" charset="0"/>
                <a:sym typeface="Lato"/>
              </a:rPr>
              <a:t>Xem log hệ thống</a:t>
            </a:r>
            <a:endParaRPr>
              <a:latin typeface="Arial" panose="020B0604020202020204" pitchFamily="34" charset="0"/>
            </a:endParaRPr>
          </a:p>
        </p:txBody>
      </p:sp>
      <p:sp>
        <p:nvSpPr>
          <p:cNvPr id="156" name="Google Shape;156;p16"/>
          <p:cNvSpPr/>
          <p:nvPr/>
        </p:nvSpPr>
        <p:spPr>
          <a:xfrm>
            <a:off x="1019556" y="1024127"/>
            <a:ext cx="155448" cy="155448"/>
          </a:xfrm>
          <a:prstGeom prst="ellipse">
            <a:avLst/>
          </a:prstGeom>
          <a:solidFill>
            <a:srgbClr val="FFFFFF"/>
          </a:solidFill>
          <a:ln w="15875" cap="flat" cmpd="sng">
            <a:solidFill>
              <a:srgbClr val="1F1F1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157" name="Google Shape;157;p16"/>
          <p:cNvCxnSpPr/>
          <p:nvPr/>
        </p:nvCxnSpPr>
        <p:spPr>
          <a:xfrm>
            <a:off x="1097280" y="1179575"/>
            <a:ext cx="0" cy="155449"/>
          </a:xfrm>
          <a:prstGeom prst="straightConnector1">
            <a:avLst/>
          </a:prstGeom>
          <a:noFill/>
          <a:ln w="15875" cap="flat" cmpd="sng">
            <a:solidFill>
              <a:srgbClr val="1F1F1F"/>
            </a:solidFill>
            <a:prstDash val="solid"/>
            <a:miter lim="8000"/>
            <a:headEnd type="none" w="sm" len="sm"/>
            <a:tailEnd type="none" w="sm" len="sm"/>
          </a:ln>
        </p:spPr>
      </p:cxnSp>
      <p:cxnSp>
        <p:nvCxnSpPr>
          <p:cNvPr id="158" name="Google Shape;158;p16"/>
          <p:cNvCxnSpPr/>
          <p:nvPr/>
        </p:nvCxnSpPr>
        <p:spPr>
          <a:xfrm>
            <a:off x="978407" y="1243584"/>
            <a:ext cx="237745" cy="0"/>
          </a:xfrm>
          <a:prstGeom prst="straightConnector1">
            <a:avLst/>
          </a:prstGeom>
          <a:noFill/>
          <a:ln w="15875" cap="flat" cmpd="sng">
            <a:solidFill>
              <a:srgbClr val="1F1F1F"/>
            </a:solidFill>
            <a:prstDash val="solid"/>
            <a:miter lim="8000"/>
            <a:headEnd type="none" w="sm" len="sm"/>
            <a:tailEnd type="none" w="sm" len="sm"/>
          </a:ln>
        </p:spPr>
      </p:cxnSp>
      <p:cxnSp>
        <p:nvCxnSpPr>
          <p:cNvPr id="159" name="Google Shape;159;p16"/>
          <p:cNvCxnSpPr/>
          <p:nvPr/>
        </p:nvCxnSpPr>
        <p:spPr>
          <a:xfrm flipH="1">
            <a:off x="1005839" y="1335024"/>
            <a:ext cx="91441" cy="146304"/>
          </a:xfrm>
          <a:prstGeom prst="straightConnector1">
            <a:avLst/>
          </a:prstGeom>
          <a:noFill/>
          <a:ln w="15875" cap="flat" cmpd="sng">
            <a:solidFill>
              <a:srgbClr val="1F1F1F"/>
            </a:solidFill>
            <a:prstDash val="solid"/>
            <a:miter lim="8000"/>
            <a:headEnd type="none" w="sm" len="sm"/>
            <a:tailEnd type="none" w="sm" len="sm"/>
          </a:ln>
        </p:spPr>
      </p:cxnSp>
      <p:cxnSp>
        <p:nvCxnSpPr>
          <p:cNvPr id="160" name="Google Shape;160;p16"/>
          <p:cNvCxnSpPr/>
          <p:nvPr/>
        </p:nvCxnSpPr>
        <p:spPr>
          <a:xfrm>
            <a:off x="1097280" y="1335024"/>
            <a:ext cx="91440" cy="146304"/>
          </a:xfrm>
          <a:prstGeom prst="straightConnector1">
            <a:avLst/>
          </a:prstGeom>
          <a:noFill/>
          <a:ln w="15875" cap="flat" cmpd="sng">
            <a:solidFill>
              <a:srgbClr val="1F1F1F"/>
            </a:solidFill>
            <a:prstDash val="solid"/>
            <a:miter lim="8000"/>
            <a:headEnd type="none" w="sm" len="sm"/>
            <a:tailEnd type="none" w="sm" len="sm"/>
          </a:ln>
        </p:spPr>
      </p:cxnSp>
      <p:sp>
        <p:nvSpPr>
          <p:cNvPr id="161" name="Google Shape;161;p16"/>
          <p:cNvSpPr txBox="1"/>
          <p:nvPr/>
        </p:nvSpPr>
        <p:spPr>
          <a:xfrm>
            <a:off x="274319" y="1508760"/>
            <a:ext cx="1645920"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1F1F1F"/>
                </a:solidFill>
                <a:latin typeface="Arial" panose="020B0604020202020204" pitchFamily="34" charset="0"/>
                <a:ea typeface="Lato"/>
                <a:cs typeface="Arial" panose="020B0604020202020204" pitchFamily="34" charset="0"/>
                <a:sym typeface="Lato"/>
              </a:rPr>
              <a:t>Khách</a:t>
            </a:r>
            <a:endParaRPr>
              <a:latin typeface="Arial" panose="020B0604020202020204" pitchFamily="34" charset="0"/>
            </a:endParaRPr>
          </a:p>
        </p:txBody>
      </p:sp>
      <p:sp>
        <p:nvSpPr>
          <p:cNvPr id="162" name="Google Shape;162;p16"/>
          <p:cNvSpPr/>
          <p:nvPr/>
        </p:nvSpPr>
        <p:spPr>
          <a:xfrm>
            <a:off x="1019556" y="2377439"/>
            <a:ext cx="155448" cy="155448"/>
          </a:xfrm>
          <a:prstGeom prst="ellipse">
            <a:avLst/>
          </a:prstGeom>
          <a:solidFill>
            <a:srgbClr val="FFFFFF"/>
          </a:solidFill>
          <a:ln w="15875" cap="flat" cmpd="sng">
            <a:solidFill>
              <a:srgbClr val="1F1F1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163" name="Google Shape;163;p16"/>
          <p:cNvCxnSpPr/>
          <p:nvPr/>
        </p:nvCxnSpPr>
        <p:spPr>
          <a:xfrm>
            <a:off x="1097280" y="2532888"/>
            <a:ext cx="0" cy="155448"/>
          </a:xfrm>
          <a:prstGeom prst="straightConnector1">
            <a:avLst/>
          </a:prstGeom>
          <a:noFill/>
          <a:ln w="15875" cap="flat" cmpd="sng">
            <a:solidFill>
              <a:srgbClr val="1F1F1F"/>
            </a:solidFill>
            <a:prstDash val="solid"/>
            <a:miter lim="8000"/>
            <a:headEnd type="none" w="sm" len="sm"/>
            <a:tailEnd type="none" w="sm" len="sm"/>
          </a:ln>
        </p:spPr>
      </p:cxnSp>
      <p:cxnSp>
        <p:nvCxnSpPr>
          <p:cNvPr id="164" name="Google Shape;164;p16"/>
          <p:cNvCxnSpPr/>
          <p:nvPr/>
        </p:nvCxnSpPr>
        <p:spPr>
          <a:xfrm>
            <a:off x="978407" y="2596896"/>
            <a:ext cx="237745" cy="0"/>
          </a:xfrm>
          <a:prstGeom prst="straightConnector1">
            <a:avLst/>
          </a:prstGeom>
          <a:noFill/>
          <a:ln w="15875" cap="flat" cmpd="sng">
            <a:solidFill>
              <a:srgbClr val="1F1F1F"/>
            </a:solidFill>
            <a:prstDash val="solid"/>
            <a:miter lim="8000"/>
            <a:headEnd type="none" w="sm" len="sm"/>
            <a:tailEnd type="none" w="sm" len="sm"/>
          </a:ln>
        </p:spPr>
      </p:cxnSp>
      <p:cxnSp>
        <p:nvCxnSpPr>
          <p:cNvPr id="165" name="Google Shape;165;p16"/>
          <p:cNvCxnSpPr/>
          <p:nvPr/>
        </p:nvCxnSpPr>
        <p:spPr>
          <a:xfrm flipH="1">
            <a:off x="1005839" y="2688336"/>
            <a:ext cx="91441" cy="146303"/>
          </a:xfrm>
          <a:prstGeom prst="straightConnector1">
            <a:avLst/>
          </a:prstGeom>
          <a:noFill/>
          <a:ln w="15875" cap="flat" cmpd="sng">
            <a:solidFill>
              <a:srgbClr val="1F1F1F"/>
            </a:solidFill>
            <a:prstDash val="solid"/>
            <a:miter lim="8000"/>
            <a:headEnd type="none" w="sm" len="sm"/>
            <a:tailEnd type="none" w="sm" len="sm"/>
          </a:ln>
        </p:spPr>
      </p:cxnSp>
      <p:cxnSp>
        <p:nvCxnSpPr>
          <p:cNvPr id="166" name="Google Shape;166;p16"/>
          <p:cNvCxnSpPr/>
          <p:nvPr/>
        </p:nvCxnSpPr>
        <p:spPr>
          <a:xfrm>
            <a:off x="1097280" y="2688336"/>
            <a:ext cx="91440" cy="146303"/>
          </a:xfrm>
          <a:prstGeom prst="straightConnector1">
            <a:avLst/>
          </a:prstGeom>
          <a:noFill/>
          <a:ln w="15875" cap="flat" cmpd="sng">
            <a:solidFill>
              <a:srgbClr val="1F1F1F"/>
            </a:solidFill>
            <a:prstDash val="solid"/>
            <a:miter lim="8000"/>
            <a:headEnd type="none" w="sm" len="sm"/>
            <a:tailEnd type="none" w="sm" len="sm"/>
          </a:ln>
        </p:spPr>
      </p:cxnSp>
      <p:sp>
        <p:nvSpPr>
          <p:cNvPr id="167" name="Google Shape;167;p16"/>
          <p:cNvSpPr txBox="1"/>
          <p:nvPr/>
        </p:nvSpPr>
        <p:spPr>
          <a:xfrm>
            <a:off x="274319" y="2862072"/>
            <a:ext cx="1645920"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1F1F1F"/>
                </a:solidFill>
                <a:latin typeface="Arial" panose="020B0604020202020204" pitchFamily="34" charset="0"/>
                <a:ea typeface="Lato"/>
                <a:cs typeface="Arial" panose="020B0604020202020204" pitchFamily="34" charset="0"/>
                <a:sym typeface="Lato"/>
              </a:rPr>
              <a:t>Thành viên</a:t>
            </a:r>
            <a:endParaRPr>
              <a:latin typeface="Arial" panose="020B0604020202020204" pitchFamily="34" charset="0"/>
            </a:endParaRPr>
          </a:p>
        </p:txBody>
      </p:sp>
      <p:sp>
        <p:nvSpPr>
          <p:cNvPr id="168" name="Google Shape;168;p16"/>
          <p:cNvSpPr/>
          <p:nvPr/>
        </p:nvSpPr>
        <p:spPr>
          <a:xfrm>
            <a:off x="1019556" y="4069080"/>
            <a:ext cx="155448" cy="155448"/>
          </a:xfrm>
          <a:prstGeom prst="ellipse">
            <a:avLst/>
          </a:prstGeom>
          <a:solidFill>
            <a:srgbClr val="FFFFFF"/>
          </a:solidFill>
          <a:ln w="15875" cap="flat" cmpd="sng">
            <a:solidFill>
              <a:srgbClr val="1F1F1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169" name="Google Shape;169;p16"/>
          <p:cNvCxnSpPr/>
          <p:nvPr/>
        </p:nvCxnSpPr>
        <p:spPr>
          <a:xfrm>
            <a:off x="1097280" y="4224528"/>
            <a:ext cx="0" cy="155448"/>
          </a:xfrm>
          <a:prstGeom prst="straightConnector1">
            <a:avLst/>
          </a:prstGeom>
          <a:noFill/>
          <a:ln w="15875" cap="flat" cmpd="sng">
            <a:solidFill>
              <a:srgbClr val="1F1F1F"/>
            </a:solidFill>
            <a:prstDash val="solid"/>
            <a:miter lim="8000"/>
            <a:headEnd type="none" w="sm" len="sm"/>
            <a:tailEnd type="none" w="sm" len="sm"/>
          </a:ln>
        </p:spPr>
      </p:cxnSp>
      <p:cxnSp>
        <p:nvCxnSpPr>
          <p:cNvPr id="170" name="Google Shape;170;p16"/>
          <p:cNvCxnSpPr/>
          <p:nvPr/>
        </p:nvCxnSpPr>
        <p:spPr>
          <a:xfrm>
            <a:off x="978407" y="4288536"/>
            <a:ext cx="237745" cy="0"/>
          </a:xfrm>
          <a:prstGeom prst="straightConnector1">
            <a:avLst/>
          </a:prstGeom>
          <a:noFill/>
          <a:ln w="15875" cap="flat" cmpd="sng">
            <a:solidFill>
              <a:srgbClr val="1F1F1F"/>
            </a:solidFill>
            <a:prstDash val="solid"/>
            <a:miter lim="8000"/>
            <a:headEnd type="none" w="sm" len="sm"/>
            <a:tailEnd type="none" w="sm" len="sm"/>
          </a:ln>
        </p:spPr>
      </p:cxnSp>
      <p:cxnSp>
        <p:nvCxnSpPr>
          <p:cNvPr id="171" name="Google Shape;171;p16"/>
          <p:cNvCxnSpPr/>
          <p:nvPr/>
        </p:nvCxnSpPr>
        <p:spPr>
          <a:xfrm flipH="1">
            <a:off x="1005839" y="4379976"/>
            <a:ext cx="91441" cy="146304"/>
          </a:xfrm>
          <a:prstGeom prst="straightConnector1">
            <a:avLst/>
          </a:prstGeom>
          <a:noFill/>
          <a:ln w="15875" cap="flat" cmpd="sng">
            <a:solidFill>
              <a:srgbClr val="1F1F1F"/>
            </a:solidFill>
            <a:prstDash val="solid"/>
            <a:miter lim="8000"/>
            <a:headEnd type="none" w="sm" len="sm"/>
            <a:tailEnd type="none" w="sm" len="sm"/>
          </a:ln>
        </p:spPr>
      </p:cxnSp>
      <p:cxnSp>
        <p:nvCxnSpPr>
          <p:cNvPr id="172" name="Google Shape;172;p16"/>
          <p:cNvCxnSpPr/>
          <p:nvPr/>
        </p:nvCxnSpPr>
        <p:spPr>
          <a:xfrm>
            <a:off x="1097280" y="4379976"/>
            <a:ext cx="91440" cy="146304"/>
          </a:xfrm>
          <a:prstGeom prst="straightConnector1">
            <a:avLst/>
          </a:prstGeom>
          <a:noFill/>
          <a:ln w="15875" cap="flat" cmpd="sng">
            <a:solidFill>
              <a:srgbClr val="1F1F1F"/>
            </a:solidFill>
            <a:prstDash val="solid"/>
            <a:miter lim="8000"/>
            <a:headEnd type="none" w="sm" len="sm"/>
            <a:tailEnd type="none" w="sm" len="sm"/>
          </a:ln>
        </p:spPr>
      </p:cxnSp>
      <p:sp>
        <p:nvSpPr>
          <p:cNvPr id="173" name="Google Shape;173;p16"/>
          <p:cNvSpPr txBox="1"/>
          <p:nvPr/>
        </p:nvSpPr>
        <p:spPr>
          <a:xfrm>
            <a:off x="274319" y="4553712"/>
            <a:ext cx="1645920"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1F1F1F"/>
                </a:solidFill>
                <a:latin typeface="Arial" panose="020B0604020202020204" pitchFamily="34" charset="0"/>
                <a:ea typeface="Lato"/>
                <a:cs typeface="Arial" panose="020B0604020202020204" pitchFamily="34" charset="0"/>
                <a:sym typeface="Lato"/>
              </a:rPr>
              <a:t>Trưởng nhóm</a:t>
            </a:r>
            <a:endParaRPr>
              <a:latin typeface="Arial" panose="020B0604020202020204" pitchFamily="34" charset="0"/>
            </a:endParaRPr>
          </a:p>
        </p:txBody>
      </p:sp>
      <p:sp>
        <p:nvSpPr>
          <p:cNvPr id="174" name="Google Shape;174;p16"/>
          <p:cNvSpPr/>
          <p:nvPr/>
        </p:nvSpPr>
        <p:spPr>
          <a:xfrm>
            <a:off x="7877555" y="3392424"/>
            <a:ext cx="155448" cy="155448"/>
          </a:xfrm>
          <a:prstGeom prst="ellipse">
            <a:avLst/>
          </a:prstGeom>
          <a:solidFill>
            <a:srgbClr val="FFFFFF"/>
          </a:solidFill>
          <a:ln w="15875" cap="flat" cmpd="sng">
            <a:solidFill>
              <a:srgbClr val="1F1F1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175" name="Google Shape;175;p16"/>
          <p:cNvCxnSpPr/>
          <p:nvPr/>
        </p:nvCxnSpPr>
        <p:spPr>
          <a:xfrm>
            <a:off x="7955279" y="3547872"/>
            <a:ext cx="0" cy="155448"/>
          </a:xfrm>
          <a:prstGeom prst="straightConnector1">
            <a:avLst/>
          </a:prstGeom>
          <a:noFill/>
          <a:ln w="15875" cap="flat" cmpd="sng">
            <a:solidFill>
              <a:srgbClr val="1F1F1F"/>
            </a:solidFill>
            <a:prstDash val="solid"/>
            <a:miter lim="8000"/>
            <a:headEnd type="none" w="sm" len="sm"/>
            <a:tailEnd type="none" w="sm" len="sm"/>
          </a:ln>
        </p:spPr>
      </p:cxnSp>
      <p:cxnSp>
        <p:nvCxnSpPr>
          <p:cNvPr id="176" name="Google Shape;176;p16"/>
          <p:cNvCxnSpPr/>
          <p:nvPr/>
        </p:nvCxnSpPr>
        <p:spPr>
          <a:xfrm>
            <a:off x="7836407" y="3611879"/>
            <a:ext cx="237745" cy="0"/>
          </a:xfrm>
          <a:prstGeom prst="straightConnector1">
            <a:avLst/>
          </a:prstGeom>
          <a:noFill/>
          <a:ln w="15875" cap="flat" cmpd="sng">
            <a:solidFill>
              <a:srgbClr val="1F1F1F"/>
            </a:solidFill>
            <a:prstDash val="solid"/>
            <a:miter lim="8000"/>
            <a:headEnd type="none" w="sm" len="sm"/>
            <a:tailEnd type="none" w="sm" len="sm"/>
          </a:ln>
        </p:spPr>
      </p:cxnSp>
      <p:cxnSp>
        <p:nvCxnSpPr>
          <p:cNvPr id="177" name="Google Shape;177;p16"/>
          <p:cNvCxnSpPr/>
          <p:nvPr/>
        </p:nvCxnSpPr>
        <p:spPr>
          <a:xfrm flipH="1">
            <a:off x="7863840" y="3703320"/>
            <a:ext cx="91439" cy="146304"/>
          </a:xfrm>
          <a:prstGeom prst="straightConnector1">
            <a:avLst/>
          </a:prstGeom>
          <a:noFill/>
          <a:ln w="15875" cap="flat" cmpd="sng">
            <a:solidFill>
              <a:srgbClr val="1F1F1F"/>
            </a:solidFill>
            <a:prstDash val="solid"/>
            <a:miter lim="8000"/>
            <a:headEnd type="none" w="sm" len="sm"/>
            <a:tailEnd type="none" w="sm" len="sm"/>
          </a:ln>
        </p:spPr>
      </p:cxnSp>
      <p:cxnSp>
        <p:nvCxnSpPr>
          <p:cNvPr id="178" name="Google Shape;178;p16"/>
          <p:cNvCxnSpPr/>
          <p:nvPr/>
        </p:nvCxnSpPr>
        <p:spPr>
          <a:xfrm>
            <a:off x="7955279" y="3703320"/>
            <a:ext cx="91440" cy="146304"/>
          </a:xfrm>
          <a:prstGeom prst="straightConnector1">
            <a:avLst/>
          </a:prstGeom>
          <a:noFill/>
          <a:ln w="15875" cap="flat" cmpd="sng">
            <a:solidFill>
              <a:srgbClr val="1F1F1F"/>
            </a:solidFill>
            <a:prstDash val="solid"/>
            <a:miter lim="8000"/>
            <a:headEnd type="none" w="sm" len="sm"/>
            <a:tailEnd type="none" w="sm" len="sm"/>
          </a:ln>
        </p:spPr>
      </p:cxnSp>
      <p:sp>
        <p:nvSpPr>
          <p:cNvPr id="179" name="Google Shape;179;p16"/>
          <p:cNvSpPr txBox="1"/>
          <p:nvPr/>
        </p:nvSpPr>
        <p:spPr>
          <a:xfrm>
            <a:off x="7132319" y="3877056"/>
            <a:ext cx="1645920"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1F1F1F"/>
                </a:solidFill>
                <a:latin typeface="Arial" panose="020B0604020202020204" pitchFamily="34" charset="0"/>
                <a:ea typeface="Lato"/>
                <a:cs typeface="Arial" panose="020B0604020202020204" pitchFamily="34" charset="0"/>
                <a:sym typeface="Lato"/>
              </a:rPr>
              <a:t>System</a:t>
            </a:r>
            <a:endParaRPr>
              <a:latin typeface="Arial" panose="020B0604020202020204" pitchFamily="34" charset="0"/>
            </a:endParaRPr>
          </a:p>
        </p:txBody>
      </p:sp>
      <p:sp>
        <p:nvSpPr>
          <p:cNvPr id="180" name="Google Shape;180;p16"/>
          <p:cNvSpPr/>
          <p:nvPr/>
        </p:nvSpPr>
        <p:spPr>
          <a:xfrm>
            <a:off x="7877555" y="5084064"/>
            <a:ext cx="155448" cy="155448"/>
          </a:xfrm>
          <a:prstGeom prst="ellipse">
            <a:avLst/>
          </a:prstGeom>
          <a:solidFill>
            <a:srgbClr val="FFFFFF"/>
          </a:solidFill>
          <a:ln w="15875" cap="flat" cmpd="sng">
            <a:solidFill>
              <a:srgbClr val="1F1F1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181" name="Google Shape;181;p16"/>
          <p:cNvCxnSpPr/>
          <p:nvPr/>
        </p:nvCxnSpPr>
        <p:spPr>
          <a:xfrm>
            <a:off x="7955279" y="5239512"/>
            <a:ext cx="0" cy="155447"/>
          </a:xfrm>
          <a:prstGeom prst="straightConnector1">
            <a:avLst/>
          </a:prstGeom>
          <a:noFill/>
          <a:ln w="15875" cap="flat" cmpd="sng">
            <a:solidFill>
              <a:srgbClr val="1F1F1F"/>
            </a:solidFill>
            <a:prstDash val="solid"/>
            <a:miter lim="8000"/>
            <a:headEnd type="none" w="sm" len="sm"/>
            <a:tailEnd type="none" w="sm" len="sm"/>
          </a:ln>
        </p:spPr>
      </p:cxnSp>
      <p:cxnSp>
        <p:nvCxnSpPr>
          <p:cNvPr id="182" name="Google Shape;182;p16"/>
          <p:cNvCxnSpPr/>
          <p:nvPr/>
        </p:nvCxnSpPr>
        <p:spPr>
          <a:xfrm>
            <a:off x="7836407" y="5303520"/>
            <a:ext cx="237745" cy="0"/>
          </a:xfrm>
          <a:prstGeom prst="straightConnector1">
            <a:avLst/>
          </a:prstGeom>
          <a:noFill/>
          <a:ln w="15875" cap="flat" cmpd="sng">
            <a:solidFill>
              <a:srgbClr val="1F1F1F"/>
            </a:solidFill>
            <a:prstDash val="solid"/>
            <a:miter lim="8000"/>
            <a:headEnd type="none" w="sm" len="sm"/>
            <a:tailEnd type="none" w="sm" len="sm"/>
          </a:ln>
        </p:spPr>
      </p:cxnSp>
      <p:cxnSp>
        <p:nvCxnSpPr>
          <p:cNvPr id="183" name="Google Shape;183;p16"/>
          <p:cNvCxnSpPr/>
          <p:nvPr/>
        </p:nvCxnSpPr>
        <p:spPr>
          <a:xfrm flipH="1">
            <a:off x="7863840" y="5394959"/>
            <a:ext cx="91439" cy="146305"/>
          </a:xfrm>
          <a:prstGeom prst="straightConnector1">
            <a:avLst/>
          </a:prstGeom>
          <a:noFill/>
          <a:ln w="15875" cap="flat" cmpd="sng">
            <a:solidFill>
              <a:srgbClr val="1F1F1F"/>
            </a:solidFill>
            <a:prstDash val="solid"/>
            <a:miter lim="8000"/>
            <a:headEnd type="none" w="sm" len="sm"/>
            <a:tailEnd type="none" w="sm" len="sm"/>
          </a:ln>
        </p:spPr>
      </p:cxnSp>
      <p:cxnSp>
        <p:nvCxnSpPr>
          <p:cNvPr id="184" name="Google Shape;184;p16"/>
          <p:cNvCxnSpPr/>
          <p:nvPr/>
        </p:nvCxnSpPr>
        <p:spPr>
          <a:xfrm>
            <a:off x="7955279" y="5394959"/>
            <a:ext cx="91440" cy="146305"/>
          </a:xfrm>
          <a:prstGeom prst="straightConnector1">
            <a:avLst/>
          </a:prstGeom>
          <a:noFill/>
          <a:ln w="15875" cap="flat" cmpd="sng">
            <a:solidFill>
              <a:srgbClr val="1F1F1F"/>
            </a:solidFill>
            <a:prstDash val="solid"/>
            <a:miter lim="8000"/>
            <a:headEnd type="none" w="sm" len="sm"/>
            <a:tailEnd type="none" w="sm" len="sm"/>
          </a:ln>
        </p:spPr>
      </p:cxnSp>
      <p:sp>
        <p:nvSpPr>
          <p:cNvPr id="185" name="Google Shape;185;p16"/>
          <p:cNvSpPr txBox="1"/>
          <p:nvPr/>
        </p:nvSpPr>
        <p:spPr>
          <a:xfrm>
            <a:off x="7132319" y="5568696"/>
            <a:ext cx="1645920"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1F1F1F"/>
                </a:solidFill>
                <a:latin typeface="Arial" panose="020B0604020202020204" pitchFamily="34" charset="0"/>
                <a:ea typeface="Lato"/>
                <a:cs typeface="Arial" panose="020B0604020202020204" pitchFamily="34" charset="0"/>
                <a:sym typeface="Lato"/>
              </a:rPr>
              <a:t>Quản trị viên</a:t>
            </a:r>
            <a:endParaRPr>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7"/>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7</a:t>
            </a:fld>
            <a:endParaRPr/>
          </a:p>
        </p:txBody>
      </p:sp>
      <p:sp>
        <p:nvSpPr>
          <p:cNvPr id="191" name="Google Shape;191;p17"/>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sz="2800" b="1">
                <a:solidFill>
                  <a:schemeClr val="lt1"/>
                </a:solidFill>
                <a:sym typeface="Lato"/>
              </a:rPr>
              <a:t>Yêu cầu chức năng (1/2)</a:t>
            </a:r>
            <a:endParaRPr/>
          </a:p>
        </p:txBody>
      </p:sp>
      <p:graphicFrame>
        <p:nvGraphicFramePr>
          <p:cNvPr id="192" name="Google Shape;192;p17"/>
          <p:cNvGraphicFramePr/>
          <p:nvPr/>
        </p:nvGraphicFramePr>
        <p:xfrm>
          <a:off x="411480" y="1005840"/>
          <a:ext cx="8321025" cy="4498800"/>
        </p:xfrm>
        <a:graphic>
          <a:graphicData uri="http://schemas.openxmlformats.org/drawingml/2006/table">
            <a:tbl>
              <a:tblPr firstRow="1">
                <a:noFill/>
                <a:tableStyleId>{2C0393F9-CDA0-4E3F-9450-044A11AE9FAB}</a:tableStyleId>
              </a:tblPr>
              <a:tblGrid>
                <a:gridCol w="2011675">
                  <a:extLst>
                    <a:ext uri="{9D8B030D-6E8A-4147-A177-3AD203B41FA5}">
                      <a16:colId xmlns:a16="http://schemas.microsoft.com/office/drawing/2014/main" val="20000"/>
                    </a:ext>
                  </a:extLst>
                </a:gridCol>
                <a:gridCol w="6309350">
                  <a:extLst>
                    <a:ext uri="{9D8B030D-6E8A-4147-A177-3AD203B41FA5}">
                      <a16:colId xmlns:a16="http://schemas.microsoft.com/office/drawing/2014/main" val="20001"/>
                    </a:ext>
                  </a:extLst>
                </a:gridCol>
              </a:tblGrid>
              <a:tr h="384050">
                <a:tc>
                  <a:txBody>
                    <a:bodyPr/>
                    <a:lstStyle/>
                    <a:p>
                      <a:pPr marL="0" marR="0" lvl="0" indent="0" algn="l" rtl="0">
                        <a:spcBef>
                          <a:spcPts val="0"/>
                        </a:spcBef>
                        <a:spcAft>
                          <a:spcPts val="0"/>
                        </a:spcAft>
                        <a:buNone/>
                      </a:pPr>
                      <a:r>
                        <a:rPr lang="en-US" sz="1300" b="1" i="0" u="none" strike="noStrike" cap="none">
                          <a:solidFill>
                            <a:srgbClr val="FFFFFF"/>
                          </a:solidFill>
                          <a:latin typeface="Arial" panose="020B0604020202020204" pitchFamily="34" charset="0"/>
                          <a:ea typeface="Lato"/>
                          <a:cs typeface="Arial" panose="020B0604020202020204" pitchFamily="34" charset="0"/>
                          <a:sym typeface="Lato"/>
                        </a:rPr>
                        <a:t>Phân hệ</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C00000"/>
                    </a:solidFill>
                  </a:tcPr>
                </a:tc>
                <a:tc>
                  <a:txBody>
                    <a:bodyPr/>
                    <a:lstStyle/>
                    <a:p>
                      <a:pPr marL="0" marR="0" lvl="0" indent="0" algn="l" rtl="0">
                        <a:spcBef>
                          <a:spcPts val="0"/>
                        </a:spcBef>
                        <a:spcAft>
                          <a:spcPts val="0"/>
                        </a:spcAft>
                        <a:buNone/>
                      </a:pPr>
                      <a:r>
                        <a:rPr lang="en-US" sz="1300" b="1" i="0" u="none" strike="noStrike" cap="none">
                          <a:solidFill>
                            <a:srgbClr val="FFFFFF"/>
                          </a:solidFill>
                          <a:latin typeface="Arial" panose="020B0604020202020204" pitchFamily="34" charset="0"/>
                          <a:ea typeface="Lato"/>
                          <a:cs typeface="Arial" panose="020B0604020202020204" pitchFamily="34" charset="0"/>
                          <a:sym typeface="Lato"/>
                        </a:rPr>
                        <a:t>Yêu cầu chức năng</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C00000"/>
                    </a:solidFill>
                  </a:tcPr>
                </a:tc>
                <a:extLst>
                  <a:ext uri="{0D108BD9-81ED-4DB2-BD59-A6C34878D82A}">
                    <a16:rowId xmlns:a16="http://schemas.microsoft.com/office/drawing/2014/main" val="10000"/>
                  </a:ext>
                </a:extLst>
              </a:tr>
              <a:tr h="822950">
                <a:tc>
                  <a:txBody>
                    <a:bodyPr/>
                    <a:lstStyle/>
                    <a:p>
                      <a:pPr marL="0" marR="0" lvl="0" indent="0" algn="l" rtl="0">
                        <a:spcBef>
                          <a:spcPts val="0"/>
                        </a:spcBef>
                        <a:spcAft>
                          <a:spcPts val="0"/>
                        </a:spcAft>
                        <a:buNone/>
                      </a:pPr>
                      <a:r>
                        <a:rPr lang="en-US" sz="1300" b="1" i="0" u="none" strike="noStrike" cap="none">
                          <a:solidFill>
                            <a:srgbClr val="1F1F1F"/>
                          </a:solidFill>
                          <a:latin typeface="Arial" panose="020B0604020202020204" pitchFamily="34" charset="0"/>
                          <a:ea typeface="Lato"/>
                          <a:cs typeface="Arial" panose="020B0604020202020204" pitchFamily="34" charset="0"/>
                          <a:sym typeface="Lato"/>
                        </a:rPr>
                        <a:t>Tài khoản</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Đăng ký bằng email và xác minh qua mã gửi tới email; đăng nhập, đăng xuất; cập nhật hồ sơ cá nhân; đổi mật khẩu</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822950">
                <a:tc>
                  <a:txBody>
                    <a:bodyPr/>
                    <a:lstStyle/>
                    <a:p>
                      <a:pPr marL="0" marR="0" lvl="0" indent="0" algn="l" rtl="0">
                        <a:spcBef>
                          <a:spcPts val="0"/>
                        </a:spcBef>
                        <a:spcAft>
                          <a:spcPts val="0"/>
                        </a:spcAft>
                        <a:buNone/>
                      </a:pPr>
                      <a:r>
                        <a:rPr lang="en-US" sz="1300" b="1" i="0" u="none" strike="noStrike" cap="none">
                          <a:solidFill>
                            <a:srgbClr val="1F1F1F"/>
                          </a:solidFill>
                          <a:latin typeface="Arial" panose="020B0604020202020204" pitchFamily="34" charset="0"/>
                          <a:ea typeface="Lato"/>
                          <a:cs typeface="Arial" panose="020B0604020202020204" pitchFamily="34" charset="0"/>
                          <a:sym typeface="Lato"/>
                        </a:rPr>
                        <a:t>Nhóm gia đình</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Tạo nhóm gia đình, người tạo giữ vai trò trưởng nhóm; thêm, xóa thành viên; xem danh sách thành viên</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822950">
                <a:tc>
                  <a:txBody>
                    <a:bodyPr/>
                    <a:lstStyle/>
                    <a:p>
                      <a:pPr marL="0" marR="0" lvl="0" indent="0" algn="l" rtl="0">
                        <a:spcBef>
                          <a:spcPts val="0"/>
                        </a:spcBef>
                        <a:spcAft>
                          <a:spcPts val="0"/>
                        </a:spcAft>
                        <a:buNone/>
                      </a:pPr>
                      <a:r>
                        <a:rPr lang="en-US" sz="1300" b="1" i="0" u="none" strike="noStrike" cap="none">
                          <a:solidFill>
                            <a:srgbClr val="1F1F1F"/>
                          </a:solidFill>
                          <a:latin typeface="Arial" panose="020B0604020202020204" pitchFamily="34" charset="0"/>
                          <a:ea typeface="Lato"/>
                          <a:cs typeface="Arial" panose="020B0604020202020204" pitchFamily="34" charset="0"/>
                          <a:sym typeface="Lato"/>
                        </a:rPr>
                        <a:t>Mua sắm</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Lập danh sách mua sắm theo ngày; phân công danh sách cho thành viên; thêm, sửa, xóa mặt hàng cần mua; ghi nhận mặt hàng đã mua</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822950">
                <a:tc>
                  <a:txBody>
                    <a:bodyPr/>
                    <a:lstStyle/>
                    <a:p>
                      <a:pPr marL="0" marR="0" lvl="0" indent="0" algn="l" rtl="0">
                        <a:spcBef>
                          <a:spcPts val="0"/>
                        </a:spcBef>
                        <a:spcAft>
                          <a:spcPts val="0"/>
                        </a:spcAft>
                        <a:buNone/>
                      </a:pPr>
                      <a:r>
                        <a:rPr lang="en-US" sz="1300" b="1" i="0" u="none" strike="noStrike" cap="none">
                          <a:solidFill>
                            <a:srgbClr val="1F1F1F"/>
                          </a:solidFill>
                          <a:latin typeface="Arial" panose="020B0604020202020204" pitchFamily="34" charset="0"/>
                          <a:ea typeface="Lato"/>
                          <a:cs typeface="Arial" panose="020B0604020202020204" pitchFamily="34" charset="0"/>
                          <a:sym typeface="Lato"/>
                        </a:rPr>
                        <a:t>Tủ lạnh</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Lưu thông tin thực phẩm đã mua gồm tên, số lượng, hạn sử dụng và vị trí lưu trữ; thông báo khi thực phẩm còn 3 ngày trước hạn sử dụng</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822950">
                <a:tc>
                  <a:txBody>
                    <a:bodyPr/>
                    <a:lstStyle/>
                    <a:p>
                      <a:pPr marL="0" marR="0" lvl="0" indent="0" algn="l" rtl="0">
                        <a:spcBef>
                          <a:spcPts val="0"/>
                        </a:spcBef>
                        <a:spcAft>
                          <a:spcPts val="0"/>
                        </a:spcAft>
                        <a:buNone/>
                      </a:pPr>
                      <a:r>
                        <a:rPr lang="en-US" sz="1300" b="1" i="0" u="none" strike="noStrike" cap="none">
                          <a:solidFill>
                            <a:srgbClr val="1F1F1F"/>
                          </a:solidFill>
                          <a:latin typeface="Arial" panose="020B0604020202020204" pitchFamily="34" charset="0"/>
                          <a:ea typeface="Lato"/>
                          <a:cs typeface="Arial" panose="020B0604020202020204" pitchFamily="34" charset="0"/>
                          <a:sym typeface="Lato"/>
                        </a:rPr>
                        <a:t>Kế hoạch bữa ăn</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Lập lịch món ăn cho các bữa sáng, trưa, tối theo ngày hoặc theo tuần; đề xuất món ăn dựa trên thực phẩm hiện có</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bl>
          </a:graphicData>
        </a:graphic>
      </p:graphicFrame>
      <p:sp>
        <p:nvSpPr>
          <p:cNvPr id="193" name="Google Shape;193;p17"/>
          <p:cNvSpPr txBox="1"/>
          <p:nvPr/>
        </p:nvSpPr>
        <p:spPr>
          <a:xfrm>
            <a:off x="411480" y="5623560"/>
            <a:ext cx="832104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0" i="0" u="none" strike="noStrike" cap="none">
                <a:solidFill>
                  <a:srgbClr val="595959"/>
                </a:solidFill>
                <a:latin typeface="Arial" panose="020B0604020202020204" pitchFamily="34" charset="0"/>
                <a:ea typeface="Lato"/>
                <a:cs typeface="Arial" panose="020B0604020202020204" pitchFamily="34" charset="0"/>
                <a:sym typeface="Lato"/>
              </a:rPr>
              <a:t>Hai phân hệ nền tảng: tài khoản và nhóm gia đình. Bảy phân hệ còn lại là phân hệ nghiệp vụ theo đề bài.</a:t>
            </a:r>
            <a:endParaRPr>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8"/>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8</a:t>
            </a:fld>
            <a:endParaRPr/>
          </a:p>
        </p:txBody>
      </p:sp>
      <p:sp>
        <p:nvSpPr>
          <p:cNvPr id="199" name="Google Shape;199;p18"/>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sz="2800" b="1">
                <a:solidFill>
                  <a:schemeClr val="lt1"/>
                </a:solidFill>
                <a:sym typeface="Lato"/>
              </a:rPr>
              <a:t>Yêu cầu chức năng (2/2)</a:t>
            </a:r>
            <a:endParaRPr/>
          </a:p>
        </p:txBody>
      </p:sp>
      <p:graphicFrame>
        <p:nvGraphicFramePr>
          <p:cNvPr id="200" name="Google Shape;200;p18"/>
          <p:cNvGraphicFramePr/>
          <p:nvPr/>
        </p:nvGraphicFramePr>
        <p:xfrm>
          <a:off x="411480" y="1005840"/>
          <a:ext cx="8321025" cy="4407450"/>
        </p:xfrm>
        <a:graphic>
          <a:graphicData uri="http://schemas.openxmlformats.org/drawingml/2006/table">
            <a:tbl>
              <a:tblPr firstRow="1">
                <a:noFill/>
                <a:tableStyleId>{2C0393F9-CDA0-4E3F-9450-044A11AE9FAB}</a:tableStyleId>
              </a:tblPr>
              <a:tblGrid>
                <a:gridCol w="2011675">
                  <a:extLst>
                    <a:ext uri="{9D8B030D-6E8A-4147-A177-3AD203B41FA5}">
                      <a16:colId xmlns:a16="http://schemas.microsoft.com/office/drawing/2014/main" val="20000"/>
                    </a:ext>
                  </a:extLst>
                </a:gridCol>
                <a:gridCol w="6309350">
                  <a:extLst>
                    <a:ext uri="{9D8B030D-6E8A-4147-A177-3AD203B41FA5}">
                      <a16:colId xmlns:a16="http://schemas.microsoft.com/office/drawing/2014/main" val="20001"/>
                    </a:ext>
                  </a:extLst>
                </a:gridCol>
              </a:tblGrid>
              <a:tr h="384050">
                <a:tc>
                  <a:txBody>
                    <a:bodyPr/>
                    <a:lstStyle/>
                    <a:p>
                      <a:pPr marL="0" marR="0" lvl="0" indent="0" algn="l" rtl="0">
                        <a:spcBef>
                          <a:spcPts val="0"/>
                        </a:spcBef>
                        <a:spcAft>
                          <a:spcPts val="0"/>
                        </a:spcAft>
                        <a:buNone/>
                      </a:pPr>
                      <a:r>
                        <a:rPr lang="en-US" sz="1300" b="1" i="0" u="none" strike="noStrike" cap="none">
                          <a:solidFill>
                            <a:srgbClr val="FFFFFF"/>
                          </a:solidFill>
                          <a:latin typeface="Arial" panose="020B0604020202020204" pitchFamily="34" charset="0"/>
                          <a:ea typeface="Lato"/>
                          <a:cs typeface="Arial" panose="020B0604020202020204" pitchFamily="34" charset="0"/>
                          <a:sym typeface="Lato"/>
                        </a:rPr>
                        <a:t>Phân hệ</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C00000"/>
                    </a:solidFill>
                  </a:tcPr>
                </a:tc>
                <a:tc>
                  <a:txBody>
                    <a:bodyPr/>
                    <a:lstStyle/>
                    <a:p>
                      <a:pPr marL="0" marR="0" lvl="0" indent="0" algn="l" rtl="0">
                        <a:spcBef>
                          <a:spcPts val="0"/>
                        </a:spcBef>
                        <a:spcAft>
                          <a:spcPts val="0"/>
                        </a:spcAft>
                        <a:buNone/>
                      </a:pPr>
                      <a:r>
                        <a:rPr lang="en-US" sz="1300" b="1" i="0" u="none" strike="noStrike" cap="none">
                          <a:solidFill>
                            <a:srgbClr val="FFFFFF"/>
                          </a:solidFill>
                          <a:latin typeface="Arial" panose="020B0604020202020204" pitchFamily="34" charset="0"/>
                          <a:ea typeface="Lato"/>
                          <a:cs typeface="Arial" panose="020B0604020202020204" pitchFamily="34" charset="0"/>
                          <a:sym typeface="Lato"/>
                        </a:rPr>
                        <a:t>Yêu cầu chức năng</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C00000"/>
                    </a:solidFill>
                  </a:tcPr>
                </a:tc>
                <a:extLst>
                  <a:ext uri="{0D108BD9-81ED-4DB2-BD59-A6C34878D82A}">
                    <a16:rowId xmlns:a16="http://schemas.microsoft.com/office/drawing/2014/main" val="10000"/>
                  </a:ext>
                </a:extLst>
              </a:tr>
              <a:tr h="1005850">
                <a:tc>
                  <a:txBody>
                    <a:bodyPr/>
                    <a:lstStyle/>
                    <a:p>
                      <a:pPr marL="0" marR="0" lvl="0" indent="0" algn="l" rtl="0">
                        <a:spcBef>
                          <a:spcPts val="0"/>
                        </a:spcBef>
                        <a:spcAft>
                          <a:spcPts val="0"/>
                        </a:spcAft>
                        <a:buNone/>
                      </a:pPr>
                      <a:r>
                        <a:rPr lang="en-US" sz="1300" b="1" i="0" u="none" strike="noStrike" cap="none">
                          <a:solidFill>
                            <a:srgbClr val="1F1F1F"/>
                          </a:solidFill>
                          <a:latin typeface="Arial" panose="020B0604020202020204" pitchFamily="34" charset="0"/>
                          <a:ea typeface="Lato"/>
                          <a:cs typeface="Arial" panose="020B0604020202020204" pitchFamily="34" charset="0"/>
                          <a:sym typeface="Lato"/>
                        </a:rPr>
                        <a:t>Công thức nấu ăn</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Thêm, sửa, xóa công thức; liên kết công thức với nguyên liệu hiện có trong tủ lạnh</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005850">
                <a:tc>
                  <a:txBody>
                    <a:bodyPr/>
                    <a:lstStyle/>
                    <a:p>
                      <a:pPr marL="0" marR="0" lvl="0" indent="0" algn="l" rtl="0">
                        <a:spcBef>
                          <a:spcPts val="0"/>
                        </a:spcBef>
                        <a:spcAft>
                          <a:spcPts val="0"/>
                        </a:spcAft>
                        <a:buNone/>
                      </a:pPr>
                      <a:r>
                        <a:rPr lang="en-US" sz="1300" b="1" i="0" u="none" strike="noStrike" cap="none">
                          <a:solidFill>
                            <a:srgbClr val="1F1F1F"/>
                          </a:solidFill>
                          <a:latin typeface="Arial" panose="020B0604020202020204" pitchFamily="34" charset="0"/>
                          <a:ea typeface="Lato"/>
                          <a:cs typeface="Arial" panose="020B0604020202020204" pitchFamily="34" charset="0"/>
                          <a:sym typeface="Lato"/>
                        </a:rPr>
                        <a:t>Thực phẩm</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Quản lý danh sách thực phẩm của nhóm; tìm kiếm thực phẩm và món ăn; phân loại theo danh mục</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005850">
                <a:tc>
                  <a:txBody>
                    <a:bodyPr/>
                    <a:lstStyle/>
                    <a:p>
                      <a:pPr marL="0" marR="0" lvl="0" indent="0" algn="l" rtl="0">
                        <a:spcBef>
                          <a:spcPts val="0"/>
                        </a:spcBef>
                        <a:spcAft>
                          <a:spcPts val="0"/>
                        </a:spcAft>
                        <a:buNone/>
                      </a:pPr>
                      <a:r>
                        <a:rPr lang="en-US" sz="1300" b="1" i="0" u="none" strike="noStrike" cap="none">
                          <a:solidFill>
                            <a:srgbClr val="1F1F1F"/>
                          </a:solidFill>
                          <a:latin typeface="Arial" panose="020B0604020202020204" pitchFamily="34" charset="0"/>
                          <a:ea typeface="Lato"/>
                          <a:cs typeface="Arial" panose="020B0604020202020204" pitchFamily="34" charset="0"/>
                          <a:sym typeface="Lato"/>
                        </a:rPr>
                        <a:t>Thống kê, báo cáo</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Thống kê mặt hàng đã mua và thực phẩm đã tiêu thụ theo khoảng thời gian</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005850">
                <a:tc>
                  <a:txBody>
                    <a:bodyPr/>
                    <a:lstStyle/>
                    <a:p>
                      <a:pPr marL="0" marR="0" lvl="0" indent="0" algn="l" rtl="0">
                        <a:spcBef>
                          <a:spcPts val="0"/>
                        </a:spcBef>
                        <a:spcAft>
                          <a:spcPts val="0"/>
                        </a:spcAft>
                        <a:buNone/>
                      </a:pPr>
                      <a:r>
                        <a:rPr lang="en-US" sz="1300" b="1" i="0" u="none" strike="noStrike" cap="none">
                          <a:solidFill>
                            <a:srgbClr val="1F1F1F"/>
                          </a:solidFill>
                          <a:latin typeface="Arial" panose="020B0604020202020204" pitchFamily="34" charset="0"/>
                          <a:ea typeface="Lato"/>
                          <a:cs typeface="Arial" panose="020B0604020202020204" pitchFamily="34" charset="0"/>
                          <a:sym typeface="Lato"/>
                        </a:rPr>
                        <a:t>Quản trị hệ thống</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Quản lý tài khoản người dùng; quản lý danh mục thực phẩm và đơn vị đo; xem nhật ký hệ thống</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9"/>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9</a:t>
            </a:fld>
            <a:endParaRPr/>
          </a:p>
        </p:txBody>
      </p:sp>
      <p:sp>
        <p:nvSpPr>
          <p:cNvPr id="206" name="Google Shape;206;p19"/>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sz="2800" b="1">
                <a:solidFill>
                  <a:schemeClr val="lt1"/>
                </a:solidFill>
                <a:sym typeface="Lato"/>
              </a:rPr>
              <a:t>Phân quyền theo vai trò</a:t>
            </a:r>
            <a:endParaRPr/>
          </a:p>
        </p:txBody>
      </p:sp>
      <p:graphicFrame>
        <p:nvGraphicFramePr>
          <p:cNvPr id="207" name="Google Shape;207;p19"/>
          <p:cNvGraphicFramePr/>
          <p:nvPr/>
        </p:nvGraphicFramePr>
        <p:xfrm>
          <a:off x="411480" y="960120"/>
          <a:ext cx="8321050" cy="4306925"/>
        </p:xfrm>
        <a:graphic>
          <a:graphicData uri="http://schemas.openxmlformats.org/drawingml/2006/table">
            <a:tbl>
              <a:tblPr firstRow="1">
                <a:noFill/>
                <a:tableStyleId>{2C0393F9-CDA0-4E3F-9450-044A11AE9FAB}</a:tableStyleId>
              </a:tblPr>
              <a:tblGrid>
                <a:gridCol w="420625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502925">
                <a:tc>
                  <a:txBody>
                    <a:bodyPr/>
                    <a:lstStyle/>
                    <a:p>
                      <a:pPr marL="0" marR="0" lvl="0" indent="0" algn="l" rtl="0">
                        <a:spcBef>
                          <a:spcPts val="0"/>
                        </a:spcBef>
                        <a:spcAft>
                          <a:spcPts val="0"/>
                        </a:spcAft>
                        <a:buNone/>
                      </a:pPr>
                      <a:r>
                        <a:rPr lang="en-US" sz="1300" b="1" i="0" u="none" strike="noStrike" cap="none">
                          <a:solidFill>
                            <a:srgbClr val="FFFFFF"/>
                          </a:solidFill>
                          <a:latin typeface="Arial" panose="020B0604020202020204" pitchFamily="34" charset="0"/>
                          <a:ea typeface="Lato"/>
                          <a:cs typeface="Arial" panose="020B0604020202020204" pitchFamily="34" charset="0"/>
                          <a:sym typeface="Lato"/>
                        </a:rPr>
                        <a:t>Chức năng</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C00000"/>
                    </a:solidFill>
                  </a:tcPr>
                </a:tc>
                <a:tc>
                  <a:txBody>
                    <a:bodyPr/>
                    <a:lstStyle/>
                    <a:p>
                      <a:pPr marL="0" marR="0" lvl="0" indent="0" algn="ctr" rtl="0">
                        <a:spcBef>
                          <a:spcPts val="0"/>
                        </a:spcBef>
                        <a:spcAft>
                          <a:spcPts val="0"/>
                        </a:spcAft>
                        <a:buNone/>
                      </a:pPr>
                      <a:r>
                        <a:rPr lang="en-US" sz="1300" b="1" i="0" u="none" strike="noStrike" cap="none">
                          <a:solidFill>
                            <a:srgbClr val="FFFFFF"/>
                          </a:solidFill>
                          <a:latin typeface="Arial" panose="020B0604020202020204" pitchFamily="34" charset="0"/>
                          <a:ea typeface="Lato"/>
                          <a:cs typeface="Arial" panose="020B0604020202020204" pitchFamily="34" charset="0"/>
                          <a:sym typeface="Lato"/>
                        </a:rPr>
                        <a:t>Thành viên</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C00000"/>
                    </a:solidFill>
                  </a:tcPr>
                </a:tc>
                <a:tc>
                  <a:txBody>
                    <a:bodyPr/>
                    <a:lstStyle/>
                    <a:p>
                      <a:pPr marL="0" marR="0" lvl="0" indent="0" algn="ctr" rtl="0">
                        <a:spcBef>
                          <a:spcPts val="0"/>
                        </a:spcBef>
                        <a:spcAft>
                          <a:spcPts val="0"/>
                        </a:spcAft>
                        <a:buNone/>
                      </a:pPr>
                      <a:r>
                        <a:rPr lang="en-US" sz="1300" b="1" i="0" u="none" strike="noStrike" cap="none">
                          <a:solidFill>
                            <a:srgbClr val="FFFFFF"/>
                          </a:solidFill>
                          <a:latin typeface="Arial" panose="020B0604020202020204" pitchFamily="34" charset="0"/>
                          <a:ea typeface="Lato"/>
                          <a:cs typeface="Arial" panose="020B0604020202020204" pitchFamily="34" charset="0"/>
                          <a:sym typeface="Lato"/>
                        </a:rPr>
                        <a:t>Trưởng nhóm</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C00000"/>
                    </a:solidFill>
                  </a:tcPr>
                </a:tc>
                <a:tc>
                  <a:txBody>
                    <a:bodyPr/>
                    <a:lstStyle/>
                    <a:p>
                      <a:pPr marL="0" marR="0" lvl="0" indent="0" algn="ctr" rtl="0">
                        <a:spcBef>
                          <a:spcPts val="0"/>
                        </a:spcBef>
                        <a:spcAft>
                          <a:spcPts val="0"/>
                        </a:spcAft>
                        <a:buNone/>
                      </a:pPr>
                      <a:r>
                        <a:rPr lang="en-US" sz="1300" b="1" i="0" u="none" strike="noStrike" cap="none">
                          <a:solidFill>
                            <a:srgbClr val="FFFFFF"/>
                          </a:solidFill>
                          <a:latin typeface="Arial" panose="020B0604020202020204" pitchFamily="34" charset="0"/>
                          <a:ea typeface="Lato"/>
                          <a:cs typeface="Arial" panose="020B0604020202020204" pitchFamily="34" charset="0"/>
                          <a:sym typeface="Lato"/>
                        </a:rPr>
                        <a:t>Quản trị viên</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C00000"/>
                    </a:solidFill>
                  </a:tcPr>
                </a:tc>
                <a:extLst>
                  <a:ext uri="{0D108BD9-81ED-4DB2-BD59-A6C34878D82A}">
                    <a16:rowId xmlns:a16="http://schemas.microsoft.com/office/drawing/2014/main" val="10000"/>
                  </a:ext>
                </a:extLst>
              </a:tr>
              <a:tr h="475500">
                <a:tc>
                  <a:txBody>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Cập nhật hồ sơ cá nhân</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300" b="1" i="0" u="none" strike="noStrike" cap="none">
                          <a:solidFill>
                            <a:srgbClr val="C00000"/>
                          </a:solidFill>
                          <a:latin typeface="Arial" panose="020B0604020202020204" pitchFamily="34" charset="0"/>
                          <a:ea typeface="Lato"/>
                          <a:cs typeface="Arial" panose="020B0604020202020204" pitchFamily="34" charset="0"/>
                          <a:sym typeface="Lato"/>
                        </a:rPr>
                        <a:t>Có</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300" b="1" i="0" u="none" strike="noStrike" cap="none">
                          <a:solidFill>
                            <a:srgbClr val="C00000"/>
                          </a:solidFill>
                          <a:latin typeface="Arial" panose="020B0604020202020204" pitchFamily="34" charset="0"/>
                          <a:ea typeface="Lato"/>
                          <a:cs typeface="Arial" panose="020B0604020202020204" pitchFamily="34" charset="0"/>
                          <a:sym typeface="Lato"/>
                        </a:rPr>
                        <a:t>Có</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300" b="1" i="0" u="none" strike="noStrike" cap="none">
                          <a:solidFill>
                            <a:srgbClr val="C00000"/>
                          </a:solidFill>
                          <a:latin typeface="Arial" panose="020B0604020202020204" pitchFamily="34" charset="0"/>
                          <a:ea typeface="Lato"/>
                          <a:cs typeface="Arial" panose="020B0604020202020204" pitchFamily="34" charset="0"/>
                          <a:sym typeface="Lato"/>
                        </a:rPr>
                        <a:t>Có</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75500">
                <a:tc>
                  <a:txBody>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Thêm, xóa thành viên nhóm</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300" b="0" i="0" u="none" strike="noStrike" cap="none">
                          <a:solidFill>
                            <a:srgbClr val="A6A6A6"/>
                          </a:solidFill>
                          <a:latin typeface="Arial" panose="020B0604020202020204" pitchFamily="34" charset="0"/>
                          <a:ea typeface="Lato"/>
                          <a:cs typeface="Arial" panose="020B0604020202020204" pitchFamily="34" charset="0"/>
                          <a:sym typeface="Lato"/>
                        </a:rPr>
                        <a:t>Không</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300" b="1" i="0" u="none" strike="noStrike" cap="none">
                          <a:solidFill>
                            <a:srgbClr val="C00000"/>
                          </a:solidFill>
                          <a:latin typeface="Arial" panose="020B0604020202020204" pitchFamily="34" charset="0"/>
                          <a:ea typeface="Lato"/>
                          <a:cs typeface="Arial" panose="020B0604020202020204" pitchFamily="34" charset="0"/>
                          <a:sym typeface="Lato"/>
                        </a:rPr>
                        <a:t>Có</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300" b="0" i="0" u="none" strike="noStrike" cap="none">
                          <a:solidFill>
                            <a:srgbClr val="A6A6A6"/>
                          </a:solidFill>
                          <a:latin typeface="Arial" panose="020B0604020202020204" pitchFamily="34" charset="0"/>
                          <a:ea typeface="Lato"/>
                          <a:cs typeface="Arial" panose="020B0604020202020204" pitchFamily="34" charset="0"/>
                          <a:sym typeface="Lato"/>
                        </a:rPr>
                        <a:t>Không</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75500">
                <a:tc>
                  <a:txBody>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Quản lý thực phẩm, tủ lạnh, công thức nấu ăn</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300" b="1" i="0" u="none" strike="noStrike" cap="none">
                          <a:solidFill>
                            <a:srgbClr val="C00000"/>
                          </a:solidFill>
                          <a:latin typeface="Arial" panose="020B0604020202020204" pitchFamily="34" charset="0"/>
                          <a:ea typeface="Lato"/>
                          <a:cs typeface="Arial" panose="020B0604020202020204" pitchFamily="34" charset="0"/>
                          <a:sym typeface="Lato"/>
                        </a:rPr>
                        <a:t>Có</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300" b="1" i="0" u="none" strike="noStrike" cap="none">
                          <a:solidFill>
                            <a:srgbClr val="C00000"/>
                          </a:solidFill>
                          <a:latin typeface="Arial" panose="020B0604020202020204" pitchFamily="34" charset="0"/>
                          <a:ea typeface="Lato"/>
                          <a:cs typeface="Arial" panose="020B0604020202020204" pitchFamily="34" charset="0"/>
                          <a:sym typeface="Lato"/>
                        </a:rPr>
                        <a:t>Có</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300" b="0" i="0" u="none" strike="noStrike" cap="none">
                          <a:solidFill>
                            <a:srgbClr val="A6A6A6"/>
                          </a:solidFill>
                          <a:latin typeface="Arial" panose="020B0604020202020204" pitchFamily="34" charset="0"/>
                          <a:ea typeface="Lato"/>
                          <a:cs typeface="Arial" panose="020B0604020202020204" pitchFamily="34" charset="0"/>
                          <a:sym typeface="Lato"/>
                        </a:rPr>
                        <a:t>Không</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75500">
                <a:tc>
                  <a:txBody>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Tạo, phân công, xóa danh sách mua sắm</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300" b="0" i="0" u="none" strike="noStrike" cap="none">
                          <a:solidFill>
                            <a:srgbClr val="A6A6A6"/>
                          </a:solidFill>
                          <a:latin typeface="Arial" panose="020B0604020202020204" pitchFamily="34" charset="0"/>
                          <a:ea typeface="Lato"/>
                          <a:cs typeface="Arial" panose="020B0604020202020204" pitchFamily="34" charset="0"/>
                          <a:sym typeface="Lato"/>
                        </a:rPr>
                        <a:t>Không</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300" b="1" i="0" u="none" strike="noStrike" cap="none">
                          <a:solidFill>
                            <a:srgbClr val="C00000"/>
                          </a:solidFill>
                          <a:latin typeface="Arial" panose="020B0604020202020204" pitchFamily="34" charset="0"/>
                          <a:ea typeface="Lato"/>
                          <a:cs typeface="Arial" panose="020B0604020202020204" pitchFamily="34" charset="0"/>
                          <a:sym typeface="Lato"/>
                        </a:rPr>
                        <a:t>Có</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300" b="0" i="0" u="none" strike="noStrike" cap="none">
                          <a:solidFill>
                            <a:srgbClr val="A6A6A6"/>
                          </a:solidFill>
                          <a:latin typeface="Arial" panose="020B0604020202020204" pitchFamily="34" charset="0"/>
                          <a:ea typeface="Lato"/>
                          <a:cs typeface="Arial" panose="020B0604020202020204" pitchFamily="34" charset="0"/>
                          <a:sym typeface="Lato"/>
                        </a:rPr>
                        <a:t>Không</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475500">
                <a:tc>
                  <a:txBody>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Thêm mặt hàng vào danh sách; ghi nhận mặt hàng đã mua</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300" b="1" i="0" u="none" strike="noStrike" cap="none">
                          <a:solidFill>
                            <a:srgbClr val="C00000"/>
                          </a:solidFill>
                          <a:latin typeface="Arial" panose="020B0604020202020204" pitchFamily="34" charset="0"/>
                          <a:ea typeface="Lato"/>
                          <a:cs typeface="Arial" panose="020B0604020202020204" pitchFamily="34" charset="0"/>
                          <a:sym typeface="Lato"/>
                        </a:rPr>
                        <a:t>Có</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300" b="1" i="0" u="none" strike="noStrike" cap="none">
                          <a:solidFill>
                            <a:srgbClr val="C00000"/>
                          </a:solidFill>
                          <a:latin typeface="Arial" panose="020B0604020202020204" pitchFamily="34" charset="0"/>
                          <a:ea typeface="Lato"/>
                          <a:cs typeface="Arial" panose="020B0604020202020204" pitchFamily="34" charset="0"/>
                          <a:sym typeface="Lato"/>
                        </a:rPr>
                        <a:t>Có</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300" b="0" i="0" u="none" strike="noStrike" cap="none">
                          <a:solidFill>
                            <a:srgbClr val="A6A6A6"/>
                          </a:solidFill>
                          <a:latin typeface="Arial" panose="020B0604020202020204" pitchFamily="34" charset="0"/>
                          <a:ea typeface="Lato"/>
                          <a:cs typeface="Arial" panose="020B0604020202020204" pitchFamily="34" charset="0"/>
                          <a:sym typeface="Lato"/>
                        </a:rPr>
                        <a:t>Không</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475500">
                <a:tc>
                  <a:txBody>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Lập kế hoạch bữa ăn</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300" b="1" i="0" u="none" strike="noStrike" cap="none">
                          <a:solidFill>
                            <a:srgbClr val="1F1F1F"/>
                          </a:solidFill>
                          <a:latin typeface="Arial" panose="020B0604020202020204" pitchFamily="34" charset="0"/>
                          <a:ea typeface="Lato"/>
                          <a:cs typeface="Arial" panose="020B0604020202020204" pitchFamily="34" charset="0"/>
                          <a:sym typeface="Lato"/>
                        </a:rPr>
                        <a:t>Chỉ xem</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300" b="1" i="0" u="none" strike="noStrike" cap="none">
                          <a:solidFill>
                            <a:srgbClr val="C00000"/>
                          </a:solidFill>
                          <a:latin typeface="Arial" panose="020B0604020202020204" pitchFamily="34" charset="0"/>
                          <a:ea typeface="Lato"/>
                          <a:cs typeface="Arial" panose="020B0604020202020204" pitchFamily="34" charset="0"/>
                          <a:sym typeface="Lato"/>
                        </a:rPr>
                        <a:t>Có</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300" b="0" i="0" u="none" strike="noStrike" cap="none">
                          <a:solidFill>
                            <a:srgbClr val="A6A6A6"/>
                          </a:solidFill>
                          <a:latin typeface="Arial" panose="020B0604020202020204" pitchFamily="34" charset="0"/>
                          <a:ea typeface="Lato"/>
                          <a:cs typeface="Arial" panose="020B0604020202020204" pitchFamily="34" charset="0"/>
                          <a:sym typeface="Lato"/>
                        </a:rPr>
                        <a:t>Không</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475500">
                <a:tc>
                  <a:txBody>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Xem đề xuất món ăn và báo cáo; nhận thông báo</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300" b="1" i="0" u="none" strike="noStrike" cap="none">
                          <a:solidFill>
                            <a:srgbClr val="C00000"/>
                          </a:solidFill>
                          <a:latin typeface="Arial" panose="020B0604020202020204" pitchFamily="34" charset="0"/>
                          <a:ea typeface="Lato"/>
                          <a:cs typeface="Arial" panose="020B0604020202020204" pitchFamily="34" charset="0"/>
                          <a:sym typeface="Lato"/>
                        </a:rPr>
                        <a:t>Có</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300" b="1" i="0" u="none" strike="noStrike" cap="none">
                          <a:solidFill>
                            <a:srgbClr val="C00000"/>
                          </a:solidFill>
                          <a:latin typeface="Arial" panose="020B0604020202020204" pitchFamily="34" charset="0"/>
                          <a:ea typeface="Lato"/>
                          <a:cs typeface="Arial" panose="020B0604020202020204" pitchFamily="34" charset="0"/>
                          <a:sym typeface="Lato"/>
                        </a:rPr>
                        <a:t>Có</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300" b="0" i="0" u="none" strike="noStrike" cap="none">
                          <a:solidFill>
                            <a:srgbClr val="A6A6A6"/>
                          </a:solidFill>
                          <a:latin typeface="Arial" panose="020B0604020202020204" pitchFamily="34" charset="0"/>
                          <a:ea typeface="Lato"/>
                          <a:cs typeface="Arial" panose="020B0604020202020204" pitchFamily="34" charset="0"/>
                          <a:sym typeface="Lato"/>
                        </a:rPr>
                        <a:t>Không</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475500">
                <a:tc>
                  <a:txBody>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Quản lý tài khoản, danh mục, đơn vị đo</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300" b="0" i="0" u="none" strike="noStrike" cap="none">
                          <a:solidFill>
                            <a:srgbClr val="A6A6A6"/>
                          </a:solidFill>
                          <a:latin typeface="Arial" panose="020B0604020202020204" pitchFamily="34" charset="0"/>
                          <a:ea typeface="Lato"/>
                          <a:cs typeface="Arial" panose="020B0604020202020204" pitchFamily="34" charset="0"/>
                          <a:sym typeface="Lato"/>
                        </a:rPr>
                        <a:t>Không</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300" b="0" i="0" u="none" strike="noStrike" cap="none">
                          <a:solidFill>
                            <a:srgbClr val="A6A6A6"/>
                          </a:solidFill>
                          <a:latin typeface="Arial" panose="020B0604020202020204" pitchFamily="34" charset="0"/>
                          <a:ea typeface="Lato"/>
                          <a:cs typeface="Arial" panose="020B0604020202020204" pitchFamily="34" charset="0"/>
                          <a:sym typeface="Lato"/>
                        </a:rPr>
                        <a:t>Không</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US" sz="1300" b="1" i="0" u="none" strike="noStrike" cap="none">
                          <a:solidFill>
                            <a:srgbClr val="C00000"/>
                          </a:solidFill>
                          <a:latin typeface="Arial" panose="020B0604020202020204" pitchFamily="34" charset="0"/>
                          <a:ea typeface="Lato"/>
                          <a:cs typeface="Arial" panose="020B0604020202020204" pitchFamily="34" charset="0"/>
                          <a:sym typeface="Lato"/>
                        </a:rPr>
                        <a:t>Có</a:t>
                      </a:r>
                      <a:endParaRPr/>
                    </a:p>
                  </a:txBody>
                  <a:tcPr marL="91450" marR="91450" marT="36575" marB="365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9D9D9">
                          <a:alpha val="0"/>
                        </a:srgbClr>
                      </a:solidFill>
                      <a:prstDash val="solid"/>
                      <a:round/>
                      <a:headEnd type="none" w="sm" len="sm"/>
                      <a:tailEnd type="none" w="sm" len="sm"/>
                    </a:lnT>
                    <a:lnB w="9525" cap="flat" cmpd="sng">
                      <a:solidFill>
                        <a:srgbClr val="D9D9D9"/>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bl>
          </a:graphicData>
        </a:graphic>
      </p:graphicFrame>
      <p:sp>
        <p:nvSpPr>
          <p:cNvPr id="208" name="Google Shape;208;p19"/>
          <p:cNvSpPr txBox="1"/>
          <p:nvPr/>
        </p:nvSpPr>
        <p:spPr>
          <a:xfrm>
            <a:off x="411480" y="5349240"/>
            <a:ext cx="832104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595959"/>
                </a:solidFill>
                <a:latin typeface="Arial" panose="020B0604020202020204" pitchFamily="34" charset="0"/>
                <a:ea typeface="Lato"/>
                <a:cs typeface="Arial" panose="020B0604020202020204" pitchFamily="34" charset="0"/>
                <a:sym typeface="Lato"/>
              </a:rPr>
              <a:t>Trưởng nhóm có toàn bộ quyền của thành viên và thêm quyền điều phối nhóm; quản trị viên chỉ thao tác trên dữ liệu dùng chung của hệ thống.</a:t>
            </a:r>
            <a:endParaRPr>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0"/>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10</a:t>
            </a:fld>
            <a:endParaRPr/>
          </a:p>
        </p:txBody>
      </p:sp>
      <p:sp>
        <p:nvSpPr>
          <p:cNvPr id="214" name="Google Shape;214;p20"/>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sz="2800" b="1">
                <a:solidFill>
                  <a:schemeClr val="lt1"/>
                </a:solidFill>
                <a:sym typeface="Lato"/>
              </a:rPr>
              <a:t>Quy tắc nghiệp vụ</a:t>
            </a:r>
            <a:endParaRPr/>
          </a:p>
        </p:txBody>
      </p:sp>
      <p:sp>
        <p:nvSpPr>
          <p:cNvPr id="215" name="Google Shape;215;p20"/>
          <p:cNvSpPr/>
          <p:nvPr/>
        </p:nvSpPr>
        <p:spPr>
          <a:xfrm>
            <a:off x="411480" y="1005840"/>
            <a:ext cx="4023359" cy="2240280"/>
          </a:xfrm>
          <a:prstGeom prst="roundRect">
            <a:avLst>
              <a:gd name="adj" fmla="val 3265"/>
            </a:avLst>
          </a:prstGeom>
          <a:solidFill>
            <a:srgbClr val="F3F3F3"/>
          </a:solidFill>
          <a:ln>
            <a:noFill/>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6" name="Google Shape;216;p20"/>
          <p:cNvSpPr/>
          <p:nvPr/>
        </p:nvSpPr>
        <p:spPr>
          <a:xfrm>
            <a:off x="640080" y="1234440"/>
            <a:ext cx="420624" cy="420624"/>
          </a:xfrm>
          <a:prstGeom prst="ellipse">
            <a:avLst/>
          </a:prstGeom>
          <a:solidFill>
            <a:srgbClr val="C00000"/>
          </a:solidFill>
          <a:ln>
            <a:noFill/>
          </a:ln>
        </p:spPr>
        <p:txBody>
          <a:bodyPr spcFirstLastPara="1" wrap="square" lIns="0" tIns="27425" rIns="0" bIns="27425" anchor="ctr" anchorCtr="0">
            <a:noAutofit/>
          </a:bodyPr>
          <a:lstStyle/>
          <a:p>
            <a:pPr marL="0" marR="0" lvl="0" indent="0" algn="ctr" rtl="0">
              <a:spcBef>
                <a:spcPts val="0"/>
              </a:spcBef>
              <a:spcAft>
                <a:spcPts val="0"/>
              </a:spcAft>
              <a:buNone/>
            </a:pPr>
            <a:r>
              <a:rPr lang="en-US" sz="1500" b="1" i="0" u="none" strike="noStrike" cap="none">
                <a:solidFill>
                  <a:srgbClr val="FFFFFF"/>
                </a:solidFill>
                <a:latin typeface="Arial" panose="020B0604020202020204" pitchFamily="34" charset="0"/>
                <a:ea typeface="Lato"/>
                <a:cs typeface="Arial" panose="020B0604020202020204" pitchFamily="34" charset="0"/>
                <a:sym typeface="Lato"/>
              </a:rPr>
              <a:t>1</a:t>
            </a:r>
            <a:endParaRPr>
              <a:latin typeface="Arial" panose="020B0604020202020204" pitchFamily="34" charset="0"/>
            </a:endParaRPr>
          </a:p>
        </p:txBody>
      </p:sp>
      <p:sp>
        <p:nvSpPr>
          <p:cNvPr id="217" name="Google Shape;217;p20"/>
          <p:cNvSpPr txBox="1"/>
          <p:nvPr/>
        </p:nvSpPr>
        <p:spPr>
          <a:xfrm>
            <a:off x="1234440" y="1213920"/>
            <a:ext cx="2971799" cy="4616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a:solidFill>
                  <a:srgbClr val="1F1F1F"/>
                </a:solidFill>
                <a:latin typeface="Arial" panose="020B0604020202020204" pitchFamily="34" charset="0"/>
                <a:ea typeface="Lato"/>
                <a:cs typeface="Arial" panose="020B0604020202020204" pitchFamily="34" charset="0"/>
                <a:sym typeface="Lato"/>
              </a:rPr>
              <a:t>Mỗi người dùng thuộc một nhóm</a:t>
            </a:r>
            <a:endParaRPr>
              <a:latin typeface="Arial" panose="020B0604020202020204" pitchFamily="34" charset="0"/>
            </a:endParaRPr>
          </a:p>
        </p:txBody>
      </p:sp>
      <p:sp>
        <p:nvSpPr>
          <p:cNvPr id="218" name="Google Shape;218;p20"/>
          <p:cNvSpPr txBox="1"/>
          <p:nvPr/>
        </p:nvSpPr>
        <p:spPr>
          <a:xfrm>
            <a:off x="640080" y="1874519"/>
            <a:ext cx="3566159" cy="80021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Mỗi người dùng thuộc tối đa một nhóm gia đình. Các chức năng mua sắm, tủ lạnh và kế hoạch bữa ăn chỉ khả dụng khi người dùng đã thuộc một nhóm.</a:t>
            </a:r>
            <a:endParaRPr>
              <a:latin typeface="Arial" panose="020B0604020202020204" pitchFamily="34" charset="0"/>
            </a:endParaRPr>
          </a:p>
        </p:txBody>
      </p:sp>
      <p:sp>
        <p:nvSpPr>
          <p:cNvPr id="219" name="Google Shape;219;p20"/>
          <p:cNvSpPr/>
          <p:nvPr/>
        </p:nvSpPr>
        <p:spPr>
          <a:xfrm>
            <a:off x="4709159" y="1005840"/>
            <a:ext cx="4023359" cy="2240280"/>
          </a:xfrm>
          <a:prstGeom prst="roundRect">
            <a:avLst>
              <a:gd name="adj" fmla="val 3265"/>
            </a:avLst>
          </a:prstGeom>
          <a:solidFill>
            <a:srgbClr val="F3F3F3"/>
          </a:solidFill>
          <a:ln>
            <a:noFill/>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0" name="Google Shape;220;p20"/>
          <p:cNvSpPr/>
          <p:nvPr/>
        </p:nvSpPr>
        <p:spPr>
          <a:xfrm>
            <a:off x="4937759" y="1234440"/>
            <a:ext cx="420624" cy="420624"/>
          </a:xfrm>
          <a:prstGeom prst="ellipse">
            <a:avLst/>
          </a:prstGeom>
          <a:solidFill>
            <a:srgbClr val="C00000"/>
          </a:solidFill>
          <a:ln>
            <a:noFill/>
          </a:ln>
        </p:spPr>
        <p:txBody>
          <a:bodyPr spcFirstLastPara="1" wrap="square" lIns="0" tIns="27425" rIns="0" bIns="27425" anchor="ctr" anchorCtr="0">
            <a:noAutofit/>
          </a:bodyPr>
          <a:lstStyle/>
          <a:p>
            <a:pPr marL="0" marR="0" lvl="0" indent="0" algn="ctr" rtl="0">
              <a:spcBef>
                <a:spcPts val="0"/>
              </a:spcBef>
              <a:spcAft>
                <a:spcPts val="0"/>
              </a:spcAft>
              <a:buNone/>
            </a:pPr>
            <a:r>
              <a:rPr lang="en-US" sz="1500" b="1" i="0" u="none" strike="noStrike" cap="none">
                <a:solidFill>
                  <a:srgbClr val="FFFFFF"/>
                </a:solidFill>
                <a:latin typeface="Arial" panose="020B0604020202020204" pitchFamily="34" charset="0"/>
                <a:ea typeface="Lato"/>
                <a:cs typeface="Arial" panose="020B0604020202020204" pitchFamily="34" charset="0"/>
                <a:sym typeface="Lato"/>
              </a:rPr>
              <a:t>2</a:t>
            </a:r>
            <a:endParaRPr>
              <a:latin typeface="Arial" panose="020B0604020202020204" pitchFamily="34" charset="0"/>
            </a:endParaRPr>
          </a:p>
        </p:txBody>
      </p:sp>
      <p:sp>
        <p:nvSpPr>
          <p:cNvPr id="221" name="Google Shape;221;p20"/>
          <p:cNvSpPr txBox="1"/>
          <p:nvPr/>
        </p:nvSpPr>
        <p:spPr>
          <a:xfrm>
            <a:off x="5532120" y="1329336"/>
            <a:ext cx="2971799" cy="23083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a:solidFill>
                  <a:srgbClr val="1F1F1F"/>
                </a:solidFill>
                <a:latin typeface="Arial" panose="020B0604020202020204" pitchFamily="34" charset="0"/>
                <a:ea typeface="Lato"/>
                <a:cs typeface="Arial" panose="020B0604020202020204" pitchFamily="34" charset="0"/>
                <a:sym typeface="Lato"/>
              </a:rPr>
              <a:t>Dữ liệu thuộc về nhóm</a:t>
            </a:r>
            <a:endParaRPr>
              <a:latin typeface="Arial" panose="020B0604020202020204" pitchFamily="34" charset="0"/>
            </a:endParaRPr>
          </a:p>
        </p:txBody>
      </p:sp>
      <p:sp>
        <p:nvSpPr>
          <p:cNvPr id="222" name="Google Shape;222;p20"/>
          <p:cNvSpPr txBox="1"/>
          <p:nvPr/>
        </p:nvSpPr>
        <p:spPr>
          <a:xfrm>
            <a:off x="4937759" y="1874519"/>
            <a:ext cx="3566159" cy="60016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Thực phẩm, tủ lạnh, danh sách mua sắm và kế hoạch bữa ăn là dữ liệu của nhóm, không phải của cá nhân.</a:t>
            </a:r>
            <a:endParaRPr>
              <a:latin typeface="Arial" panose="020B0604020202020204" pitchFamily="34" charset="0"/>
            </a:endParaRPr>
          </a:p>
        </p:txBody>
      </p:sp>
      <p:sp>
        <p:nvSpPr>
          <p:cNvPr id="223" name="Google Shape;223;p20"/>
          <p:cNvSpPr/>
          <p:nvPr/>
        </p:nvSpPr>
        <p:spPr>
          <a:xfrm>
            <a:off x="411480" y="3474720"/>
            <a:ext cx="4023359" cy="2240280"/>
          </a:xfrm>
          <a:prstGeom prst="roundRect">
            <a:avLst>
              <a:gd name="adj" fmla="val 3265"/>
            </a:avLst>
          </a:prstGeom>
          <a:solidFill>
            <a:srgbClr val="F3F3F3"/>
          </a:solidFill>
          <a:ln>
            <a:noFill/>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4" name="Google Shape;224;p20"/>
          <p:cNvSpPr/>
          <p:nvPr/>
        </p:nvSpPr>
        <p:spPr>
          <a:xfrm>
            <a:off x="640080" y="3703320"/>
            <a:ext cx="420624" cy="420624"/>
          </a:xfrm>
          <a:prstGeom prst="ellipse">
            <a:avLst/>
          </a:prstGeom>
          <a:solidFill>
            <a:srgbClr val="C00000"/>
          </a:solidFill>
          <a:ln>
            <a:noFill/>
          </a:ln>
        </p:spPr>
        <p:txBody>
          <a:bodyPr spcFirstLastPara="1" wrap="square" lIns="0" tIns="27425" rIns="0" bIns="27425" anchor="ctr" anchorCtr="0">
            <a:noAutofit/>
          </a:bodyPr>
          <a:lstStyle/>
          <a:p>
            <a:pPr marL="0" marR="0" lvl="0" indent="0" algn="ctr" rtl="0">
              <a:spcBef>
                <a:spcPts val="0"/>
              </a:spcBef>
              <a:spcAft>
                <a:spcPts val="0"/>
              </a:spcAft>
              <a:buNone/>
            </a:pPr>
            <a:r>
              <a:rPr lang="en-US" sz="1500" b="1" i="0" u="none" strike="noStrike" cap="none">
                <a:solidFill>
                  <a:srgbClr val="FFFFFF"/>
                </a:solidFill>
                <a:latin typeface="Arial" panose="020B0604020202020204" pitchFamily="34" charset="0"/>
                <a:ea typeface="Lato"/>
                <a:cs typeface="Arial" panose="020B0604020202020204" pitchFamily="34" charset="0"/>
                <a:sym typeface="Lato"/>
              </a:rPr>
              <a:t>3</a:t>
            </a:r>
            <a:endParaRPr>
              <a:latin typeface="Arial" panose="020B0604020202020204" pitchFamily="34" charset="0"/>
            </a:endParaRPr>
          </a:p>
        </p:txBody>
      </p:sp>
      <p:sp>
        <p:nvSpPr>
          <p:cNvPr id="225" name="Google Shape;225;p20"/>
          <p:cNvSpPr txBox="1"/>
          <p:nvPr/>
        </p:nvSpPr>
        <p:spPr>
          <a:xfrm>
            <a:off x="1234440" y="3798216"/>
            <a:ext cx="2971799" cy="23083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a:solidFill>
                  <a:srgbClr val="1F1F1F"/>
                </a:solidFill>
                <a:latin typeface="Arial" panose="020B0604020202020204" pitchFamily="34" charset="0"/>
                <a:ea typeface="Lato"/>
                <a:cs typeface="Arial" panose="020B0604020202020204" pitchFamily="34" charset="0"/>
                <a:sym typeface="Lato"/>
              </a:rPr>
              <a:t>Danh mục dùng chung</a:t>
            </a:r>
            <a:endParaRPr>
              <a:latin typeface="Arial" panose="020B0604020202020204" pitchFamily="34" charset="0"/>
            </a:endParaRPr>
          </a:p>
        </p:txBody>
      </p:sp>
      <p:sp>
        <p:nvSpPr>
          <p:cNvPr id="226" name="Google Shape;226;p20"/>
          <p:cNvSpPr txBox="1"/>
          <p:nvPr/>
        </p:nvSpPr>
        <p:spPr>
          <a:xfrm>
            <a:off x="640080" y="4343400"/>
            <a:ext cx="3566159" cy="60016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Danh mục thực phẩm và đơn vị đo được dùng chung trong toàn hệ thống; chỉ quản trị viên được thay đổi.</a:t>
            </a:r>
            <a:endParaRPr>
              <a:latin typeface="Arial" panose="020B0604020202020204" pitchFamily="34" charset="0"/>
            </a:endParaRPr>
          </a:p>
        </p:txBody>
      </p:sp>
      <p:sp>
        <p:nvSpPr>
          <p:cNvPr id="227" name="Google Shape;227;p20"/>
          <p:cNvSpPr/>
          <p:nvPr/>
        </p:nvSpPr>
        <p:spPr>
          <a:xfrm>
            <a:off x="4709159" y="3474720"/>
            <a:ext cx="4023359" cy="2240280"/>
          </a:xfrm>
          <a:prstGeom prst="roundRect">
            <a:avLst>
              <a:gd name="adj" fmla="val 3265"/>
            </a:avLst>
          </a:prstGeom>
          <a:solidFill>
            <a:srgbClr val="F3F3F3"/>
          </a:solidFill>
          <a:ln>
            <a:noFill/>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8" name="Google Shape;228;p20"/>
          <p:cNvSpPr/>
          <p:nvPr/>
        </p:nvSpPr>
        <p:spPr>
          <a:xfrm>
            <a:off x="4937759" y="3703320"/>
            <a:ext cx="420624" cy="420624"/>
          </a:xfrm>
          <a:prstGeom prst="ellipse">
            <a:avLst/>
          </a:prstGeom>
          <a:solidFill>
            <a:srgbClr val="C00000"/>
          </a:solidFill>
          <a:ln>
            <a:noFill/>
          </a:ln>
        </p:spPr>
        <p:txBody>
          <a:bodyPr spcFirstLastPara="1" wrap="square" lIns="0" tIns="27425" rIns="0" bIns="27425" anchor="ctr" anchorCtr="0">
            <a:noAutofit/>
          </a:bodyPr>
          <a:lstStyle/>
          <a:p>
            <a:pPr marL="0" marR="0" lvl="0" indent="0" algn="ctr" rtl="0">
              <a:spcBef>
                <a:spcPts val="0"/>
              </a:spcBef>
              <a:spcAft>
                <a:spcPts val="0"/>
              </a:spcAft>
              <a:buNone/>
            </a:pPr>
            <a:r>
              <a:rPr lang="en-US" sz="1500" b="1" i="0" u="none" strike="noStrike" cap="none">
                <a:solidFill>
                  <a:srgbClr val="FFFFFF"/>
                </a:solidFill>
                <a:latin typeface="Arial" panose="020B0604020202020204" pitchFamily="34" charset="0"/>
                <a:ea typeface="Lato"/>
                <a:cs typeface="Arial" panose="020B0604020202020204" pitchFamily="34" charset="0"/>
                <a:sym typeface="Lato"/>
              </a:rPr>
              <a:t>4</a:t>
            </a:r>
            <a:endParaRPr>
              <a:latin typeface="Arial" panose="020B0604020202020204" pitchFamily="34" charset="0"/>
            </a:endParaRPr>
          </a:p>
        </p:txBody>
      </p:sp>
      <p:sp>
        <p:nvSpPr>
          <p:cNvPr id="229" name="Google Shape;229;p20"/>
          <p:cNvSpPr txBox="1"/>
          <p:nvPr/>
        </p:nvSpPr>
        <p:spPr>
          <a:xfrm>
            <a:off x="5532120" y="3798216"/>
            <a:ext cx="2971799" cy="23083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a:solidFill>
                  <a:srgbClr val="1F1F1F"/>
                </a:solidFill>
                <a:latin typeface="Arial" panose="020B0604020202020204" pitchFamily="34" charset="0"/>
                <a:ea typeface="Lato"/>
                <a:cs typeface="Arial" panose="020B0604020202020204" pitchFamily="34" charset="0"/>
                <a:sym typeface="Lato"/>
              </a:rPr>
              <a:t>Thông báo hạn sử dụng</a:t>
            </a:r>
            <a:endParaRPr>
              <a:latin typeface="Arial" panose="020B0604020202020204" pitchFamily="34" charset="0"/>
            </a:endParaRPr>
          </a:p>
        </p:txBody>
      </p:sp>
      <p:sp>
        <p:nvSpPr>
          <p:cNvPr id="230" name="Google Shape;230;p20"/>
          <p:cNvSpPr txBox="1"/>
          <p:nvPr/>
        </p:nvSpPr>
        <p:spPr>
          <a:xfrm>
            <a:off x="4937759" y="4343400"/>
            <a:ext cx="3566159" cy="60016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Hệ thống gửi thông báo khi thực phẩm còn 3 ngày trước hạn sử dụng; mỗi mục thực phẩm được thông báo một lần.</a:t>
            </a:r>
            <a:endParaRPr>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1"/>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11</a:t>
            </a:fld>
            <a:endParaRPr/>
          </a:p>
        </p:txBody>
      </p:sp>
      <p:sp>
        <p:nvSpPr>
          <p:cNvPr id="236" name="Google Shape;236;p21"/>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sz="2800" b="1">
                <a:solidFill>
                  <a:schemeClr val="lt1"/>
                </a:solidFill>
                <a:sym typeface="Lato"/>
              </a:rPr>
              <a:t>Yêu cầu phi chức năng</a:t>
            </a:r>
            <a:endParaRPr/>
          </a:p>
        </p:txBody>
      </p:sp>
      <p:sp>
        <p:nvSpPr>
          <p:cNvPr id="237" name="Google Shape;237;p21"/>
          <p:cNvSpPr/>
          <p:nvPr/>
        </p:nvSpPr>
        <p:spPr>
          <a:xfrm>
            <a:off x="411480" y="960120"/>
            <a:ext cx="8321040" cy="850392"/>
          </a:xfrm>
          <a:prstGeom prst="roundRect">
            <a:avLst>
              <a:gd name="adj" fmla="val 8602"/>
            </a:avLst>
          </a:prstGeom>
          <a:solidFill>
            <a:srgbClr val="F3F3F3"/>
          </a:solidFill>
          <a:ln>
            <a:noFill/>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8" name="Google Shape;238;p21"/>
          <p:cNvSpPr/>
          <p:nvPr/>
        </p:nvSpPr>
        <p:spPr>
          <a:xfrm>
            <a:off x="411480" y="960120"/>
            <a:ext cx="2286000" cy="850392"/>
          </a:xfrm>
          <a:prstGeom prst="roundRect">
            <a:avLst>
              <a:gd name="adj" fmla="val 8602"/>
            </a:avLst>
          </a:prstGeom>
          <a:solidFill>
            <a:srgbClr val="FBEAEA"/>
          </a:solidFill>
          <a:ln>
            <a:noFill/>
          </a:ln>
        </p:spPr>
        <p:txBody>
          <a:bodyPr spcFirstLastPara="1" wrap="square" lIns="137150" tIns="27425" rIns="137150" bIns="27425" anchor="ctr" anchorCtr="0">
            <a:noAutofit/>
          </a:bodyPr>
          <a:lstStyle/>
          <a:p>
            <a:pPr marL="0" marR="0" lvl="0" indent="0" algn="ctr" rtl="0">
              <a:spcBef>
                <a:spcPts val="0"/>
              </a:spcBef>
              <a:spcAft>
                <a:spcPts val="0"/>
              </a:spcAft>
              <a:buNone/>
            </a:pPr>
            <a:r>
              <a:rPr lang="en-US" sz="1500" b="1" i="0" u="none" strike="noStrike" cap="none">
                <a:solidFill>
                  <a:srgbClr val="C00000"/>
                </a:solidFill>
                <a:latin typeface="Arial" panose="020B0604020202020204" pitchFamily="34" charset="0"/>
                <a:ea typeface="Lato"/>
                <a:cs typeface="Arial" panose="020B0604020202020204" pitchFamily="34" charset="0"/>
                <a:sym typeface="Lato"/>
              </a:rPr>
              <a:t>Đa nền tảng</a:t>
            </a:r>
            <a:endParaRPr>
              <a:latin typeface="Arial" panose="020B0604020202020204" pitchFamily="34" charset="0"/>
            </a:endParaRPr>
          </a:p>
        </p:txBody>
      </p:sp>
      <p:sp>
        <p:nvSpPr>
          <p:cNvPr id="239" name="Google Shape;239;p21"/>
          <p:cNvSpPr txBox="1"/>
          <p:nvPr/>
        </p:nvSpPr>
        <p:spPr>
          <a:xfrm>
            <a:off x="2880360" y="1285288"/>
            <a:ext cx="5669279" cy="20005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Ứng dụng được phát triển từ một mã nguồn và chạy trên cả Android và iOS.</a:t>
            </a:r>
            <a:endParaRPr>
              <a:latin typeface="Arial" panose="020B0604020202020204" pitchFamily="34" charset="0"/>
            </a:endParaRPr>
          </a:p>
        </p:txBody>
      </p:sp>
      <p:sp>
        <p:nvSpPr>
          <p:cNvPr id="240" name="Google Shape;240;p21"/>
          <p:cNvSpPr/>
          <p:nvPr/>
        </p:nvSpPr>
        <p:spPr>
          <a:xfrm>
            <a:off x="411480" y="1920240"/>
            <a:ext cx="8321040" cy="850392"/>
          </a:xfrm>
          <a:prstGeom prst="roundRect">
            <a:avLst>
              <a:gd name="adj" fmla="val 8602"/>
            </a:avLst>
          </a:prstGeom>
          <a:solidFill>
            <a:srgbClr val="F3F3F3"/>
          </a:solidFill>
          <a:ln>
            <a:noFill/>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1" name="Google Shape;241;p21"/>
          <p:cNvSpPr/>
          <p:nvPr/>
        </p:nvSpPr>
        <p:spPr>
          <a:xfrm>
            <a:off x="411480" y="1920240"/>
            <a:ext cx="2286000" cy="850392"/>
          </a:xfrm>
          <a:prstGeom prst="roundRect">
            <a:avLst>
              <a:gd name="adj" fmla="val 8602"/>
            </a:avLst>
          </a:prstGeom>
          <a:solidFill>
            <a:srgbClr val="FBEAEA"/>
          </a:solidFill>
          <a:ln>
            <a:noFill/>
          </a:ln>
        </p:spPr>
        <p:txBody>
          <a:bodyPr spcFirstLastPara="1" wrap="square" lIns="137150" tIns="27425" rIns="137150" bIns="27425" anchor="ctr" anchorCtr="0">
            <a:noAutofit/>
          </a:bodyPr>
          <a:lstStyle/>
          <a:p>
            <a:pPr marL="0" marR="0" lvl="0" indent="0" algn="ctr" rtl="0">
              <a:spcBef>
                <a:spcPts val="0"/>
              </a:spcBef>
              <a:spcAft>
                <a:spcPts val="0"/>
              </a:spcAft>
              <a:buNone/>
            </a:pPr>
            <a:r>
              <a:rPr lang="en-US" sz="1500" b="1" i="0" u="none" strike="noStrike" cap="none">
                <a:solidFill>
                  <a:srgbClr val="C00000"/>
                </a:solidFill>
                <a:latin typeface="Arial" panose="020B0604020202020204" pitchFamily="34" charset="0"/>
                <a:ea typeface="Lato"/>
                <a:cs typeface="Arial" panose="020B0604020202020204" pitchFamily="34" charset="0"/>
                <a:sym typeface="Lato"/>
              </a:rPr>
              <a:t>Bảo mật</a:t>
            </a:r>
            <a:endParaRPr>
              <a:latin typeface="Arial" panose="020B0604020202020204" pitchFamily="34" charset="0"/>
            </a:endParaRPr>
          </a:p>
        </p:txBody>
      </p:sp>
      <p:sp>
        <p:nvSpPr>
          <p:cNvPr id="242" name="Google Shape;242;p21"/>
          <p:cNvSpPr txBox="1"/>
          <p:nvPr/>
        </p:nvSpPr>
        <p:spPr>
          <a:xfrm>
            <a:off x="2880360" y="2145381"/>
            <a:ext cx="5669279" cy="40011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Mật khẩu được lưu dưới dạng băm; mọi yêu cầu sau đăng nhập phải kèm token xác thực; việc phân quyền được kiểm tra tại server.</a:t>
            </a:r>
            <a:endParaRPr>
              <a:latin typeface="Arial" panose="020B0604020202020204" pitchFamily="34" charset="0"/>
            </a:endParaRPr>
          </a:p>
        </p:txBody>
      </p:sp>
      <p:sp>
        <p:nvSpPr>
          <p:cNvPr id="243" name="Google Shape;243;p21"/>
          <p:cNvSpPr/>
          <p:nvPr/>
        </p:nvSpPr>
        <p:spPr>
          <a:xfrm>
            <a:off x="411480" y="2880360"/>
            <a:ext cx="8321040" cy="850392"/>
          </a:xfrm>
          <a:prstGeom prst="roundRect">
            <a:avLst>
              <a:gd name="adj" fmla="val 8602"/>
            </a:avLst>
          </a:prstGeom>
          <a:solidFill>
            <a:srgbClr val="F3F3F3"/>
          </a:solidFill>
          <a:ln>
            <a:noFill/>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4" name="Google Shape;244;p21"/>
          <p:cNvSpPr/>
          <p:nvPr/>
        </p:nvSpPr>
        <p:spPr>
          <a:xfrm>
            <a:off x="411480" y="2880360"/>
            <a:ext cx="2286000" cy="850392"/>
          </a:xfrm>
          <a:prstGeom prst="roundRect">
            <a:avLst>
              <a:gd name="adj" fmla="val 8602"/>
            </a:avLst>
          </a:prstGeom>
          <a:solidFill>
            <a:srgbClr val="FBEAEA"/>
          </a:solidFill>
          <a:ln>
            <a:noFill/>
          </a:ln>
        </p:spPr>
        <p:txBody>
          <a:bodyPr spcFirstLastPara="1" wrap="square" lIns="137150" tIns="27425" rIns="137150" bIns="27425" anchor="ctr" anchorCtr="0">
            <a:noAutofit/>
          </a:bodyPr>
          <a:lstStyle/>
          <a:p>
            <a:pPr marL="0" marR="0" lvl="0" indent="0" algn="ctr" rtl="0">
              <a:spcBef>
                <a:spcPts val="0"/>
              </a:spcBef>
              <a:spcAft>
                <a:spcPts val="0"/>
              </a:spcAft>
              <a:buNone/>
            </a:pPr>
            <a:r>
              <a:rPr lang="en-US" sz="1500" b="1" i="0" u="none" strike="noStrike" cap="none">
                <a:solidFill>
                  <a:srgbClr val="C00000"/>
                </a:solidFill>
                <a:latin typeface="Arial" panose="020B0604020202020204" pitchFamily="34" charset="0"/>
                <a:ea typeface="Lato"/>
                <a:cs typeface="Arial" panose="020B0604020202020204" pitchFamily="34" charset="0"/>
                <a:sym typeface="Lato"/>
              </a:rPr>
              <a:t>Độ tin cậy</a:t>
            </a:r>
            <a:endParaRPr>
              <a:latin typeface="Arial" panose="020B0604020202020204" pitchFamily="34" charset="0"/>
            </a:endParaRPr>
          </a:p>
        </p:txBody>
      </p:sp>
      <p:sp>
        <p:nvSpPr>
          <p:cNvPr id="245" name="Google Shape;245;p21"/>
          <p:cNvSpPr txBox="1"/>
          <p:nvPr/>
        </p:nvSpPr>
        <p:spPr>
          <a:xfrm>
            <a:off x="2880360" y="3205528"/>
            <a:ext cx="5669279" cy="20005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Mỗi mục thực phẩm sắp hết hạn được thông báo đúng một lần.</a:t>
            </a:r>
            <a:endParaRPr>
              <a:latin typeface="Arial" panose="020B0604020202020204" pitchFamily="34" charset="0"/>
            </a:endParaRPr>
          </a:p>
        </p:txBody>
      </p:sp>
      <p:sp>
        <p:nvSpPr>
          <p:cNvPr id="246" name="Google Shape;246;p21"/>
          <p:cNvSpPr/>
          <p:nvPr/>
        </p:nvSpPr>
        <p:spPr>
          <a:xfrm>
            <a:off x="411480" y="3840480"/>
            <a:ext cx="8321040" cy="850392"/>
          </a:xfrm>
          <a:prstGeom prst="roundRect">
            <a:avLst>
              <a:gd name="adj" fmla="val 8602"/>
            </a:avLst>
          </a:prstGeom>
          <a:solidFill>
            <a:srgbClr val="F3F3F3"/>
          </a:solidFill>
          <a:ln>
            <a:noFill/>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7" name="Google Shape;247;p21"/>
          <p:cNvSpPr/>
          <p:nvPr/>
        </p:nvSpPr>
        <p:spPr>
          <a:xfrm>
            <a:off x="411480" y="3840480"/>
            <a:ext cx="2286000" cy="850392"/>
          </a:xfrm>
          <a:prstGeom prst="roundRect">
            <a:avLst>
              <a:gd name="adj" fmla="val 8602"/>
            </a:avLst>
          </a:prstGeom>
          <a:solidFill>
            <a:srgbClr val="FBEAEA"/>
          </a:solidFill>
          <a:ln>
            <a:noFill/>
          </a:ln>
        </p:spPr>
        <p:txBody>
          <a:bodyPr spcFirstLastPara="1" wrap="square" lIns="137150" tIns="27425" rIns="137150" bIns="27425" anchor="ctr" anchorCtr="0">
            <a:noAutofit/>
          </a:bodyPr>
          <a:lstStyle/>
          <a:p>
            <a:pPr marL="0" marR="0" lvl="0" indent="0" algn="ctr" rtl="0">
              <a:spcBef>
                <a:spcPts val="0"/>
              </a:spcBef>
              <a:spcAft>
                <a:spcPts val="0"/>
              </a:spcAft>
              <a:buNone/>
            </a:pPr>
            <a:r>
              <a:rPr lang="en-US" sz="1500" b="1" i="0" u="none" strike="noStrike" cap="none">
                <a:solidFill>
                  <a:srgbClr val="C00000"/>
                </a:solidFill>
                <a:latin typeface="Arial" panose="020B0604020202020204" pitchFamily="34" charset="0"/>
                <a:ea typeface="Lato"/>
                <a:cs typeface="Arial" panose="020B0604020202020204" pitchFamily="34" charset="0"/>
                <a:sym typeface="Lato"/>
              </a:rPr>
              <a:t>Hoạt động ngoại tuyến</a:t>
            </a:r>
            <a:endParaRPr>
              <a:latin typeface="Arial" panose="020B0604020202020204" pitchFamily="34" charset="0"/>
            </a:endParaRPr>
          </a:p>
        </p:txBody>
      </p:sp>
      <p:sp>
        <p:nvSpPr>
          <p:cNvPr id="248" name="Google Shape;248;p21"/>
          <p:cNvSpPr txBox="1"/>
          <p:nvPr/>
        </p:nvSpPr>
        <p:spPr>
          <a:xfrm>
            <a:off x="2880360" y="4065621"/>
            <a:ext cx="5669279" cy="40011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Khi mất kết nối, người dùng vẫn xem được danh sách mua sắm và dữ liệu tủ lạnh đã tải gần nhất.</a:t>
            </a:r>
            <a:endParaRPr>
              <a:latin typeface="Arial" panose="020B0604020202020204" pitchFamily="34" charset="0"/>
            </a:endParaRPr>
          </a:p>
        </p:txBody>
      </p:sp>
      <p:sp>
        <p:nvSpPr>
          <p:cNvPr id="249" name="Google Shape;249;p21"/>
          <p:cNvSpPr/>
          <p:nvPr/>
        </p:nvSpPr>
        <p:spPr>
          <a:xfrm>
            <a:off x="411480" y="4800600"/>
            <a:ext cx="8321040" cy="850392"/>
          </a:xfrm>
          <a:prstGeom prst="roundRect">
            <a:avLst>
              <a:gd name="adj" fmla="val 8602"/>
            </a:avLst>
          </a:prstGeom>
          <a:solidFill>
            <a:srgbClr val="F3F3F3"/>
          </a:solidFill>
          <a:ln>
            <a:noFill/>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0" name="Google Shape;250;p21"/>
          <p:cNvSpPr/>
          <p:nvPr/>
        </p:nvSpPr>
        <p:spPr>
          <a:xfrm>
            <a:off x="411480" y="4800600"/>
            <a:ext cx="2286000" cy="850392"/>
          </a:xfrm>
          <a:prstGeom prst="roundRect">
            <a:avLst>
              <a:gd name="adj" fmla="val 8602"/>
            </a:avLst>
          </a:prstGeom>
          <a:solidFill>
            <a:srgbClr val="FBEAEA"/>
          </a:solidFill>
          <a:ln>
            <a:noFill/>
          </a:ln>
        </p:spPr>
        <p:txBody>
          <a:bodyPr spcFirstLastPara="1" wrap="square" lIns="137150" tIns="27425" rIns="137150" bIns="27425" anchor="ctr" anchorCtr="0">
            <a:noAutofit/>
          </a:bodyPr>
          <a:lstStyle/>
          <a:p>
            <a:pPr marL="0" marR="0" lvl="0" indent="0" algn="ctr" rtl="0">
              <a:spcBef>
                <a:spcPts val="0"/>
              </a:spcBef>
              <a:spcAft>
                <a:spcPts val="0"/>
              </a:spcAft>
              <a:buNone/>
            </a:pPr>
            <a:r>
              <a:rPr lang="en-US" sz="1500" b="1" i="0" u="none" strike="noStrike" cap="none">
                <a:solidFill>
                  <a:srgbClr val="C00000"/>
                </a:solidFill>
                <a:latin typeface="Arial" panose="020B0604020202020204" pitchFamily="34" charset="0"/>
                <a:ea typeface="Lato"/>
                <a:cs typeface="Arial" panose="020B0604020202020204" pitchFamily="34" charset="0"/>
                <a:sym typeface="Lato"/>
              </a:rPr>
              <a:t>Kiểm thử</a:t>
            </a:r>
            <a:endParaRPr>
              <a:latin typeface="Arial" panose="020B0604020202020204" pitchFamily="34" charset="0"/>
            </a:endParaRPr>
          </a:p>
        </p:txBody>
      </p:sp>
      <p:sp>
        <p:nvSpPr>
          <p:cNvPr id="251" name="Google Shape;251;p21"/>
          <p:cNvSpPr txBox="1"/>
          <p:nvPr/>
        </p:nvSpPr>
        <p:spPr>
          <a:xfrm>
            <a:off x="2880360" y="5025741"/>
            <a:ext cx="5669279" cy="40011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Thư viện xử lý JSON có kiểm thử đơn vị; các thành viên thực hiện kiểm thử chéo.</a:t>
            </a:r>
            <a:endParaRPr>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2"/>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12</a:t>
            </a:fld>
            <a:endParaRPr/>
          </a:p>
        </p:txBody>
      </p:sp>
      <p:sp>
        <p:nvSpPr>
          <p:cNvPr id="257" name="Google Shape;257;p22"/>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sz="2800" b="1">
                <a:solidFill>
                  <a:schemeClr val="lt1"/>
                </a:solidFill>
                <a:sym typeface="Lato"/>
              </a:rPr>
              <a:t>Kiến trúc tổng quan</a:t>
            </a:r>
            <a:endParaRPr/>
          </a:p>
        </p:txBody>
      </p:sp>
      <p:sp>
        <p:nvSpPr>
          <p:cNvPr id="258" name="Google Shape;258;p22"/>
          <p:cNvSpPr/>
          <p:nvPr/>
        </p:nvSpPr>
        <p:spPr>
          <a:xfrm>
            <a:off x="411480" y="914400"/>
            <a:ext cx="8321040" cy="1213225"/>
          </a:xfrm>
          <a:prstGeom prst="roundRect">
            <a:avLst>
              <a:gd name="adj" fmla="val 6029"/>
            </a:avLst>
          </a:prstGeom>
          <a:solidFill>
            <a:srgbClr val="F3F3F3"/>
          </a:solidFill>
          <a:ln w="12700" cap="flat" cmpd="sng">
            <a:solidFill>
              <a:srgbClr val="8C8C8C"/>
            </a:solidFill>
            <a:prstDash val="solid"/>
            <a:miter lim="8000"/>
            <a:headEnd type="none" w="sm" len="sm"/>
            <a:tailEnd type="none" w="sm" len="sm"/>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9" name="Google Shape;259;p22"/>
          <p:cNvSpPr txBox="1"/>
          <p:nvPr/>
        </p:nvSpPr>
        <p:spPr>
          <a:xfrm>
            <a:off x="598469" y="973104"/>
            <a:ext cx="73152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1F1F1F"/>
                </a:solidFill>
                <a:latin typeface="Arial" panose="020B0604020202020204" pitchFamily="34" charset="0"/>
                <a:ea typeface="Lato"/>
                <a:cs typeface="Arial" panose="020B0604020202020204" pitchFamily="34" charset="0"/>
                <a:sym typeface="Lato"/>
              </a:rPr>
              <a:t>Ứng dụng di động: một mã nguồn cho Android và iOS</a:t>
            </a:r>
            <a:endParaRPr>
              <a:latin typeface="Arial" panose="020B0604020202020204" pitchFamily="34" charset="0"/>
            </a:endParaRPr>
          </a:p>
        </p:txBody>
      </p:sp>
      <p:sp>
        <p:nvSpPr>
          <p:cNvPr id="260" name="Google Shape;260;p22"/>
          <p:cNvSpPr/>
          <p:nvPr/>
        </p:nvSpPr>
        <p:spPr>
          <a:xfrm>
            <a:off x="411480" y="2675534"/>
            <a:ext cx="6077164" cy="2191633"/>
          </a:xfrm>
          <a:prstGeom prst="roundRect">
            <a:avLst>
              <a:gd name="adj" fmla="val 3337"/>
            </a:avLst>
          </a:prstGeom>
          <a:solidFill>
            <a:srgbClr val="F3F3F3"/>
          </a:solidFill>
          <a:ln w="12700" cap="flat" cmpd="sng">
            <a:solidFill>
              <a:srgbClr val="8C8C8C"/>
            </a:solidFill>
            <a:prstDash val="solid"/>
            <a:miter lim="8000"/>
            <a:headEnd type="none" w="sm" len="sm"/>
            <a:tailEnd type="none" w="sm" len="sm"/>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1" name="Google Shape;261;p22"/>
          <p:cNvSpPr txBox="1"/>
          <p:nvPr/>
        </p:nvSpPr>
        <p:spPr>
          <a:xfrm>
            <a:off x="598469" y="2734238"/>
            <a:ext cx="54864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1F1F1F"/>
                </a:solidFill>
                <a:latin typeface="Arial" panose="020B0604020202020204" pitchFamily="34" charset="0"/>
                <a:ea typeface="Lato"/>
                <a:cs typeface="Arial" panose="020B0604020202020204" pitchFamily="34" charset="0"/>
                <a:sym typeface="Lato"/>
              </a:rPr>
              <a:t>Service server: REST API tại /it4788/</a:t>
            </a:r>
            <a:endParaRPr>
              <a:latin typeface="Arial" panose="020B0604020202020204" pitchFamily="34" charset="0"/>
            </a:endParaRPr>
          </a:p>
        </p:txBody>
      </p:sp>
      <p:cxnSp>
        <p:nvCxnSpPr>
          <p:cNvPr id="262" name="Google Shape;262;p22"/>
          <p:cNvCxnSpPr/>
          <p:nvPr/>
        </p:nvCxnSpPr>
        <p:spPr>
          <a:xfrm>
            <a:off x="2000892" y="2127625"/>
            <a:ext cx="0" cy="547909"/>
          </a:xfrm>
          <a:prstGeom prst="straightConnector1">
            <a:avLst/>
          </a:prstGeom>
          <a:noFill/>
          <a:ln w="15875" cap="flat" cmpd="sng">
            <a:solidFill>
              <a:srgbClr val="8C8C8C"/>
            </a:solidFill>
            <a:prstDash val="solid"/>
            <a:miter lim="8000"/>
            <a:headEnd type="none" w="sm" len="sm"/>
            <a:tailEnd type="triangle" w="med" len="med"/>
          </a:ln>
        </p:spPr>
      </p:cxnSp>
      <p:cxnSp>
        <p:nvCxnSpPr>
          <p:cNvPr id="263" name="Google Shape;263;p22"/>
          <p:cNvCxnSpPr/>
          <p:nvPr/>
        </p:nvCxnSpPr>
        <p:spPr>
          <a:xfrm rot="10800000">
            <a:off x="7844319" y="2127625"/>
            <a:ext cx="0" cy="704454"/>
          </a:xfrm>
          <a:prstGeom prst="straightConnector1">
            <a:avLst/>
          </a:prstGeom>
          <a:noFill/>
          <a:ln w="15875" cap="flat" cmpd="sng">
            <a:solidFill>
              <a:srgbClr val="8C8C8C"/>
            </a:solidFill>
            <a:prstDash val="solid"/>
            <a:miter lim="8000"/>
            <a:headEnd type="none" w="sm" len="sm"/>
            <a:tailEnd type="triangle" w="med" len="med"/>
          </a:ln>
        </p:spPr>
      </p:cxnSp>
      <p:cxnSp>
        <p:nvCxnSpPr>
          <p:cNvPr id="264" name="Google Shape;264;p22"/>
          <p:cNvCxnSpPr/>
          <p:nvPr/>
        </p:nvCxnSpPr>
        <p:spPr>
          <a:xfrm>
            <a:off x="6488644" y="3106033"/>
            <a:ext cx="467474" cy="0"/>
          </a:xfrm>
          <a:prstGeom prst="straightConnector1">
            <a:avLst/>
          </a:prstGeom>
          <a:noFill/>
          <a:ln w="15875" cap="flat" cmpd="sng">
            <a:solidFill>
              <a:srgbClr val="8C8C8C"/>
            </a:solidFill>
            <a:prstDash val="solid"/>
            <a:miter lim="8000"/>
            <a:headEnd type="none" w="sm" len="sm"/>
            <a:tailEnd type="triangle" w="med" len="med"/>
          </a:ln>
        </p:spPr>
      </p:cxnSp>
      <p:cxnSp>
        <p:nvCxnSpPr>
          <p:cNvPr id="265" name="Google Shape;265;p22"/>
          <p:cNvCxnSpPr/>
          <p:nvPr/>
        </p:nvCxnSpPr>
        <p:spPr>
          <a:xfrm>
            <a:off x="6488644" y="4123578"/>
            <a:ext cx="467474" cy="0"/>
          </a:xfrm>
          <a:prstGeom prst="straightConnector1">
            <a:avLst/>
          </a:prstGeom>
          <a:noFill/>
          <a:ln w="15875" cap="flat" cmpd="sng">
            <a:solidFill>
              <a:srgbClr val="8C8C8C"/>
            </a:solidFill>
            <a:prstDash val="solid"/>
            <a:miter lim="8000"/>
            <a:headEnd type="none" w="sm" len="sm"/>
            <a:tailEnd type="triangle" w="med" len="med"/>
          </a:ln>
        </p:spPr>
      </p:cxnSp>
      <p:cxnSp>
        <p:nvCxnSpPr>
          <p:cNvPr id="266" name="Google Shape;266;p22"/>
          <p:cNvCxnSpPr/>
          <p:nvPr/>
        </p:nvCxnSpPr>
        <p:spPr>
          <a:xfrm>
            <a:off x="1884023" y="4867168"/>
            <a:ext cx="0" cy="391363"/>
          </a:xfrm>
          <a:prstGeom prst="straightConnector1">
            <a:avLst/>
          </a:prstGeom>
          <a:noFill/>
          <a:ln w="15875" cap="flat" cmpd="sng">
            <a:solidFill>
              <a:srgbClr val="8C8C8C"/>
            </a:solidFill>
            <a:prstDash val="solid"/>
            <a:miter lim="8000"/>
            <a:headEnd type="none" w="sm" len="sm"/>
            <a:tailEnd type="triangle" w="med" len="med"/>
          </a:ln>
        </p:spPr>
      </p:cxnSp>
      <p:cxnSp>
        <p:nvCxnSpPr>
          <p:cNvPr id="267" name="Google Shape;267;p22"/>
          <p:cNvCxnSpPr/>
          <p:nvPr/>
        </p:nvCxnSpPr>
        <p:spPr>
          <a:xfrm>
            <a:off x="5016100" y="4867168"/>
            <a:ext cx="0" cy="391363"/>
          </a:xfrm>
          <a:prstGeom prst="straightConnector1">
            <a:avLst/>
          </a:prstGeom>
          <a:noFill/>
          <a:ln w="15875" cap="flat" cmpd="sng">
            <a:solidFill>
              <a:srgbClr val="8C8C8C"/>
            </a:solidFill>
            <a:prstDash val="solid"/>
            <a:miter lim="8000"/>
            <a:headEnd type="none" w="sm" len="sm"/>
            <a:tailEnd type="triangle" w="med" len="med"/>
          </a:ln>
        </p:spPr>
      </p:cxnSp>
      <p:sp>
        <p:nvSpPr>
          <p:cNvPr id="268" name="Google Shape;268;p22"/>
          <p:cNvSpPr txBox="1"/>
          <p:nvPr/>
        </p:nvSpPr>
        <p:spPr>
          <a:xfrm>
            <a:off x="2117760" y="2293955"/>
            <a:ext cx="36576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REST qua HTTPS · JSON · Bearer token</a:t>
            </a:r>
            <a:endParaRPr>
              <a:latin typeface="Arial" panose="020B0604020202020204" pitchFamily="34" charset="0"/>
            </a:endParaRPr>
          </a:p>
        </p:txBody>
      </p:sp>
      <p:sp>
        <p:nvSpPr>
          <p:cNvPr id="269" name="Google Shape;269;p22"/>
          <p:cNvSpPr txBox="1"/>
          <p:nvPr/>
        </p:nvSpPr>
        <p:spPr>
          <a:xfrm>
            <a:off x="4984250" y="2293955"/>
            <a:ext cx="2743200" cy="161583"/>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thông báo đẩy tới thiết bị</a:t>
            </a:r>
            <a:endParaRPr>
              <a:latin typeface="Arial" panose="020B0604020202020204" pitchFamily="34" charset="0"/>
            </a:endParaRPr>
          </a:p>
        </p:txBody>
      </p:sp>
      <p:sp>
        <p:nvSpPr>
          <p:cNvPr id="270" name="Google Shape;270;p22"/>
          <p:cNvSpPr txBox="1"/>
          <p:nvPr/>
        </p:nvSpPr>
        <p:spPr>
          <a:xfrm>
            <a:off x="2000892" y="4965009"/>
            <a:ext cx="9144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SQL</a:t>
            </a:r>
            <a:endParaRPr>
              <a:latin typeface="Arial" panose="020B0604020202020204" pitchFamily="34" charset="0"/>
            </a:endParaRPr>
          </a:p>
        </p:txBody>
      </p:sp>
      <p:sp>
        <p:nvSpPr>
          <p:cNvPr id="271" name="Google Shape;271;p22"/>
          <p:cNvSpPr txBox="1"/>
          <p:nvPr/>
        </p:nvSpPr>
        <p:spPr>
          <a:xfrm>
            <a:off x="5132968" y="4965009"/>
            <a:ext cx="13716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tệp ảnh</a:t>
            </a:r>
            <a:endParaRPr>
              <a:latin typeface="Arial" panose="020B0604020202020204" pitchFamily="34" charset="0"/>
            </a:endParaRPr>
          </a:p>
        </p:txBody>
      </p:sp>
      <p:sp>
        <p:nvSpPr>
          <p:cNvPr id="272" name="Google Shape;272;p22"/>
          <p:cNvSpPr/>
          <p:nvPr/>
        </p:nvSpPr>
        <p:spPr>
          <a:xfrm>
            <a:off x="598469" y="1266626"/>
            <a:ext cx="1846522" cy="704453"/>
          </a:xfrm>
          <a:prstGeom prst="roundRect">
            <a:avLst>
              <a:gd name="adj" fmla="val 10384"/>
            </a:avLst>
          </a:prstGeom>
          <a:solidFill>
            <a:srgbClr val="FFFFFF"/>
          </a:solidFill>
          <a:ln w="12700" cap="flat" cmpd="sng">
            <a:solidFill>
              <a:srgbClr val="8C8C8C"/>
            </a:solidFill>
            <a:prstDash val="solid"/>
            <a:miter lim="8000"/>
            <a:headEnd type="none" w="sm" len="sm"/>
            <a:tailEnd type="none" w="sm" len="sm"/>
          </a:ln>
        </p:spPr>
        <p:txBody>
          <a:bodyPr spcFirstLastPara="1" wrap="square" lIns="109725" tIns="27425" rIns="109725" bIns="27425" anchor="ctr" anchorCtr="0">
            <a:noAutofit/>
          </a:bodyPr>
          <a:lstStyle/>
          <a:p>
            <a:pPr marL="0" marR="0" lvl="0" indent="0" algn="l" rtl="0">
              <a:spcBef>
                <a:spcPts val="0"/>
              </a:spcBef>
              <a:spcAft>
                <a:spcPts val="0"/>
              </a:spcAft>
              <a:buNone/>
            </a:pPr>
            <a:r>
              <a:rPr lang="en-US" sz="1200" b="1" i="0" u="none" strike="noStrike" cap="none">
                <a:solidFill>
                  <a:srgbClr val="1F1F1F"/>
                </a:solidFill>
                <a:latin typeface="Arial" panose="020B0604020202020204" pitchFamily="34" charset="0"/>
                <a:ea typeface="Lato"/>
                <a:cs typeface="Arial" panose="020B0604020202020204" pitchFamily="34" charset="0"/>
                <a:sym typeface="Lato"/>
              </a:rPr>
              <a:t>Giao diện</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màn hình, điều hướng</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hiển thị theo vai trò</a:t>
            </a:r>
            <a:endParaRPr>
              <a:latin typeface="Arial" panose="020B0604020202020204" pitchFamily="34" charset="0"/>
            </a:endParaRPr>
          </a:p>
        </p:txBody>
      </p:sp>
      <p:sp>
        <p:nvSpPr>
          <p:cNvPr id="273" name="Google Shape;273;p22"/>
          <p:cNvSpPr/>
          <p:nvPr/>
        </p:nvSpPr>
        <p:spPr>
          <a:xfrm>
            <a:off x="2631982" y="1266626"/>
            <a:ext cx="1846522" cy="704453"/>
          </a:xfrm>
          <a:prstGeom prst="roundRect">
            <a:avLst>
              <a:gd name="adj" fmla="val 10384"/>
            </a:avLst>
          </a:prstGeom>
          <a:solidFill>
            <a:srgbClr val="FFFFFF"/>
          </a:solidFill>
          <a:ln w="12700" cap="flat" cmpd="sng">
            <a:solidFill>
              <a:srgbClr val="8C8C8C"/>
            </a:solidFill>
            <a:prstDash val="solid"/>
            <a:miter lim="8000"/>
            <a:headEnd type="none" w="sm" len="sm"/>
            <a:tailEnd type="none" w="sm" len="sm"/>
          </a:ln>
        </p:spPr>
        <p:txBody>
          <a:bodyPr spcFirstLastPara="1" wrap="square" lIns="109725" tIns="27425" rIns="109725" bIns="27425" anchor="ctr" anchorCtr="0">
            <a:noAutofit/>
          </a:bodyPr>
          <a:lstStyle/>
          <a:p>
            <a:pPr marL="0" marR="0" lvl="0" indent="0" algn="l" rtl="0">
              <a:spcBef>
                <a:spcPts val="0"/>
              </a:spcBef>
              <a:spcAft>
                <a:spcPts val="0"/>
              </a:spcAft>
              <a:buNone/>
            </a:pPr>
            <a:r>
              <a:rPr lang="en-US" sz="1200" b="1" i="0" u="none" strike="noStrike" cap="none">
                <a:solidFill>
                  <a:srgbClr val="1F1F1F"/>
                </a:solidFill>
                <a:latin typeface="Arial" panose="020B0604020202020204" pitchFamily="34" charset="0"/>
                <a:ea typeface="Lato"/>
                <a:cs typeface="Arial" panose="020B0604020202020204" pitchFamily="34" charset="0"/>
                <a:sym typeface="Lato"/>
              </a:rPr>
              <a:t>Trạng thái</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dữ liệu mỗi tính năng</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bản lưu cục bộ</a:t>
            </a:r>
            <a:endParaRPr>
              <a:latin typeface="Arial" panose="020B0604020202020204" pitchFamily="34" charset="0"/>
            </a:endParaRPr>
          </a:p>
        </p:txBody>
      </p:sp>
      <p:sp>
        <p:nvSpPr>
          <p:cNvPr id="274" name="Google Shape;274;p22"/>
          <p:cNvSpPr/>
          <p:nvPr/>
        </p:nvSpPr>
        <p:spPr>
          <a:xfrm>
            <a:off x="4665494" y="1266626"/>
            <a:ext cx="1846522" cy="704453"/>
          </a:xfrm>
          <a:prstGeom prst="roundRect">
            <a:avLst>
              <a:gd name="adj" fmla="val 10384"/>
            </a:avLst>
          </a:prstGeom>
          <a:solidFill>
            <a:srgbClr val="FFFFFF"/>
          </a:solidFill>
          <a:ln w="12700" cap="flat" cmpd="sng">
            <a:solidFill>
              <a:srgbClr val="8C8C8C"/>
            </a:solidFill>
            <a:prstDash val="solid"/>
            <a:miter lim="8000"/>
            <a:headEnd type="none" w="sm" len="sm"/>
            <a:tailEnd type="none" w="sm" len="sm"/>
          </a:ln>
        </p:spPr>
        <p:txBody>
          <a:bodyPr spcFirstLastPara="1" wrap="square" lIns="109725" tIns="27425" rIns="109725" bIns="27425" anchor="ctr" anchorCtr="0">
            <a:noAutofit/>
          </a:bodyPr>
          <a:lstStyle/>
          <a:p>
            <a:pPr marL="0" marR="0" lvl="0" indent="0" algn="l" rtl="0">
              <a:spcBef>
                <a:spcPts val="0"/>
              </a:spcBef>
              <a:spcAft>
                <a:spcPts val="0"/>
              </a:spcAft>
              <a:buNone/>
            </a:pPr>
            <a:r>
              <a:rPr lang="en-US" sz="1200" b="1" i="0" u="none" strike="noStrike" cap="none">
                <a:solidFill>
                  <a:srgbClr val="1F1F1F"/>
                </a:solidFill>
                <a:latin typeface="Arial" panose="020B0604020202020204" pitchFamily="34" charset="0"/>
                <a:ea typeface="Lato"/>
                <a:cs typeface="Arial" panose="020B0604020202020204" pitchFamily="34" charset="0"/>
                <a:sym typeface="Lato"/>
              </a:rPr>
              <a:t>Tầng API</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API client</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thư viện xử lý JSON</a:t>
            </a:r>
            <a:endParaRPr>
              <a:latin typeface="Arial" panose="020B0604020202020204" pitchFamily="34" charset="0"/>
            </a:endParaRPr>
          </a:p>
        </p:txBody>
      </p:sp>
      <p:sp>
        <p:nvSpPr>
          <p:cNvPr id="275" name="Google Shape;275;p22"/>
          <p:cNvSpPr/>
          <p:nvPr/>
        </p:nvSpPr>
        <p:spPr>
          <a:xfrm>
            <a:off x="6699007" y="1266626"/>
            <a:ext cx="1846522" cy="704453"/>
          </a:xfrm>
          <a:prstGeom prst="roundRect">
            <a:avLst>
              <a:gd name="adj" fmla="val 10384"/>
            </a:avLst>
          </a:prstGeom>
          <a:solidFill>
            <a:srgbClr val="FFFFFF"/>
          </a:solidFill>
          <a:ln w="12700" cap="flat" cmpd="sng">
            <a:solidFill>
              <a:srgbClr val="8C8C8C"/>
            </a:solidFill>
            <a:prstDash val="solid"/>
            <a:miter lim="8000"/>
            <a:headEnd type="none" w="sm" len="sm"/>
            <a:tailEnd type="none" w="sm" len="sm"/>
          </a:ln>
        </p:spPr>
        <p:txBody>
          <a:bodyPr spcFirstLastPara="1" wrap="square" lIns="109725" tIns="27425" rIns="109725" bIns="27425" anchor="ctr" anchorCtr="0">
            <a:noAutofit/>
          </a:bodyPr>
          <a:lstStyle/>
          <a:p>
            <a:pPr marL="0" marR="0" lvl="0" indent="0" algn="l" rtl="0">
              <a:spcBef>
                <a:spcPts val="0"/>
              </a:spcBef>
              <a:spcAft>
                <a:spcPts val="0"/>
              </a:spcAft>
              <a:buNone/>
            </a:pPr>
            <a:r>
              <a:rPr lang="en-US" sz="1200" b="1" i="0" u="none" strike="noStrike" cap="none">
                <a:solidFill>
                  <a:srgbClr val="1F1F1F"/>
                </a:solidFill>
                <a:latin typeface="Arial" panose="020B0604020202020204" pitchFamily="34" charset="0"/>
                <a:ea typeface="Lato"/>
                <a:cs typeface="Arial" panose="020B0604020202020204" pitchFamily="34" charset="0"/>
                <a:sym typeface="Lato"/>
              </a:rPr>
              <a:t>Thông báo đẩy</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nhận và hiển thị</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mở màn hình liên quan</a:t>
            </a:r>
            <a:endParaRPr>
              <a:latin typeface="Arial" panose="020B0604020202020204" pitchFamily="34" charset="0"/>
            </a:endParaRPr>
          </a:p>
        </p:txBody>
      </p:sp>
      <p:sp>
        <p:nvSpPr>
          <p:cNvPr id="276" name="Google Shape;276;p22"/>
          <p:cNvSpPr/>
          <p:nvPr/>
        </p:nvSpPr>
        <p:spPr>
          <a:xfrm>
            <a:off x="598469" y="3027761"/>
            <a:ext cx="5703184" cy="352226"/>
          </a:xfrm>
          <a:prstGeom prst="roundRect">
            <a:avLst>
              <a:gd name="adj" fmla="val 20768"/>
            </a:avLst>
          </a:prstGeom>
          <a:solidFill>
            <a:srgbClr val="FFFFFF"/>
          </a:solidFill>
          <a:ln w="12700" cap="flat" cmpd="sng">
            <a:solidFill>
              <a:srgbClr val="8C8C8C"/>
            </a:solidFill>
            <a:prstDash val="solid"/>
            <a:miter lim="8000"/>
            <a:headEnd type="none" w="sm" len="sm"/>
            <a:tailEnd type="none" w="sm" len="sm"/>
          </a:ln>
        </p:spPr>
        <p:txBody>
          <a:bodyPr spcFirstLastPara="1" wrap="square" lIns="73150" tIns="27425" rIns="73150" bIns="27425" anchor="ctr" anchorCtr="0">
            <a:noAutofit/>
          </a:bodyPr>
          <a:lstStyle/>
          <a:p>
            <a:pPr marL="0" marR="0" lvl="0" indent="0" algn="ctr" rtl="0">
              <a:spcBef>
                <a:spcPts val="0"/>
              </a:spcBef>
              <a:spcAft>
                <a:spcPts val="0"/>
              </a:spcAft>
              <a:buNone/>
            </a:pPr>
            <a:r>
              <a:rPr lang="en-US" sz="1150" b="0" i="0" u="none" strike="noStrike" cap="none">
                <a:solidFill>
                  <a:srgbClr val="1F1F1F"/>
                </a:solidFill>
                <a:latin typeface="Arial" panose="020B0604020202020204" pitchFamily="34" charset="0"/>
                <a:ea typeface="Lato"/>
                <a:cs typeface="Arial" panose="020B0604020202020204" pitchFamily="34" charset="0"/>
                <a:sym typeface="Lato"/>
              </a:rPr>
              <a:t>Middleware: xác thực JWT · phân quyền · giới hạn tần suất</a:t>
            </a:r>
            <a:endParaRPr>
              <a:latin typeface="Arial" panose="020B0604020202020204" pitchFamily="34" charset="0"/>
            </a:endParaRPr>
          </a:p>
        </p:txBody>
      </p:sp>
      <p:sp>
        <p:nvSpPr>
          <p:cNvPr id="277" name="Google Shape;277;p22"/>
          <p:cNvSpPr/>
          <p:nvPr/>
        </p:nvSpPr>
        <p:spPr>
          <a:xfrm>
            <a:off x="598469" y="3497397"/>
            <a:ext cx="1065841" cy="313090"/>
          </a:xfrm>
          <a:prstGeom prst="roundRect">
            <a:avLst>
              <a:gd name="adj" fmla="val 23364"/>
            </a:avLst>
          </a:prstGeom>
          <a:solidFill>
            <a:srgbClr val="FFFFFF"/>
          </a:solidFill>
          <a:ln w="12700" cap="flat" cmpd="sng">
            <a:solidFill>
              <a:srgbClr val="8C8C8C"/>
            </a:solidFill>
            <a:prstDash val="solid"/>
            <a:miter lim="8000"/>
            <a:headEnd type="none" w="sm" len="sm"/>
            <a:tailEnd type="none" w="sm" len="sm"/>
          </a:ln>
        </p:spPr>
        <p:txBody>
          <a:bodyPr spcFirstLastPara="1" wrap="square" lIns="27425" tIns="27425" rIns="27425" bIns="27425" anchor="ctr" anchorCtr="0">
            <a:noAutofit/>
          </a:bodyPr>
          <a:lstStyle/>
          <a:p>
            <a:pPr marL="0" marR="0" lvl="0" indent="0" algn="ctr" rtl="0">
              <a:spcBef>
                <a:spcPts val="0"/>
              </a:spcBef>
              <a:spcAft>
                <a:spcPts val="0"/>
              </a:spcAft>
              <a:buNone/>
            </a:pPr>
            <a:r>
              <a:rPr lang="en-US" sz="1100" b="0" i="0" u="none" strike="noStrike" cap="none">
                <a:solidFill>
                  <a:srgbClr val="1F1F1F"/>
                </a:solidFill>
                <a:latin typeface="Arial" panose="020B0604020202020204" pitchFamily="34" charset="0"/>
                <a:ea typeface="Lato"/>
                <a:cs typeface="Arial" panose="020B0604020202020204" pitchFamily="34" charset="0"/>
                <a:sym typeface="Lato"/>
              </a:rPr>
              <a:t>Tài khoản</a:t>
            </a:r>
            <a:endParaRPr>
              <a:latin typeface="Arial" panose="020B0604020202020204" pitchFamily="34" charset="0"/>
            </a:endParaRPr>
          </a:p>
        </p:txBody>
      </p:sp>
      <p:sp>
        <p:nvSpPr>
          <p:cNvPr id="278" name="Google Shape;278;p22"/>
          <p:cNvSpPr/>
          <p:nvPr/>
        </p:nvSpPr>
        <p:spPr>
          <a:xfrm>
            <a:off x="1757805" y="3497397"/>
            <a:ext cx="1065841" cy="313090"/>
          </a:xfrm>
          <a:prstGeom prst="roundRect">
            <a:avLst>
              <a:gd name="adj" fmla="val 23364"/>
            </a:avLst>
          </a:prstGeom>
          <a:solidFill>
            <a:srgbClr val="FFFFFF"/>
          </a:solidFill>
          <a:ln w="12700" cap="flat" cmpd="sng">
            <a:solidFill>
              <a:srgbClr val="8C8C8C"/>
            </a:solidFill>
            <a:prstDash val="solid"/>
            <a:miter lim="8000"/>
            <a:headEnd type="none" w="sm" len="sm"/>
            <a:tailEnd type="none" w="sm" len="sm"/>
          </a:ln>
        </p:spPr>
        <p:txBody>
          <a:bodyPr spcFirstLastPara="1" wrap="square" lIns="27425" tIns="27425" rIns="27425" bIns="27425" anchor="ctr" anchorCtr="0">
            <a:noAutofit/>
          </a:bodyPr>
          <a:lstStyle/>
          <a:p>
            <a:pPr marL="0" marR="0" lvl="0" indent="0" algn="ctr" rtl="0">
              <a:spcBef>
                <a:spcPts val="0"/>
              </a:spcBef>
              <a:spcAft>
                <a:spcPts val="0"/>
              </a:spcAft>
              <a:buNone/>
            </a:pPr>
            <a:r>
              <a:rPr lang="en-US" sz="1100" b="0" i="0" u="none" strike="noStrike" cap="none">
                <a:solidFill>
                  <a:srgbClr val="1F1F1F"/>
                </a:solidFill>
                <a:latin typeface="Arial" panose="020B0604020202020204" pitchFamily="34" charset="0"/>
                <a:ea typeface="Lato"/>
                <a:cs typeface="Arial" panose="020B0604020202020204" pitchFamily="34" charset="0"/>
                <a:sym typeface="Lato"/>
              </a:rPr>
              <a:t>Nhóm</a:t>
            </a:r>
            <a:endParaRPr>
              <a:latin typeface="Arial" panose="020B0604020202020204" pitchFamily="34" charset="0"/>
            </a:endParaRPr>
          </a:p>
        </p:txBody>
      </p:sp>
      <p:sp>
        <p:nvSpPr>
          <p:cNvPr id="279" name="Google Shape;279;p22"/>
          <p:cNvSpPr/>
          <p:nvPr/>
        </p:nvSpPr>
        <p:spPr>
          <a:xfrm>
            <a:off x="2917141" y="3497397"/>
            <a:ext cx="1065841" cy="313090"/>
          </a:xfrm>
          <a:prstGeom prst="roundRect">
            <a:avLst>
              <a:gd name="adj" fmla="val 23364"/>
            </a:avLst>
          </a:prstGeom>
          <a:solidFill>
            <a:srgbClr val="FFFFFF"/>
          </a:solidFill>
          <a:ln w="12700" cap="flat" cmpd="sng">
            <a:solidFill>
              <a:srgbClr val="8C8C8C"/>
            </a:solidFill>
            <a:prstDash val="solid"/>
            <a:miter lim="8000"/>
            <a:headEnd type="none" w="sm" len="sm"/>
            <a:tailEnd type="none" w="sm" len="sm"/>
          </a:ln>
        </p:spPr>
        <p:txBody>
          <a:bodyPr spcFirstLastPara="1" wrap="square" lIns="27425" tIns="27425" rIns="27425" bIns="27425" anchor="ctr" anchorCtr="0">
            <a:noAutofit/>
          </a:bodyPr>
          <a:lstStyle/>
          <a:p>
            <a:pPr marL="0" marR="0" lvl="0" indent="0" algn="ctr" rtl="0">
              <a:spcBef>
                <a:spcPts val="0"/>
              </a:spcBef>
              <a:spcAft>
                <a:spcPts val="0"/>
              </a:spcAft>
              <a:buNone/>
            </a:pPr>
            <a:r>
              <a:rPr lang="en-US" sz="1100" b="0" i="0" u="none" strike="noStrike" cap="none">
                <a:solidFill>
                  <a:srgbClr val="1F1F1F"/>
                </a:solidFill>
                <a:latin typeface="Arial" panose="020B0604020202020204" pitchFamily="34" charset="0"/>
                <a:ea typeface="Lato"/>
                <a:cs typeface="Arial" panose="020B0604020202020204" pitchFamily="34" charset="0"/>
                <a:sym typeface="Lato"/>
              </a:rPr>
              <a:t>Danh mục</a:t>
            </a:r>
            <a:endParaRPr>
              <a:latin typeface="Arial" panose="020B0604020202020204" pitchFamily="34" charset="0"/>
            </a:endParaRPr>
          </a:p>
        </p:txBody>
      </p:sp>
      <p:sp>
        <p:nvSpPr>
          <p:cNvPr id="280" name="Google Shape;280;p22"/>
          <p:cNvSpPr/>
          <p:nvPr/>
        </p:nvSpPr>
        <p:spPr>
          <a:xfrm>
            <a:off x="4076477" y="3497397"/>
            <a:ext cx="1065841" cy="313090"/>
          </a:xfrm>
          <a:prstGeom prst="roundRect">
            <a:avLst>
              <a:gd name="adj" fmla="val 23364"/>
            </a:avLst>
          </a:prstGeom>
          <a:solidFill>
            <a:srgbClr val="FFFFFF"/>
          </a:solidFill>
          <a:ln w="12700" cap="flat" cmpd="sng">
            <a:solidFill>
              <a:srgbClr val="8C8C8C"/>
            </a:solidFill>
            <a:prstDash val="solid"/>
            <a:miter lim="8000"/>
            <a:headEnd type="none" w="sm" len="sm"/>
            <a:tailEnd type="none" w="sm" len="sm"/>
          </a:ln>
        </p:spPr>
        <p:txBody>
          <a:bodyPr spcFirstLastPara="1" wrap="square" lIns="27425" tIns="27425" rIns="27425" bIns="27425" anchor="ctr" anchorCtr="0">
            <a:noAutofit/>
          </a:bodyPr>
          <a:lstStyle/>
          <a:p>
            <a:pPr marL="0" marR="0" lvl="0" indent="0" algn="ctr" rtl="0">
              <a:spcBef>
                <a:spcPts val="0"/>
              </a:spcBef>
              <a:spcAft>
                <a:spcPts val="0"/>
              </a:spcAft>
              <a:buNone/>
            </a:pPr>
            <a:r>
              <a:rPr lang="en-US" sz="1100" b="0" i="0" u="none" strike="noStrike" cap="none">
                <a:solidFill>
                  <a:srgbClr val="1F1F1F"/>
                </a:solidFill>
                <a:latin typeface="Arial" panose="020B0604020202020204" pitchFamily="34" charset="0"/>
                <a:ea typeface="Lato"/>
                <a:cs typeface="Arial" panose="020B0604020202020204" pitchFamily="34" charset="0"/>
                <a:sym typeface="Lato"/>
              </a:rPr>
              <a:t>Thực phẩm</a:t>
            </a:r>
            <a:endParaRPr>
              <a:latin typeface="Arial" panose="020B0604020202020204" pitchFamily="34" charset="0"/>
            </a:endParaRPr>
          </a:p>
        </p:txBody>
      </p:sp>
      <p:sp>
        <p:nvSpPr>
          <p:cNvPr id="281" name="Google Shape;281;p22"/>
          <p:cNvSpPr/>
          <p:nvPr/>
        </p:nvSpPr>
        <p:spPr>
          <a:xfrm>
            <a:off x="5235813" y="3497397"/>
            <a:ext cx="1065841" cy="313090"/>
          </a:xfrm>
          <a:prstGeom prst="roundRect">
            <a:avLst>
              <a:gd name="adj" fmla="val 23364"/>
            </a:avLst>
          </a:prstGeom>
          <a:solidFill>
            <a:srgbClr val="FFFFFF"/>
          </a:solidFill>
          <a:ln w="12700" cap="flat" cmpd="sng">
            <a:solidFill>
              <a:srgbClr val="8C8C8C"/>
            </a:solidFill>
            <a:prstDash val="solid"/>
            <a:miter lim="8000"/>
            <a:headEnd type="none" w="sm" len="sm"/>
            <a:tailEnd type="none" w="sm" len="sm"/>
          </a:ln>
        </p:spPr>
        <p:txBody>
          <a:bodyPr spcFirstLastPara="1" wrap="square" lIns="27425" tIns="27425" rIns="27425" bIns="27425" anchor="ctr" anchorCtr="0">
            <a:noAutofit/>
          </a:bodyPr>
          <a:lstStyle/>
          <a:p>
            <a:pPr marL="0" marR="0" lvl="0" indent="0" algn="ctr" rtl="0">
              <a:spcBef>
                <a:spcPts val="0"/>
              </a:spcBef>
              <a:spcAft>
                <a:spcPts val="0"/>
              </a:spcAft>
              <a:buNone/>
            </a:pPr>
            <a:r>
              <a:rPr lang="en-US" sz="1100" b="0" i="0" u="none" strike="noStrike" cap="none">
                <a:solidFill>
                  <a:srgbClr val="1F1F1F"/>
                </a:solidFill>
                <a:latin typeface="Arial" panose="020B0604020202020204" pitchFamily="34" charset="0"/>
                <a:ea typeface="Lato"/>
                <a:cs typeface="Arial" panose="020B0604020202020204" pitchFamily="34" charset="0"/>
                <a:sym typeface="Lato"/>
              </a:rPr>
              <a:t>Tủ lạnh</a:t>
            </a:r>
            <a:endParaRPr>
              <a:latin typeface="Arial" panose="020B0604020202020204" pitchFamily="34" charset="0"/>
            </a:endParaRPr>
          </a:p>
        </p:txBody>
      </p:sp>
      <p:sp>
        <p:nvSpPr>
          <p:cNvPr id="282" name="Google Shape;282;p22"/>
          <p:cNvSpPr/>
          <p:nvPr/>
        </p:nvSpPr>
        <p:spPr>
          <a:xfrm>
            <a:off x="598469" y="3888760"/>
            <a:ext cx="1065841" cy="313090"/>
          </a:xfrm>
          <a:prstGeom prst="roundRect">
            <a:avLst>
              <a:gd name="adj" fmla="val 23364"/>
            </a:avLst>
          </a:prstGeom>
          <a:solidFill>
            <a:srgbClr val="FFFFFF"/>
          </a:solidFill>
          <a:ln w="12700" cap="flat" cmpd="sng">
            <a:solidFill>
              <a:srgbClr val="8C8C8C"/>
            </a:solidFill>
            <a:prstDash val="solid"/>
            <a:miter lim="8000"/>
            <a:headEnd type="none" w="sm" len="sm"/>
            <a:tailEnd type="none" w="sm" len="sm"/>
          </a:ln>
        </p:spPr>
        <p:txBody>
          <a:bodyPr spcFirstLastPara="1" wrap="square" lIns="27425" tIns="27425" rIns="27425" bIns="27425" anchor="ctr" anchorCtr="0">
            <a:noAutofit/>
          </a:bodyPr>
          <a:lstStyle/>
          <a:p>
            <a:pPr marL="0" marR="0" lvl="0" indent="0" algn="ctr" rtl="0">
              <a:spcBef>
                <a:spcPts val="0"/>
              </a:spcBef>
              <a:spcAft>
                <a:spcPts val="0"/>
              </a:spcAft>
              <a:buNone/>
            </a:pPr>
            <a:r>
              <a:rPr lang="en-US" sz="1100" b="0" i="0" u="none" strike="noStrike" cap="none">
                <a:solidFill>
                  <a:srgbClr val="1F1F1F"/>
                </a:solidFill>
                <a:latin typeface="Arial" panose="020B0604020202020204" pitchFamily="34" charset="0"/>
                <a:ea typeface="Lato"/>
                <a:cs typeface="Arial" panose="020B0604020202020204" pitchFamily="34" charset="0"/>
                <a:sym typeface="Lato"/>
              </a:rPr>
              <a:t>Mua sắm</a:t>
            </a:r>
            <a:endParaRPr>
              <a:latin typeface="Arial" panose="020B0604020202020204" pitchFamily="34" charset="0"/>
            </a:endParaRPr>
          </a:p>
        </p:txBody>
      </p:sp>
      <p:sp>
        <p:nvSpPr>
          <p:cNvPr id="283" name="Google Shape;283;p22"/>
          <p:cNvSpPr/>
          <p:nvPr/>
        </p:nvSpPr>
        <p:spPr>
          <a:xfrm>
            <a:off x="1757805" y="3888760"/>
            <a:ext cx="1065841" cy="313090"/>
          </a:xfrm>
          <a:prstGeom prst="roundRect">
            <a:avLst>
              <a:gd name="adj" fmla="val 23364"/>
            </a:avLst>
          </a:prstGeom>
          <a:solidFill>
            <a:srgbClr val="FFFFFF"/>
          </a:solidFill>
          <a:ln w="12700" cap="flat" cmpd="sng">
            <a:solidFill>
              <a:srgbClr val="8C8C8C"/>
            </a:solidFill>
            <a:prstDash val="solid"/>
            <a:miter lim="8000"/>
            <a:headEnd type="none" w="sm" len="sm"/>
            <a:tailEnd type="none" w="sm" len="sm"/>
          </a:ln>
        </p:spPr>
        <p:txBody>
          <a:bodyPr spcFirstLastPara="1" wrap="square" lIns="27425" tIns="27425" rIns="27425" bIns="27425" anchor="ctr" anchorCtr="0">
            <a:noAutofit/>
          </a:bodyPr>
          <a:lstStyle/>
          <a:p>
            <a:pPr marL="0" marR="0" lvl="0" indent="0" algn="ctr" rtl="0">
              <a:spcBef>
                <a:spcPts val="0"/>
              </a:spcBef>
              <a:spcAft>
                <a:spcPts val="0"/>
              </a:spcAft>
              <a:buNone/>
            </a:pPr>
            <a:r>
              <a:rPr lang="en-US" sz="1100" b="0" i="0" u="none" strike="noStrike" cap="none">
                <a:solidFill>
                  <a:srgbClr val="1F1F1F"/>
                </a:solidFill>
                <a:latin typeface="Arial" panose="020B0604020202020204" pitchFamily="34" charset="0"/>
                <a:ea typeface="Lato"/>
                <a:cs typeface="Arial" panose="020B0604020202020204" pitchFamily="34" charset="0"/>
                <a:sym typeface="Lato"/>
              </a:rPr>
              <a:t>Bữa ăn</a:t>
            </a:r>
            <a:endParaRPr>
              <a:latin typeface="Arial" panose="020B0604020202020204" pitchFamily="34" charset="0"/>
            </a:endParaRPr>
          </a:p>
        </p:txBody>
      </p:sp>
      <p:sp>
        <p:nvSpPr>
          <p:cNvPr id="284" name="Google Shape;284;p22"/>
          <p:cNvSpPr/>
          <p:nvPr/>
        </p:nvSpPr>
        <p:spPr>
          <a:xfrm>
            <a:off x="2917141" y="3888760"/>
            <a:ext cx="1065841" cy="313090"/>
          </a:xfrm>
          <a:prstGeom prst="roundRect">
            <a:avLst>
              <a:gd name="adj" fmla="val 23364"/>
            </a:avLst>
          </a:prstGeom>
          <a:solidFill>
            <a:srgbClr val="FFFFFF"/>
          </a:solidFill>
          <a:ln w="12700" cap="flat" cmpd="sng">
            <a:solidFill>
              <a:srgbClr val="8C8C8C"/>
            </a:solidFill>
            <a:prstDash val="solid"/>
            <a:miter lim="8000"/>
            <a:headEnd type="none" w="sm" len="sm"/>
            <a:tailEnd type="none" w="sm" len="sm"/>
          </a:ln>
        </p:spPr>
        <p:txBody>
          <a:bodyPr spcFirstLastPara="1" wrap="square" lIns="27425" tIns="27425" rIns="27425" bIns="27425" anchor="ctr" anchorCtr="0">
            <a:noAutofit/>
          </a:bodyPr>
          <a:lstStyle/>
          <a:p>
            <a:pPr marL="0" marR="0" lvl="0" indent="0" algn="ctr" rtl="0">
              <a:spcBef>
                <a:spcPts val="0"/>
              </a:spcBef>
              <a:spcAft>
                <a:spcPts val="0"/>
              </a:spcAft>
              <a:buNone/>
            </a:pPr>
            <a:r>
              <a:rPr lang="en-US" sz="1100" b="0" i="0" u="none" strike="noStrike" cap="none">
                <a:solidFill>
                  <a:srgbClr val="1F1F1F"/>
                </a:solidFill>
                <a:latin typeface="Arial" panose="020B0604020202020204" pitchFamily="34" charset="0"/>
                <a:ea typeface="Lato"/>
                <a:cs typeface="Arial" panose="020B0604020202020204" pitchFamily="34" charset="0"/>
                <a:sym typeface="Lato"/>
              </a:rPr>
              <a:t>Công thức</a:t>
            </a:r>
            <a:endParaRPr>
              <a:latin typeface="Arial" panose="020B0604020202020204" pitchFamily="34" charset="0"/>
            </a:endParaRPr>
          </a:p>
        </p:txBody>
      </p:sp>
      <p:sp>
        <p:nvSpPr>
          <p:cNvPr id="285" name="Google Shape;285;p22"/>
          <p:cNvSpPr/>
          <p:nvPr/>
        </p:nvSpPr>
        <p:spPr>
          <a:xfrm>
            <a:off x="4076477" y="3888760"/>
            <a:ext cx="1065841" cy="313090"/>
          </a:xfrm>
          <a:prstGeom prst="roundRect">
            <a:avLst>
              <a:gd name="adj" fmla="val 23364"/>
            </a:avLst>
          </a:prstGeom>
          <a:solidFill>
            <a:srgbClr val="FFFFFF"/>
          </a:solidFill>
          <a:ln w="12700" cap="flat" cmpd="sng">
            <a:solidFill>
              <a:srgbClr val="8C8C8C"/>
            </a:solidFill>
            <a:prstDash val="solid"/>
            <a:miter lim="8000"/>
            <a:headEnd type="none" w="sm" len="sm"/>
            <a:tailEnd type="none" w="sm" len="sm"/>
          </a:ln>
        </p:spPr>
        <p:txBody>
          <a:bodyPr spcFirstLastPara="1" wrap="square" lIns="27425" tIns="27425" rIns="27425" bIns="27425" anchor="ctr" anchorCtr="0">
            <a:noAutofit/>
          </a:bodyPr>
          <a:lstStyle/>
          <a:p>
            <a:pPr marL="0" marR="0" lvl="0" indent="0" algn="ctr" rtl="0">
              <a:spcBef>
                <a:spcPts val="0"/>
              </a:spcBef>
              <a:spcAft>
                <a:spcPts val="0"/>
              </a:spcAft>
              <a:buNone/>
            </a:pPr>
            <a:r>
              <a:rPr lang="en-US" sz="1100" b="0" i="0" u="none" strike="noStrike" cap="none">
                <a:solidFill>
                  <a:srgbClr val="1F1F1F"/>
                </a:solidFill>
                <a:latin typeface="Arial" panose="020B0604020202020204" pitchFamily="34" charset="0"/>
                <a:ea typeface="Lato"/>
                <a:cs typeface="Arial" panose="020B0604020202020204" pitchFamily="34" charset="0"/>
                <a:sym typeface="Lato"/>
              </a:rPr>
              <a:t>Báo cáo</a:t>
            </a:r>
            <a:endParaRPr>
              <a:latin typeface="Arial" panose="020B0604020202020204" pitchFamily="34" charset="0"/>
            </a:endParaRPr>
          </a:p>
        </p:txBody>
      </p:sp>
      <p:sp>
        <p:nvSpPr>
          <p:cNvPr id="286" name="Google Shape;286;p22"/>
          <p:cNvSpPr/>
          <p:nvPr/>
        </p:nvSpPr>
        <p:spPr>
          <a:xfrm>
            <a:off x="5235813" y="3888760"/>
            <a:ext cx="1065841" cy="313090"/>
          </a:xfrm>
          <a:prstGeom prst="roundRect">
            <a:avLst>
              <a:gd name="adj" fmla="val 23364"/>
            </a:avLst>
          </a:prstGeom>
          <a:solidFill>
            <a:srgbClr val="FFFFFF"/>
          </a:solidFill>
          <a:ln w="12700" cap="flat" cmpd="sng">
            <a:solidFill>
              <a:srgbClr val="8C8C8C"/>
            </a:solidFill>
            <a:prstDash val="solid"/>
            <a:miter lim="8000"/>
            <a:headEnd type="none" w="sm" len="sm"/>
            <a:tailEnd type="none" w="sm" len="sm"/>
          </a:ln>
        </p:spPr>
        <p:txBody>
          <a:bodyPr spcFirstLastPara="1" wrap="square" lIns="27425" tIns="27425" rIns="27425" bIns="27425" anchor="ctr" anchorCtr="0">
            <a:noAutofit/>
          </a:bodyPr>
          <a:lstStyle/>
          <a:p>
            <a:pPr marL="0" marR="0" lvl="0" indent="0" algn="ctr" rtl="0">
              <a:spcBef>
                <a:spcPts val="0"/>
              </a:spcBef>
              <a:spcAft>
                <a:spcPts val="0"/>
              </a:spcAft>
              <a:buNone/>
            </a:pPr>
            <a:r>
              <a:rPr lang="en-US" sz="1100" b="0" i="0" u="none" strike="noStrike" cap="none">
                <a:solidFill>
                  <a:srgbClr val="1F1F1F"/>
                </a:solidFill>
                <a:latin typeface="Arial" panose="020B0604020202020204" pitchFamily="34" charset="0"/>
                <a:ea typeface="Lato"/>
                <a:cs typeface="Arial" panose="020B0604020202020204" pitchFamily="34" charset="0"/>
                <a:sym typeface="Lato"/>
              </a:rPr>
              <a:t>Thông báo</a:t>
            </a:r>
            <a:endParaRPr>
              <a:latin typeface="Arial" panose="020B0604020202020204" pitchFamily="34" charset="0"/>
            </a:endParaRPr>
          </a:p>
        </p:txBody>
      </p:sp>
      <p:sp>
        <p:nvSpPr>
          <p:cNvPr id="287" name="Google Shape;287;p22"/>
          <p:cNvSpPr/>
          <p:nvPr/>
        </p:nvSpPr>
        <p:spPr>
          <a:xfrm>
            <a:off x="598469" y="4358396"/>
            <a:ext cx="2758097" cy="352226"/>
          </a:xfrm>
          <a:prstGeom prst="roundRect">
            <a:avLst>
              <a:gd name="adj" fmla="val 20768"/>
            </a:avLst>
          </a:prstGeom>
          <a:solidFill>
            <a:srgbClr val="FFFFFF"/>
          </a:solidFill>
          <a:ln w="12700" cap="flat" cmpd="sng">
            <a:solidFill>
              <a:srgbClr val="8C8C8C"/>
            </a:solidFill>
            <a:prstDash val="solid"/>
            <a:miter lim="8000"/>
            <a:headEnd type="none" w="sm" len="sm"/>
            <a:tailEnd type="none" w="sm" len="sm"/>
          </a:ln>
        </p:spPr>
        <p:txBody>
          <a:bodyPr spcFirstLastPara="1" wrap="square" lIns="73150" tIns="27425" rIns="73150" bIns="27425" anchor="ctr" anchorCtr="0">
            <a:noAutofit/>
          </a:bodyPr>
          <a:lstStyle/>
          <a:p>
            <a:pPr marL="0" marR="0" lvl="0" indent="0" algn="ctr" rtl="0">
              <a:spcBef>
                <a:spcPts val="0"/>
              </a:spcBef>
              <a:spcAft>
                <a:spcPts val="0"/>
              </a:spcAft>
              <a:buNone/>
            </a:pPr>
            <a:r>
              <a:rPr lang="en-US" sz="1150" b="0" i="0" u="none" strike="noStrike" cap="none">
                <a:solidFill>
                  <a:srgbClr val="1F1F1F"/>
                </a:solidFill>
                <a:latin typeface="Arial" panose="020B0604020202020204" pitchFamily="34" charset="0"/>
                <a:ea typeface="Lato"/>
                <a:cs typeface="Arial" panose="020B0604020202020204" pitchFamily="34" charset="0"/>
                <a:sym typeface="Lato"/>
              </a:rPr>
              <a:t>Bộ lập lịch kiểm tra hạn dùng</a:t>
            </a:r>
            <a:endParaRPr>
              <a:latin typeface="Arial" panose="020B0604020202020204" pitchFamily="34" charset="0"/>
            </a:endParaRPr>
          </a:p>
        </p:txBody>
      </p:sp>
      <p:sp>
        <p:nvSpPr>
          <p:cNvPr id="288" name="Google Shape;288;p22"/>
          <p:cNvSpPr/>
          <p:nvPr/>
        </p:nvSpPr>
        <p:spPr>
          <a:xfrm>
            <a:off x="3543556" y="4358396"/>
            <a:ext cx="2758097" cy="352226"/>
          </a:xfrm>
          <a:prstGeom prst="roundRect">
            <a:avLst>
              <a:gd name="adj" fmla="val 20768"/>
            </a:avLst>
          </a:prstGeom>
          <a:solidFill>
            <a:srgbClr val="FFFFFF"/>
          </a:solidFill>
          <a:ln w="12700" cap="flat" cmpd="sng">
            <a:solidFill>
              <a:srgbClr val="8C8C8C"/>
            </a:solidFill>
            <a:prstDash val="solid"/>
            <a:miter lim="8000"/>
            <a:headEnd type="none" w="sm" len="sm"/>
            <a:tailEnd type="none" w="sm" len="sm"/>
          </a:ln>
        </p:spPr>
        <p:txBody>
          <a:bodyPr spcFirstLastPara="1" wrap="square" lIns="73150" tIns="27425" rIns="73150" bIns="27425" anchor="ctr" anchorCtr="0">
            <a:noAutofit/>
          </a:bodyPr>
          <a:lstStyle/>
          <a:p>
            <a:pPr marL="0" marR="0" lvl="0" indent="0" algn="ctr" rtl="0">
              <a:spcBef>
                <a:spcPts val="0"/>
              </a:spcBef>
              <a:spcAft>
                <a:spcPts val="0"/>
              </a:spcAft>
              <a:buNone/>
            </a:pPr>
            <a:r>
              <a:rPr lang="en-US" sz="1150" b="0" i="0" u="none" strike="noStrike" cap="none">
                <a:solidFill>
                  <a:srgbClr val="1F1F1F"/>
                </a:solidFill>
                <a:latin typeface="Arial" panose="020B0604020202020204" pitchFamily="34" charset="0"/>
                <a:ea typeface="Lato"/>
                <a:cs typeface="Arial" panose="020B0604020202020204" pitchFamily="34" charset="0"/>
                <a:sym typeface="Lato"/>
              </a:rPr>
              <a:t>Tầng truy cập dữ liệu</a:t>
            </a:r>
            <a:endParaRPr>
              <a:latin typeface="Arial" panose="020B0604020202020204" pitchFamily="34" charset="0"/>
            </a:endParaRPr>
          </a:p>
        </p:txBody>
      </p:sp>
      <p:sp>
        <p:nvSpPr>
          <p:cNvPr id="289" name="Google Shape;289;p22"/>
          <p:cNvSpPr/>
          <p:nvPr/>
        </p:nvSpPr>
        <p:spPr>
          <a:xfrm>
            <a:off x="6956118" y="2832079"/>
            <a:ext cx="1776401" cy="547908"/>
          </a:xfrm>
          <a:prstGeom prst="roundRect">
            <a:avLst>
              <a:gd name="adj" fmla="val 13351"/>
            </a:avLst>
          </a:prstGeom>
          <a:solidFill>
            <a:srgbClr val="FFFFFF"/>
          </a:solidFill>
          <a:ln w="12700" cap="flat" cmpd="sng">
            <a:solidFill>
              <a:srgbClr val="8C8C8C"/>
            </a:solidFill>
            <a:prstDash val="solid"/>
            <a:miter lim="8000"/>
            <a:headEnd type="none" w="sm" len="sm"/>
            <a:tailEnd type="none" w="sm" len="sm"/>
          </a:ln>
        </p:spPr>
        <p:txBody>
          <a:bodyPr spcFirstLastPara="1" wrap="square" lIns="73150" tIns="27425" rIns="73150" bIns="27425" anchor="ctr" anchorCtr="0">
            <a:noAutofit/>
          </a:bodyPr>
          <a:lstStyle/>
          <a:p>
            <a:pPr marL="0" marR="0" lvl="0" indent="0" algn="ctr" rtl="0">
              <a:spcBef>
                <a:spcPts val="0"/>
              </a:spcBef>
              <a:spcAft>
                <a:spcPts val="0"/>
              </a:spcAft>
              <a:buNone/>
            </a:pPr>
            <a:r>
              <a:rPr lang="en-US" sz="1200" b="1" i="0" u="none" strike="noStrike" cap="none">
                <a:solidFill>
                  <a:srgbClr val="1F1F1F"/>
                </a:solidFill>
                <a:latin typeface="Arial" panose="020B0604020202020204" pitchFamily="34" charset="0"/>
                <a:ea typeface="Lato"/>
                <a:cs typeface="Arial" panose="020B0604020202020204" pitchFamily="34" charset="0"/>
                <a:sym typeface="Lato"/>
              </a:rPr>
              <a:t>Dịch vụ push</a:t>
            </a:r>
            <a:endParaRPr>
              <a:latin typeface="Arial" panose="020B0604020202020204" pitchFamily="34" charset="0"/>
            </a:endParaRPr>
          </a:p>
          <a:p>
            <a:pPr marL="0" marR="0" lvl="0" indent="0" algn="ctr"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FCM</a:t>
            </a:r>
            <a:endParaRPr>
              <a:latin typeface="Arial" panose="020B0604020202020204" pitchFamily="34" charset="0"/>
            </a:endParaRPr>
          </a:p>
        </p:txBody>
      </p:sp>
      <p:sp>
        <p:nvSpPr>
          <p:cNvPr id="290" name="Google Shape;290;p22"/>
          <p:cNvSpPr/>
          <p:nvPr/>
        </p:nvSpPr>
        <p:spPr>
          <a:xfrm>
            <a:off x="6956118" y="3849624"/>
            <a:ext cx="1776401" cy="547908"/>
          </a:xfrm>
          <a:prstGeom prst="roundRect">
            <a:avLst>
              <a:gd name="adj" fmla="val 13351"/>
            </a:avLst>
          </a:prstGeom>
          <a:solidFill>
            <a:srgbClr val="FFFFFF"/>
          </a:solidFill>
          <a:ln w="12700" cap="flat" cmpd="sng">
            <a:solidFill>
              <a:srgbClr val="8C8C8C"/>
            </a:solidFill>
            <a:prstDash val="solid"/>
            <a:miter lim="8000"/>
            <a:headEnd type="none" w="sm" len="sm"/>
            <a:tailEnd type="none" w="sm" len="sm"/>
          </a:ln>
        </p:spPr>
        <p:txBody>
          <a:bodyPr spcFirstLastPara="1" wrap="square" lIns="73150" tIns="27425" rIns="73150" bIns="27425" anchor="ctr" anchorCtr="0">
            <a:noAutofit/>
          </a:bodyPr>
          <a:lstStyle/>
          <a:p>
            <a:pPr marL="0" marR="0" lvl="0" indent="0" algn="ctr" rtl="0">
              <a:spcBef>
                <a:spcPts val="0"/>
              </a:spcBef>
              <a:spcAft>
                <a:spcPts val="0"/>
              </a:spcAft>
              <a:buNone/>
            </a:pPr>
            <a:r>
              <a:rPr lang="en-US" sz="1200" b="1" i="0" u="none" strike="noStrike" cap="none">
                <a:solidFill>
                  <a:srgbClr val="1F1F1F"/>
                </a:solidFill>
                <a:latin typeface="Arial" panose="020B0604020202020204" pitchFamily="34" charset="0"/>
                <a:ea typeface="Lato"/>
                <a:cs typeface="Arial" panose="020B0604020202020204" pitchFamily="34" charset="0"/>
                <a:sym typeface="Lato"/>
              </a:rPr>
              <a:t>Dịch vụ email</a:t>
            </a:r>
            <a:endParaRPr>
              <a:latin typeface="Arial" panose="020B0604020202020204" pitchFamily="34" charset="0"/>
            </a:endParaRPr>
          </a:p>
          <a:p>
            <a:pPr marL="0" marR="0" lvl="0" indent="0" algn="ctr"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gửi mã xác minh</a:t>
            </a:r>
            <a:endParaRPr>
              <a:latin typeface="Arial" panose="020B0604020202020204" pitchFamily="34" charset="0"/>
            </a:endParaRPr>
          </a:p>
        </p:txBody>
      </p:sp>
      <p:sp>
        <p:nvSpPr>
          <p:cNvPr id="291" name="Google Shape;291;p22"/>
          <p:cNvSpPr/>
          <p:nvPr/>
        </p:nvSpPr>
        <p:spPr>
          <a:xfrm>
            <a:off x="411480" y="5258531"/>
            <a:ext cx="2945087" cy="547908"/>
          </a:xfrm>
          <a:prstGeom prst="roundRect">
            <a:avLst>
              <a:gd name="adj" fmla="val 13351"/>
            </a:avLst>
          </a:prstGeom>
          <a:solidFill>
            <a:srgbClr val="FFFFFF"/>
          </a:solidFill>
          <a:ln w="12700" cap="flat" cmpd="sng">
            <a:solidFill>
              <a:srgbClr val="8C8C8C"/>
            </a:solidFill>
            <a:prstDash val="solid"/>
            <a:miter lim="8000"/>
            <a:headEnd type="none" w="sm" len="sm"/>
            <a:tailEnd type="none" w="sm" len="sm"/>
          </a:ln>
        </p:spPr>
        <p:txBody>
          <a:bodyPr spcFirstLastPara="1" wrap="square" lIns="73150" tIns="27425" rIns="73150" bIns="27425" anchor="ctr" anchorCtr="0">
            <a:noAutofit/>
          </a:bodyPr>
          <a:lstStyle/>
          <a:p>
            <a:pPr marL="0" marR="0" lvl="0" indent="0" algn="ctr" rtl="0">
              <a:spcBef>
                <a:spcPts val="0"/>
              </a:spcBef>
              <a:spcAft>
                <a:spcPts val="0"/>
              </a:spcAft>
              <a:buNone/>
            </a:pPr>
            <a:r>
              <a:rPr lang="en-US" sz="1200" b="1" i="0" u="none" strike="noStrike" cap="none">
                <a:solidFill>
                  <a:srgbClr val="1F1F1F"/>
                </a:solidFill>
                <a:latin typeface="Arial" panose="020B0604020202020204" pitchFamily="34" charset="0"/>
                <a:ea typeface="Lato"/>
                <a:cs typeface="Arial" panose="020B0604020202020204" pitchFamily="34" charset="0"/>
                <a:sym typeface="Lato"/>
              </a:rPr>
              <a:t>Database server</a:t>
            </a:r>
            <a:endParaRPr>
              <a:latin typeface="Arial" panose="020B0604020202020204" pitchFamily="34" charset="0"/>
            </a:endParaRPr>
          </a:p>
          <a:p>
            <a:pPr marL="0" marR="0" lvl="0" indent="0" algn="ctr"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CSDL quan hệ: dữ liệu nghiệp vụ, log</a:t>
            </a:r>
            <a:endParaRPr>
              <a:latin typeface="Arial" panose="020B0604020202020204" pitchFamily="34" charset="0"/>
            </a:endParaRPr>
          </a:p>
        </p:txBody>
      </p:sp>
      <p:sp>
        <p:nvSpPr>
          <p:cNvPr id="292" name="Google Shape;292;p22"/>
          <p:cNvSpPr/>
          <p:nvPr/>
        </p:nvSpPr>
        <p:spPr>
          <a:xfrm>
            <a:off x="3543556" y="5258531"/>
            <a:ext cx="2945087" cy="547908"/>
          </a:xfrm>
          <a:prstGeom prst="roundRect">
            <a:avLst>
              <a:gd name="adj" fmla="val 13351"/>
            </a:avLst>
          </a:prstGeom>
          <a:solidFill>
            <a:srgbClr val="FFFFFF"/>
          </a:solidFill>
          <a:ln w="12700" cap="flat" cmpd="sng">
            <a:solidFill>
              <a:srgbClr val="8C8C8C"/>
            </a:solidFill>
            <a:prstDash val="solid"/>
            <a:miter lim="8000"/>
            <a:headEnd type="none" w="sm" len="sm"/>
            <a:tailEnd type="none" w="sm" len="sm"/>
          </a:ln>
        </p:spPr>
        <p:txBody>
          <a:bodyPr spcFirstLastPara="1" wrap="square" lIns="73150" tIns="27425" rIns="73150" bIns="27425" anchor="ctr" anchorCtr="0">
            <a:noAutofit/>
          </a:bodyPr>
          <a:lstStyle/>
          <a:p>
            <a:pPr marL="0" marR="0" lvl="0" indent="0" algn="ctr" rtl="0">
              <a:spcBef>
                <a:spcPts val="0"/>
              </a:spcBef>
              <a:spcAft>
                <a:spcPts val="0"/>
              </a:spcAft>
              <a:buNone/>
            </a:pPr>
            <a:r>
              <a:rPr lang="en-US" sz="1200" b="1" i="0" u="none" strike="noStrike" cap="none">
                <a:solidFill>
                  <a:srgbClr val="1F1F1F"/>
                </a:solidFill>
                <a:latin typeface="Arial" panose="020B0604020202020204" pitchFamily="34" charset="0"/>
                <a:ea typeface="Lato"/>
                <a:cs typeface="Arial" panose="020B0604020202020204" pitchFamily="34" charset="0"/>
                <a:sym typeface="Lato"/>
              </a:rPr>
              <a:t>Lưu trữ tệp</a:t>
            </a:r>
            <a:endParaRPr>
              <a:latin typeface="Arial" panose="020B0604020202020204" pitchFamily="34" charset="0"/>
            </a:endParaRPr>
          </a:p>
          <a:p>
            <a:pPr marL="0" marR="0" lvl="0" indent="0" algn="ctr"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ảnh thực phẩm, ảnh đại diện</a:t>
            </a:r>
            <a:endParaRPr>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23"/>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13</a:t>
            </a:fld>
            <a:endParaRPr/>
          </a:p>
        </p:txBody>
      </p:sp>
      <p:sp>
        <p:nvSpPr>
          <p:cNvPr id="298" name="Google Shape;298;p23"/>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sz="2800" b="1">
                <a:solidFill>
                  <a:schemeClr val="lt1"/>
                </a:solidFill>
                <a:sym typeface="Lato"/>
              </a:rPr>
              <a:t>Quyết định thiết kế</a:t>
            </a:r>
            <a:endParaRPr/>
          </a:p>
        </p:txBody>
      </p:sp>
      <p:sp>
        <p:nvSpPr>
          <p:cNvPr id="299" name="Google Shape;299;p23"/>
          <p:cNvSpPr/>
          <p:nvPr/>
        </p:nvSpPr>
        <p:spPr>
          <a:xfrm>
            <a:off x="411480" y="1005840"/>
            <a:ext cx="4023359" cy="2240280"/>
          </a:xfrm>
          <a:prstGeom prst="roundRect">
            <a:avLst>
              <a:gd name="adj" fmla="val 3265"/>
            </a:avLst>
          </a:prstGeom>
          <a:solidFill>
            <a:srgbClr val="F3F3F3"/>
          </a:solidFill>
          <a:ln>
            <a:noFill/>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0" name="Google Shape;300;p23"/>
          <p:cNvSpPr/>
          <p:nvPr/>
        </p:nvSpPr>
        <p:spPr>
          <a:xfrm>
            <a:off x="411480" y="1005840"/>
            <a:ext cx="4023359" cy="685800"/>
          </a:xfrm>
          <a:prstGeom prst="roundRect">
            <a:avLst>
              <a:gd name="adj" fmla="val 10666"/>
            </a:avLst>
          </a:prstGeom>
          <a:solidFill>
            <a:srgbClr val="FBEAEA"/>
          </a:solidFill>
          <a:ln>
            <a:noFill/>
          </a:ln>
        </p:spPr>
        <p:txBody>
          <a:bodyPr spcFirstLastPara="1" wrap="square" lIns="228600" tIns="27425" rIns="228600" bIns="27425" anchor="ctr" anchorCtr="0">
            <a:noAutofit/>
          </a:bodyPr>
          <a:lstStyle/>
          <a:p>
            <a:pPr marL="0" marR="0" lvl="0" indent="0" algn="l" rtl="0">
              <a:spcBef>
                <a:spcPts val="0"/>
              </a:spcBef>
              <a:spcAft>
                <a:spcPts val="0"/>
              </a:spcAft>
              <a:buNone/>
            </a:pPr>
            <a:r>
              <a:rPr lang="en-US" sz="1400" b="1" i="0" u="none" strike="noStrike" cap="none">
                <a:solidFill>
                  <a:srgbClr val="C00000"/>
                </a:solidFill>
                <a:latin typeface="Arial" panose="020B0604020202020204" pitchFamily="34" charset="0"/>
                <a:ea typeface="Lato"/>
                <a:cs typeface="Arial" panose="020B0604020202020204" pitchFamily="34" charset="0"/>
                <a:sym typeface="Lato"/>
              </a:rPr>
              <a:t>Tổ chức server theo phân hệ</a:t>
            </a:r>
            <a:endParaRPr>
              <a:latin typeface="Arial" panose="020B0604020202020204" pitchFamily="34" charset="0"/>
            </a:endParaRPr>
          </a:p>
        </p:txBody>
      </p:sp>
      <p:sp>
        <p:nvSpPr>
          <p:cNvPr id="301" name="Google Shape;301;p23"/>
          <p:cNvSpPr txBox="1"/>
          <p:nvPr/>
        </p:nvSpPr>
        <p:spPr>
          <a:xfrm>
            <a:off x="640080" y="1874519"/>
            <a:ext cx="3566159" cy="80021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Service server gồm mười module nghiệp vụ, dùng chung một lớp middleware đảm nhiệm xác thực, phân quyền, giới hạn tần suất, và một tầng truy cập dữ liệu.</a:t>
            </a:r>
            <a:endParaRPr>
              <a:latin typeface="Arial" panose="020B0604020202020204" pitchFamily="34" charset="0"/>
            </a:endParaRPr>
          </a:p>
        </p:txBody>
      </p:sp>
      <p:sp>
        <p:nvSpPr>
          <p:cNvPr id="302" name="Google Shape;302;p23"/>
          <p:cNvSpPr/>
          <p:nvPr/>
        </p:nvSpPr>
        <p:spPr>
          <a:xfrm>
            <a:off x="4709159" y="1005840"/>
            <a:ext cx="4023359" cy="2240280"/>
          </a:xfrm>
          <a:prstGeom prst="roundRect">
            <a:avLst>
              <a:gd name="adj" fmla="val 3265"/>
            </a:avLst>
          </a:prstGeom>
          <a:solidFill>
            <a:srgbClr val="F3F3F3"/>
          </a:solidFill>
          <a:ln>
            <a:noFill/>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3" name="Google Shape;303;p23"/>
          <p:cNvSpPr/>
          <p:nvPr/>
        </p:nvSpPr>
        <p:spPr>
          <a:xfrm>
            <a:off x="4709159" y="1005840"/>
            <a:ext cx="4023359" cy="685800"/>
          </a:xfrm>
          <a:prstGeom prst="roundRect">
            <a:avLst>
              <a:gd name="adj" fmla="val 10666"/>
            </a:avLst>
          </a:prstGeom>
          <a:solidFill>
            <a:srgbClr val="FBEAEA"/>
          </a:solidFill>
          <a:ln>
            <a:noFill/>
          </a:ln>
        </p:spPr>
        <p:txBody>
          <a:bodyPr spcFirstLastPara="1" wrap="square" lIns="228600" tIns="27425" rIns="228600" bIns="27425" anchor="ctr" anchorCtr="0">
            <a:noAutofit/>
          </a:bodyPr>
          <a:lstStyle/>
          <a:p>
            <a:pPr marL="0" marR="0" lvl="0" indent="0" algn="l" rtl="0">
              <a:spcBef>
                <a:spcPts val="0"/>
              </a:spcBef>
              <a:spcAft>
                <a:spcPts val="0"/>
              </a:spcAft>
              <a:buNone/>
            </a:pPr>
            <a:r>
              <a:rPr lang="en-US" sz="1400" b="1" i="0" u="none" strike="noStrike" cap="none">
                <a:solidFill>
                  <a:srgbClr val="C00000"/>
                </a:solidFill>
                <a:latin typeface="Arial" panose="020B0604020202020204" pitchFamily="34" charset="0"/>
                <a:ea typeface="Lato"/>
                <a:cs typeface="Arial" panose="020B0604020202020204" pitchFamily="34" charset="0"/>
                <a:sym typeface="Lato"/>
              </a:rPr>
              <a:t>Server không lưu trạng thái phiên</a:t>
            </a:r>
            <a:endParaRPr>
              <a:latin typeface="Arial" panose="020B0604020202020204" pitchFamily="34" charset="0"/>
            </a:endParaRPr>
          </a:p>
        </p:txBody>
      </p:sp>
      <p:sp>
        <p:nvSpPr>
          <p:cNvPr id="304" name="Google Shape;304;p23"/>
          <p:cNvSpPr txBox="1"/>
          <p:nvPr/>
        </p:nvSpPr>
        <p:spPr>
          <a:xfrm>
            <a:off x="4937759" y="1874519"/>
            <a:ext cx="3566159" cy="60016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Mỗi yêu cầu mang token xác thực, do đó server không phụ thuộc vào bộ nhớ phiên và vận hành như nhau khi chạy cục bộ hoặc trên máy chủ.</a:t>
            </a:r>
            <a:endParaRPr>
              <a:latin typeface="Arial" panose="020B0604020202020204" pitchFamily="34" charset="0"/>
            </a:endParaRPr>
          </a:p>
        </p:txBody>
      </p:sp>
      <p:sp>
        <p:nvSpPr>
          <p:cNvPr id="305" name="Google Shape;305;p23"/>
          <p:cNvSpPr/>
          <p:nvPr/>
        </p:nvSpPr>
        <p:spPr>
          <a:xfrm>
            <a:off x="411480" y="3474720"/>
            <a:ext cx="4023359" cy="2240280"/>
          </a:xfrm>
          <a:prstGeom prst="roundRect">
            <a:avLst>
              <a:gd name="adj" fmla="val 3265"/>
            </a:avLst>
          </a:prstGeom>
          <a:solidFill>
            <a:srgbClr val="F3F3F3"/>
          </a:solidFill>
          <a:ln>
            <a:noFill/>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6" name="Google Shape;306;p23"/>
          <p:cNvSpPr/>
          <p:nvPr/>
        </p:nvSpPr>
        <p:spPr>
          <a:xfrm>
            <a:off x="411480" y="3474720"/>
            <a:ext cx="4023359" cy="685800"/>
          </a:xfrm>
          <a:prstGeom prst="roundRect">
            <a:avLst>
              <a:gd name="adj" fmla="val 10666"/>
            </a:avLst>
          </a:prstGeom>
          <a:solidFill>
            <a:srgbClr val="FBEAEA"/>
          </a:solidFill>
          <a:ln>
            <a:noFill/>
          </a:ln>
        </p:spPr>
        <p:txBody>
          <a:bodyPr spcFirstLastPara="1" wrap="square" lIns="228600" tIns="27425" rIns="228600" bIns="27425" anchor="ctr" anchorCtr="0">
            <a:noAutofit/>
          </a:bodyPr>
          <a:lstStyle/>
          <a:p>
            <a:pPr marL="0" marR="0" lvl="0" indent="0" algn="l" rtl="0">
              <a:spcBef>
                <a:spcPts val="0"/>
              </a:spcBef>
              <a:spcAft>
                <a:spcPts val="0"/>
              </a:spcAft>
              <a:buNone/>
            </a:pPr>
            <a:r>
              <a:rPr lang="en-US" sz="1400" b="1" i="0" u="none" strike="noStrike" cap="none">
                <a:solidFill>
                  <a:srgbClr val="C00000"/>
                </a:solidFill>
                <a:latin typeface="Arial" panose="020B0604020202020204" pitchFamily="34" charset="0"/>
                <a:ea typeface="Lato"/>
                <a:cs typeface="Arial" panose="020B0604020202020204" pitchFamily="34" charset="0"/>
                <a:sym typeface="Lato"/>
              </a:rPr>
              <a:t>Chức năng quản trị dùng chung hạ tầng</a:t>
            </a:r>
            <a:endParaRPr>
              <a:latin typeface="Arial" panose="020B0604020202020204" pitchFamily="34" charset="0"/>
            </a:endParaRPr>
          </a:p>
        </p:txBody>
      </p:sp>
      <p:sp>
        <p:nvSpPr>
          <p:cNvPr id="307" name="Google Shape;307;p23"/>
          <p:cNvSpPr txBox="1"/>
          <p:nvPr/>
        </p:nvSpPr>
        <p:spPr>
          <a:xfrm>
            <a:off x="640080" y="4343400"/>
            <a:ext cx="3566159" cy="60016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Chức năng quản trị được tích hợp trong cùng ứng dụng và cùng service server, phân tách bằng vai trò của tài khoản.</a:t>
            </a:r>
            <a:endParaRPr>
              <a:latin typeface="Arial" panose="020B0604020202020204" pitchFamily="34" charset="0"/>
            </a:endParaRPr>
          </a:p>
        </p:txBody>
      </p:sp>
      <p:sp>
        <p:nvSpPr>
          <p:cNvPr id="308" name="Google Shape;308;p23"/>
          <p:cNvSpPr/>
          <p:nvPr/>
        </p:nvSpPr>
        <p:spPr>
          <a:xfrm>
            <a:off x="4709159" y="3474720"/>
            <a:ext cx="4023359" cy="2240280"/>
          </a:xfrm>
          <a:prstGeom prst="roundRect">
            <a:avLst>
              <a:gd name="adj" fmla="val 3265"/>
            </a:avLst>
          </a:prstGeom>
          <a:solidFill>
            <a:srgbClr val="F3F3F3"/>
          </a:solidFill>
          <a:ln>
            <a:noFill/>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9" name="Google Shape;309;p23"/>
          <p:cNvSpPr/>
          <p:nvPr/>
        </p:nvSpPr>
        <p:spPr>
          <a:xfrm>
            <a:off x="4709159" y="3474720"/>
            <a:ext cx="4023359" cy="685800"/>
          </a:xfrm>
          <a:prstGeom prst="roundRect">
            <a:avLst>
              <a:gd name="adj" fmla="val 10666"/>
            </a:avLst>
          </a:prstGeom>
          <a:solidFill>
            <a:srgbClr val="FBEAEA"/>
          </a:solidFill>
          <a:ln>
            <a:noFill/>
          </a:ln>
        </p:spPr>
        <p:txBody>
          <a:bodyPr spcFirstLastPara="1" wrap="square" lIns="228600" tIns="27425" rIns="228600" bIns="27425" anchor="ctr" anchorCtr="0">
            <a:noAutofit/>
          </a:bodyPr>
          <a:lstStyle/>
          <a:p>
            <a:pPr marL="0" marR="0" lvl="0" indent="0" algn="l" rtl="0">
              <a:spcBef>
                <a:spcPts val="0"/>
              </a:spcBef>
              <a:spcAft>
                <a:spcPts val="0"/>
              </a:spcAft>
              <a:buNone/>
            </a:pPr>
            <a:r>
              <a:rPr lang="en-US" sz="1400" b="1" i="0" u="none" strike="noStrike" cap="none">
                <a:solidFill>
                  <a:srgbClr val="C00000"/>
                </a:solidFill>
                <a:latin typeface="Arial" panose="020B0604020202020204" pitchFamily="34" charset="0"/>
                <a:ea typeface="Lato"/>
                <a:cs typeface="Arial" panose="020B0604020202020204" pitchFamily="34" charset="0"/>
                <a:sym typeface="Lato"/>
              </a:rPr>
              <a:t>Thông báo hạn sử dụng được xử lý nền</a:t>
            </a:r>
            <a:endParaRPr>
              <a:latin typeface="Arial" panose="020B0604020202020204" pitchFamily="34" charset="0"/>
            </a:endParaRPr>
          </a:p>
        </p:txBody>
      </p:sp>
      <p:sp>
        <p:nvSpPr>
          <p:cNvPr id="310" name="Google Shape;310;p23"/>
          <p:cNvSpPr txBox="1"/>
          <p:nvPr/>
        </p:nvSpPr>
        <p:spPr>
          <a:xfrm>
            <a:off x="4937759" y="4343400"/>
            <a:ext cx="3566159" cy="40011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00" b="0" i="0" u="none" strike="noStrike" cap="none">
                <a:solidFill>
                  <a:srgbClr val="1F1F1F"/>
                </a:solidFill>
                <a:latin typeface="Arial" panose="020B0604020202020204" pitchFamily="34" charset="0"/>
                <a:ea typeface="Lato"/>
                <a:cs typeface="Arial" panose="020B0604020202020204" pitchFamily="34" charset="0"/>
                <a:sym typeface="Lato"/>
              </a:rPr>
              <a:t>Bộ lập lịch kiểm tra dữ liệu tủ lạnh mỗi ngày và gửi thông báo qua dịch vụ thông báo đẩy.</a:t>
            </a:r>
            <a:endParaRPr>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4"/>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14</a:t>
            </a:fld>
            <a:endParaRPr/>
          </a:p>
        </p:txBody>
      </p:sp>
      <p:sp>
        <p:nvSpPr>
          <p:cNvPr id="316" name="Google Shape;316;p24"/>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sz="2800" b="1">
                <a:solidFill>
                  <a:schemeClr val="lt1"/>
                </a:solidFill>
                <a:sym typeface="Lato"/>
              </a:rPr>
              <a:t>Công nghệ đề xuất</a:t>
            </a:r>
            <a:endParaRPr/>
          </a:p>
        </p:txBody>
      </p:sp>
      <p:sp>
        <p:nvSpPr>
          <p:cNvPr id="317" name="Google Shape;317;p24"/>
          <p:cNvSpPr/>
          <p:nvPr/>
        </p:nvSpPr>
        <p:spPr>
          <a:xfrm>
            <a:off x="411480" y="1188720"/>
            <a:ext cx="1943100" cy="2926080"/>
          </a:xfrm>
          <a:prstGeom prst="roundRect">
            <a:avLst>
              <a:gd name="adj" fmla="val 3764"/>
            </a:avLst>
          </a:prstGeom>
          <a:solidFill>
            <a:srgbClr val="F3F3F3"/>
          </a:solidFill>
          <a:ln>
            <a:noFill/>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8" name="Google Shape;318;p24"/>
          <p:cNvSpPr/>
          <p:nvPr/>
        </p:nvSpPr>
        <p:spPr>
          <a:xfrm>
            <a:off x="411480" y="1188720"/>
            <a:ext cx="1943100" cy="640080"/>
          </a:xfrm>
          <a:prstGeom prst="roundRect">
            <a:avLst>
              <a:gd name="adj" fmla="val 11428"/>
            </a:avLst>
          </a:prstGeom>
          <a:solidFill>
            <a:srgbClr val="C00000"/>
          </a:solidFill>
          <a:ln>
            <a:noFill/>
          </a:ln>
        </p:spPr>
        <p:txBody>
          <a:bodyPr spcFirstLastPara="1" wrap="square" lIns="91425" tIns="27425" rIns="91425" bIns="27425" anchor="ctr" anchorCtr="0">
            <a:noAutofit/>
          </a:bodyPr>
          <a:lstStyle/>
          <a:p>
            <a:pPr marL="0" marR="0" lvl="0" indent="0" algn="ctr" rtl="0">
              <a:spcBef>
                <a:spcPts val="0"/>
              </a:spcBef>
              <a:spcAft>
                <a:spcPts val="0"/>
              </a:spcAft>
              <a:buNone/>
            </a:pPr>
            <a:r>
              <a:rPr lang="en-US" sz="1300" b="1" i="0" u="none" strike="noStrike" cap="none">
                <a:solidFill>
                  <a:srgbClr val="FFFFFF"/>
                </a:solidFill>
                <a:latin typeface="Arial" panose="020B0604020202020204" pitchFamily="34" charset="0"/>
                <a:ea typeface="Lato"/>
                <a:cs typeface="Arial" panose="020B0604020202020204" pitchFamily="34" charset="0"/>
                <a:sym typeface="Lato"/>
              </a:rPr>
              <a:t>Ứng dụng di động</a:t>
            </a:r>
            <a:endParaRPr>
              <a:latin typeface="Arial" panose="020B0604020202020204" pitchFamily="34" charset="0"/>
            </a:endParaRPr>
          </a:p>
        </p:txBody>
      </p:sp>
      <p:sp>
        <p:nvSpPr>
          <p:cNvPr id="319" name="Google Shape;319;p24"/>
          <p:cNvSpPr txBox="1"/>
          <p:nvPr/>
        </p:nvSpPr>
        <p:spPr>
          <a:xfrm>
            <a:off x="548640" y="2687106"/>
            <a:ext cx="1668780" cy="569387"/>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800" b="1" i="0" u="none" strike="noStrike" cap="none">
                <a:solidFill>
                  <a:srgbClr val="1F1F1F"/>
                </a:solidFill>
                <a:latin typeface="Arial" panose="020B0604020202020204" pitchFamily="34" charset="0"/>
                <a:ea typeface="Lato"/>
                <a:cs typeface="Arial" panose="020B0604020202020204" pitchFamily="34" charset="0"/>
                <a:sym typeface="Lato"/>
              </a:rPr>
              <a:t>React Native</a:t>
            </a:r>
            <a:endParaRPr>
              <a:latin typeface="Arial" panose="020B0604020202020204" pitchFamily="34" charset="0"/>
            </a:endParaRPr>
          </a:p>
          <a:p>
            <a:pPr marL="0" marR="0" lvl="0" indent="0" algn="ctr" rtl="0">
              <a:spcBef>
                <a:spcPts val="600"/>
              </a:spcBef>
              <a:spcAft>
                <a:spcPts val="0"/>
              </a:spcAft>
              <a:buNone/>
            </a:pPr>
            <a:r>
              <a:rPr lang="en-US" sz="1400" b="0" i="0" u="none" strike="noStrike" cap="none">
                <a:solidFill>
                  <a:srgbClr val="595959"/>
                </a:solidFill>
                <a:latin typeface="Arial" panose="020B0604020202020204" pitchFamily="34" charset="0"/>
                <a:ea typeface="Lato"/>
                <a:cs typeface="Arial" panose="020B0604020202020204" pitchFamily="34" charset="0"/>
                <a:sym typeface="Lato"/>
              </a:rPr>
              <a:t>TypeScript</a:t>
            </a:r>
            <a:endParaRPr>
              <a:latin typeface="Arial" panose="020B0604020202020204" pitchFamily="34" charset="0"/>
            </a:endParaRPr>
          </a:p>
        </p:txBody>
      </p:sp>
      <p:sp>
        <p:nvSpPr>
          <p:cNvPr id="320" name="Google Shape;320;p24"/>
          <p:cNvSpPr/>
          <p:nvPr/>
        </p:nvSpPr>
        <p:spPr>
          <a:xfrm>
            <a:off x="2537460" y="1188720"/>
            <a:ext cx="1943100" cy="2926080"/>
          </a:xfrm>
          <a:prstGeom prst="roundRect">
            <a:avLst>
              <a:gd name="adj" fmla="val 3764"/>
            </a:avLst>
          </a:prstGeom>
          <a:solidFill>
            <a:srgbClr val="F3F3F3"/>
          </a:solidFill>
          <a:ln>
            <a:noFill/>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1" name="Google Shape;321;p24"/>
          <p:cNvSpPr/>
          <p:nvPr/>
        </p:nvSpPr>
        <p:spPr>
          <a:xfrm>
            <a:off x="2537460" y="1188720"/>
            <a:ext cx="1943100" cy="640080"/>
          </a:xfrm>
          <a:prstGeom prst="roundRect">
            <a:avLst>
              <a:gd name="adj" fmla="val 11428"/>
            </a:avLst>
          </a:prstGeom>
          <a:solidFill>
            <a:srgbClr val="C00000"/>
          </a:solidFill>
          <a:ln>
            <a:noFill/>
          </a:ln>
        </p:spPr>
        <p:txBody>
          <a:bodyPr spcFirstLastPara="1" wrap="square" lIns="91425" tIns="27425" rIns="91425" bIns="27425" anchor="ctr" anchorCtr="0">
            <a:noAutofit/>
          </a:bodyPr>
          <a:lstStyle/>
          <a:p>
            <a:pPr marL="0" marR="0" lvl="0" indent="0" algn="ctr" rtl="0">
              <a:spcBef>
                <a:spcPts val="0"/>
              </a:spcBef>
              <a:spcAft>
                <a:spcPts val="0"/>
              </a:spcAft>
              <a:buNone/>
            </a:pPr>
            <a:r>
              <a:rPr lang="en-US" sz="1300" b="1" i="0" u="none" strike="noStrike" cap="none">
                <a:solidFill>
                  <a:srgbClr val="FFFFFF"/>
                </a:solidFill>
                <a:latin typeface="Arial" panose="020B0604020202020204" pitchFamily="34" charset="0"/>
                <a:ea typeface="Lato"/>
                <a:cs typeface="Arial" panose="020B0604020202020204" pitchFamily="34" charset="0"/>
                <a:sym typeface="Lato"/>
              </a:rPr>
              <a:t>Service server</a:t>
            </a:r>
            <a:endParaRPr>
              <a:latin typeface="Arial" panose="020B0604020202020204" pitchFamily="34" charset="0"/>
            </a:endParaRPr>
          </a:p>
        </p:txBody>
      </p:sp>
      <p:sp>
        <p:nvSpPr>
          <p:cNvPr id="322" name="Google Shape;322;p24"/>
          <p:cNvSpPr txBox="1"/>
          <p:nvPr/>
        </p:nvSpPr>
        <p:spPr>
          <a:xfrm>
            <a:off x="2674625" y="2011680"/>
            <a:ext cx="1668900" cy="1920300"/>
          </a:xfrm>
          <a:prstGeom prst="rect">
            <a:avLst/>
          </a:prstGeom>
          <a:noFill/>
          <a:ln>
            <a:noFill/>
          </a:ln>
        </p:spPr>
        <p:txBody>
          <a:bodyPr spcFirstLastPara="1" wrap="square" lIns="0" tIns="0" rIns="0" bIns="0" anchor="ctr" anchorCtr="0">
            <a:normAutofit/>
          </a:bodyPr>
          <a:lstStyle/>
          <a:p>
            <a:pPr marL="0" marR="0" lvl="0" indent="0" algn="ctr" rtl="0">
              <a:spcBef>
                <a:spcPts val="0"/>
              </a:spcBef>
              <a:spcAft>
                <a:spcPts val="0"/>
              </a:spcAft>
              <a:buNone/>
            </a:pPr>
            <a:r>
              <a:rPr lang="en-US" sz="1800" b="1">
                <a:solidFill>
                  <a:srgbClr val="1F1F1F"/>
                </a:solidFill>
                <a:latin typeface="Arial" panose="020B0604020202020204" pitchFamily="34" charset="0"/>
                <a:ea typeface="Lato"/>
                <a:cs typeface="Arial" panose="020B0604020202020204" pitchFamily="34" charset="0"/>
                <a:sym typeface="Lato"/>
              </a:rPr>
              <a:t>Spring Boot</a:t>
            </a:r>
            <a:endParaRPr>
              <a:latin typeface="Arial" panose="020B0604020202020204" pitchFamily="34" charset="0"/>
            </a:endParaRPr>
          </a:p>
        </p:txBody>
      </p:sp>
      <p:sp>
        <p:nvSpPr>
          <p:cNvPr id="323" name="Google Shape;323;p24"/>
          <p:cNvSpPr/>
          <p:nvPr/>
        </p:nvSpPr>
        <p:spPr>
          <a:xfrm>
            <a:off x="4663440" y="1188720"/>
            <a:ext cx="1943100" cy="2926080"/>
          </a:xfrm>
          <a:prstGeom prst="roundRect">
            <a:avLst>
              <a:gd name="adj" fmla="val 3764"/>
            </a:avLst>
          </a:prstGeom>
          <a:solidFill>
            <a:srgbClr val="F3F3F3"/>
          </a:solidFill>
          <a:ln>
            <a:noFill/>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4" name="Google Shape;324;p24"/>
          <p:cNvSpPr/>
          <p:nvPr/>
        </p:nvSpPr>
        <p:spPr>
          <a:xfrm>
            <a:off x="4663440" y="1188720"/>
            <a:ext cx="1943100" cy="640080"/>
          </a:xfrm>
          <a:prstGeom prst="roundRect">
            <a:avLst>
              <a:gd name="adj" fmla="val 11428"/>
            </a:avLst>
          </a:prstGeom>
          <a:solidFill>
            <a:srgbClr val="C00000"/>
          </a:solidFill>
          <a:ln>
            <a:noFill/>
          </a:ln>
        </p:spPr>
        <p:txBody>
          <a:bodyPr spcFirstLastPara="1" wrap="square" lIns="91425" tIns="27425" rIns="91425" bIns="27425" anchor="ctr" anchorCtr="0">
            <a:noAutofit/>
          </a:bodyPr>
          <a:lstStyle/>
          <a:p>
            <a:pPr marL="0" marR="0" lvl="0" indent="0" algn="ctr" rtl="0">
              <a:spcBef>
                <a:spcPts val="0"/>
              </a:spcBef>
              <a:spcAft>
                <a:spcPts val="0"/>
              </a:spcAft>
              <a:buNone/>
            </a:pPr>
            <a:r>
              <a:rPr lang="en-US" sz="1300" b="1" i="0" u="none" strike="noStrike" cap="none">
                <a:solidFill>
                  <a:srgbClr val="FFFFFF"/>
                </a:solidFill>
                <a:latin typeface="Arial" panose="020B0604020202020204" pitchFamily="34" charset="0"/>
                <a:ea typeface="Lato"/>
                <a:cs typeface="Arial" panose="020B0604020202020204" pitchFamily="34" charset="0"/>
                <a:sym typeface="Lato"/>
              </a:rPr>
              <a:t>Database server</a:t>
            </a:r>
            <a:endParaRPr>
              <a:latin typeface="Arial" panose="020B0604020202020204" pitchFamily="34" charset="0"/>
            </a:endParaRPr>
          </a:p>
        </p:txBody>
      </p:sp>
      <p:sp>
        <p:nvSpPr>
          <p:cNvPr id="325" name="Google Shape;325;p24"/>
          <p:cNvSpPr txBox="1"/>
          <p:nvPr/>
        </p:nvSpPr>
        <p:spPr>
          <a:xfrm>
            <a:off x="4800600" y="2833300"/>
            <a:ext cx="1668780" cy="276999"/>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800" b="1" i="0" u="none" strike="noStrike" cap="none">
                <a:solidFill>
                  <a:srgbClr val="1F1F1F"/>
                </a:solidFill>
                <a:latin typeface="Arial" panose="020B0604020202020204" pitchFamily="34" charset="0"/>
                <a:ea typeface="Lato"/>
                <a:cs typeface="Arial" panose="020B0604020202020204" pitchFamily="34" charset="0"/>
                <a:sym typeface="Lato"/>
              </a:rPr>
              <a:t>PostgreSQL</a:t>
            </a:r>
            <a:endParaRPr>
              <a:latin typeface="Arial" panose="020B0604020202020204" pitchFamily="34" charset="0"/>
            </a:endParaRPr>
          </a:p>
        </p:txBody>
      </p:sp>
      <p:sp>
        <p:nvSpPr>
          <p:cNvPr id="326" name="Google Shape;326;p24"/>
          <p:cNvSpPr/>
          <p:nvPr/>
        </p:nvSpPr>
        <p:spPr>
          <a:xfrm>
            <a:off x="6789420" y="1188720"/>
            <a:ext cx="1943100" cy="2926080"/>
          </a:xfrm>
          <a:prstGeom prst="roundRect">
            <a:avLst>
              <a:gd name="adj" fmla="val 3764"/>
            </a:avLst>
          </a:prstGeom>
          <a:solidFill>
            <a:srgbClr val="F3F3F3"/>
          </a:solidFill>
          <a:ln>
            <a:noFill/>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7" name="Google Shape;327;p24"/>
          <p:cNvSpPr/>
          <p:nvPr/>
        </p:nvSpPr>
        <p:spPr>
          <a:xfrm>
            <a:off x="6789420" y="1188720"/>
            <a:ext cx="1943100" cy="640080"/>
          </a:xfrm>
          <a:prstGeom prst="roundRect">
            <a:avLst>
              <a:gd name="adj" fmla="val 11428"/>
            </a:avLst>
          </a:prstGeom>
          <a:solidFill>
            <a:srgbClr val="C00000"/>
          </a:solidFill>
          <a:ln>
            <a:noFill/>
          </a:ln>
        </p:spPr>
        <p:txBody>
          <a:bodyPr spcFirstLastPara="1" wrap="square" lIns="91425" tIns="27425" rIns="91425" bIns="27425" anchor="ctr" anchorCtr="0">
            <a:noAutofit/>
          </a:bodyPr>
          <a:lstStyle/>
          <a:p>
            <a:pPr marL="0" marR="0" lvl="0" indent="0" algn="ctr" rtl="0">
              <a:spcBef>
                <a:spcPts val="0"/>
              </a:spcBef>
              <a:spcAft>
                <a:spcPts val="0"/>
              </a:spcAft>
              <a:buNone/>
            </a:pPr>
            <a:r>
              <a:rPr lang="en-US" sz="1300" b="1" i="0" u="none" strike="noStrike" cap="none">
                <a:solidFill>
                  <a:srgbClr val="FFFFFF"/>
                </a:solidFill>
                <a:latin typeface="Arial" panose="020B0604020202020204" pitchFamily="34" charset="0"/>
                <a:ea typeface="Lato"/>
                <a:cs typeface="Arial" panose="020B0604020202020204" pitchFamily="34" charset="0"/>
                <a:sym typeface="Lato"/>
              </a:rPr>
              <a:t>Thông báo đẩy</a:t>
            </a:r>
            <a:endParaRPr>
              <a:latin typeface="Arial" panose="020B0604020202020204" pitchFamily="34" charset="0"/>
            </a:endParaRPr>
          </a:p>
        </p:txBody>
      </p:sp>
      <p:sp>
        <p:nvSpPr>
          <p:cNvPr id="328" name="Google Shape;328;p24"/>
          <p:cNvSpPr txBox="1"/>
          <p:nvPr/>
        </p:nvSpPr>
        <p:spPr>
          <a:xfrm>
            <a:off x="6926580" y="2694801"/>
            <a:ext cx="1668780" cy="553998"/>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800" b="1" i="0" u="none" strike="noStrike" cap="none">
                <a:solidFill>
                  <a:srgbClr val="1F1F1F"/>
                </a:solidFill>
                <a:latin typeface="Arial" panose="020B0604020202020204" pitchFamily="34" charset="0"/>
                <a:ea typeface="Lato"/>
                <a:cs typeface="Arial" panose="020B0604020202020204" pitchFamily="34" charset="0"/>
                <a:sym typeface="Lato"/>
              </a:rPr>
              <a:t>Firebase Cloud Messaging</a:t>
            </a:r>
            <a:endParaRPr>
              <a:latin typeface="Arial" panose="020B0604020202020204" pitchFamily="34" charset="0"/>
            </a:endParaRPr>
          </a:p>
        </p:txBody>
      </p:sp>
      <p:sp>
        <p:nvSpPr>
          <p:cNvPr id="329" name="Google Shape;329;p24"/>
          <p:cNvSpPr txBox="1"/>
          <p:nvPr/>
        </p:nvSpPr>
        <p:spPr>
          <a:xfrm>
            <a:off x="411480" y="4480560"/>
            <a:ext cx="8321040"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0" i="0" u="none" strike="noStrike" cap="none">
                <a:solidFill>
                  <a:srgbClr val="595959"/>
                </a:solidFill>
                <a:latin typeface="Arial" panose="020B0604020202020204" pitchFamily="34" charset="0"/>
                <a:ea typeface="Lato"/>
                <a:cs typeface="Arial" panose="020B0604020202020204" pitchFamily="34" charset="0"/>
                <a:sym typeface="Lato"/>
              </a:rPr>
              <a:t>Đề bài không quy định công nghệ, nên nhóm có thể thay bằng công nghệ tương đương.</a:t>
            </a:r>
            <a:endParaRPr>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25"/>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15</a:t>
            </a:fld>
            <a:endParaRPr/>
          </a:p>
        </p:txBody>
      </p:sp>
      <p:sp>
        <p:nvSpPr>
          <p:cNvPr id="335" name="Google Shape;335;p25"/>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sz="2800" b="1">
                <a:solidFill>
                  <a:schemeClr val="lt1"/>
                </a:solidFill>
                <a:sym typeface="Lato"/>
              </a:rPr>
              <a:t>Mô hình dữ liệu</a:t>
            </a:r>
            <a:endParaRPr/>
          </a:p>
        </p:txBody>
      </p:sp>
      <p:sp>
        <p:nvSpPr>
          <p:cNvPr id="336" name="Google Shape;336;p25"/>
          <p:cNvSpPr/>
          <p:nvPr/>
        </p:nvSpPr>
        <p:spPr>
          <a:xfrm>
            <a:off x="411480" y="2529840"/>
            <a:ext cx="8321040" cy="3230880"/>
          </a:xfrm>
          <a:prstGeom prst="roundRect">
            <a:avLst>
              <a:gd name="adj" fmla="val 2264"/>
            </a:avLst>
          </a:prstGeom>
          <a:solidFill>
            <a:srgbClr val="F3F3F3"/>
          </a:solidFill>
          <a:ln w="9525" cap="flat" cmpd="sng">
            <a:solidFill>
              <a:srgbClr val="8C8C8C"/>
            </a:solidFill>
            <a:prstDash val="solid"/>
            <a:miter lim="8000"/>
            <a:headEnd type="none" w="sm" len="sm"/>
            <a:tailEnd type="none" w="sm" len="sm"/>
          </a:ln>
        </p:spPr>
        <p:txBody>
          <a:bodyPr spcFirstLastPara="1" wrap="square" lIns="73150" tIns="27425" rIns="73150" bIns="27425"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7" name="Google Shape;337;p25"/>
          <p:cNvSpPr txBox="1"/>
          <p:nvPr/>
        </p:nvSpPr>
        <p:spPr>
          <a:xfrm>
            <a:off x="598469" y="5401733"/>
            <a:ext cx="64008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Dữ liệu riêng của từng nhóm gia đình, phân tách bằng group_id</a:t>
            </a:r>
            <a:endParaRPr>
              <a:latin typeface="Arial" panose="020B0604020202020204" pitchFamily="34" charset="0"/>
            </a:endParaRPr>
          </a:p>
        </p:txBody>
      </p:sp>
      <p:cxnSp>
        <p:nvCxnSpPr>
          <p:cNvPr id="338" name="Google Shape;338;p25"/>
          <p:cNvCxnSpPr/>
          <p:nvPr/>
        </p:nvCxnSpPr>
        <p:spPr>
          <a:xfrm>
            <a:off x="2304750" y="1138766"/>
            <a:ext cx="373979" cy="0"/>
          </a:xfrm>
          <a:prstGeom prst="straightConnector1">
            <a:avLst/>
          </a:prstGeom>
          <a:noFill/>
          <a:ln w="15875" cap="flat" cmpd="sng">
            <a:solidFill>
              <a:srgbClr val="8C8C8C"/>
            </a:solidFill>
            <a:prstDash val="solid"/>
            <a:miter lim="8000"/>
            <a:headEnd type="none" w="sm" len="sm"/>
            <a:tailEnd type="triangle" w="med" len="med"/>
          </a:ln>
        </p:spPr>
      </p:cxnSp>
      <p:cxnSp>
        <p:nvCxnSpPr>
          <p:cNvPr id="339" name="Google Shape;339;p25"/>
          <p:cNvCxnSpPr/>
          <p:nvPr/>
        </p:nvCxnSpPr>
        <p:spPr>
          <a:xfrm rot="10800000">
            <a:off x="2304750" y="1363133"/>
            <a:ext cx="373979" cy="0"/>
          </a:xfrm>
          <a:prstGeom prst="straightConnector1">
            <a:avLst/>
          </a:prstGeom>
          <a:noFill/>
          <a:ln w="15875" cap="flat" cmpd="sng">
            <a:solidFill>
              <a:srgbClr val="8C8C8C"/>
            </a:solidFill>
            <a:prstDash val="solid"/>
            <a:miter lim="8000"/>
            <a:headEnd type="none" w="sm" len="sm"/>
            <a:tailEnd type="triangle" w="med" len="med"/>
          </a:ln>
        </p:spPr>
      </p:cxnSp>
      <p:cxnSp>
        <p:nvCxnSpPr>
          <p:cNvPr id="340" name="Google Shape;340;p25"/>
          <p:cNvCxnSpPr/>
          <p:nvPr/>
        </p:nvCxnSpPr>
        <p:spPr>
          <a:xfrm rot="10800000">
            <a:off x="1451610" y="1901613"/>
            <a:ext cx="0" cy="807720"/>
          </a:xfrm>
          <a:prstGeom prst="straightConnector1">
            <a:avLst/>
          </a:prstGeom>
          <a:noFill/>
          <a:ln w="15875" cap="flat" cmpd="sng">
            <a:solidFill>
              <a:srgbClr val="8C8C8C"/>
            </a:solidFill>
            <a:prstDash val="solid"/>
            <a:miter lim="8000"/>
            <a:headEnd type="none" w="sm" len="sm"/>
            <a:tailEnd type="triangle" w="med" len="med"/>
          </a:ln>
        </p:spPr>
      </p:cxnSp>
      <p:cxnSp>
        <p:nvCxnSpPr>
          <p:cNvPr id="341" name="Google Shape;341;p25"/>
          <p:cNvCxnSpPr/>
          <p:nvPr/>
        </p:nvCxnSpPr>
        <p:spPr>
          <a:xfrm rot="10800000">
            <a:off x="2304750" y="3202940"/>
            <a:ext cx="373979" cy="0"/>
          </a:xfrm>
          <a:prstGeom prst="straightConnector1">
            <a:avLst/>
          </a:prstGeom>
          <a:noFill/>
          <a:ln w="15875" cap="flat" cmpd="sng">
            <a:solidFill>
              <a:srgbClr val="8C8C8C"/>
            </a:solidFill>
            <a:prstDash val="solid"/>
            <a:miter lim="8000"/>
            <a:headEnd type="none" w="sm" len="sm"/>
            <a:tailEnd type="triangle" w="med" len="med"/>
          </a:ln>
        </p:spPr>
      </p:cxnSp>
      <p:cxnSp>
        <p:nvCxnSpPr>
          <p:cNvPr id="342" name="Google Shape;342;p25"/>
          <p:cNvCxnSpPr/>
          <p:nvPr/>
        </p:nvCxnSpPr>
        <p:spPr>
          <a:xfrm>
            <a:off x="4385010" y="3202940"/>
            <a:ext cx="373979" cy="0"/>
          </a:xfrm>
          <a:prstGeom prst="straightConnector1">
            <a:avLst/>
          </a:prstGeom>
          <a:noFill/>
          <a:ln w="15875" cap="flat" cmpd="sng">
            <a:solidFill>
              <a:srgbClr val="8C8C8C"/>
            </a:solidFill>
            <a:prstDash val="solid"/>
            <a:miter lim="8000"/>
            <a:headEnd type="none" w="sm" len="sm"/>
            <a:tailEnd type="triangle" w="med" len="med"/>
          </a:ln>
        </p:spPr>
      </p:cxnSp>
      <p:cxnSp>
        <p:nvCxnSpPr>
          <p:cNvPr id="343" name="Google Shape;343;p25"/>
          <p:cNvCxnSpPr/>
          <p:nvPr/>
        </p:nvCxnSpPr>
        <p:spPr>
          <a:xfrm rot="10800000">
            <a:off x="6465270" y="3202940"/>
            <a:ext cx="373979" cy="0"/>
          </a:xfrm>
          <a:prstGeom prst="straightConnector1">
            <a:avLst/>
          </a:prstGeom>
          <a:noFill/>
          <a:ln w="15875" cap="flat" cmpd="sng">
            <a:solidFill>
              <a:srgbClr val="8C8C8C"/>
            </a:solidFill>
            <a:prstDash val="solid"/>
            <a:miter lim="8000"/>
            <a:headEnd type="none" w="sm" len="sm"/>
            <a:tailEnd type="triangle" w="med" len="med"/>
          </a:ln>
        </p:spPr>
      </p:cxnSp>
      <p:cxnSp>
        <p:nvCxnSpPr>
          <p:cNvPr id="344" name="Google Shape;344;p25"/>
          <p:cNvCxnSpPr/>
          <p:nvPr/>
        </p:nvCxnSpPr>
        <p:spPr>
          <a:xfrm rot="10800000">
            <a:off x="5612130" y="1542626"/>
            <a:ext cx="0" cy="1166707"/>
          </a:xfrm>
          <a:prstGeom prst="straightConnector1">
            <a:avLst/>
          </a:prstGeom>
          <a:noFill/>
          <a:ln w="15875" cap="flat" cmpd="sng">
            <a:solidFill>
              <a:srgbClr val="8C8C8C"/>
            </a:solidFill>
            <a:prstDash val="solid"/>
            <a:miter lim="8000"/>
            <a:headEnd type="none" w="sm" len="sm"/>
            <a:tailEnd type="triangle" w="med" len="med"/>
          </a:ln>
        </p:spPr>
      </p:cxnSp>
      <p:cxnSp>
        <p:nvCxnSpPr>
          <p:cNvPr id="345" name="Google Shape;345;p25"/>
          <p:cNvCxnSpPr/>
          <p:nvPr/>
        </p:nvCxnSpPr>
        <p:spPr>
          <a:xfrm rot="10800000">
            <a:off x="6032856" y="2170853"/>
            <a:ext cx="0" cy="538480"/>
          </a:xfrm>
          <a:prstGeom prst="straightConnector1">
            <a:avLst/>
          </a:prstGeom>
          <a:noFill/>
          <a:ln w="15875" cap="flat" cmpd="sng">
            <a:solidFill>
              <a:srgbClr val="8C8C8C"/>
            </a:solidFill>
            <a:prstDash val="solid"/>
            <a:miter lim="8000"/>
            <a:headEnd type="none" w="sm" len="sm"/>
            <a:tailEnd type="none" w="sm" len="sm"/>
          </a:ln>
        </p:spPr>
      </p:cxnSp>
      <p:cxnSp>
        <p:nvCxnSpPr>
          <p:cNvPr id="346" name="Google Shape;346;p25"/>
          <p:cNvCxnSpPr/>
          <p:nvPr/>
        </p:nvCxnSpPr>
        <p:spPr>
          <a:xfrm>
            <a:off x="6032856" y="2170853"/>
            <a:ext cx="1659534" cy="0"/>
          </a:xfrm>
          <a:prstGeom prst="straightConnector1">
            <a:avLst/>
          </a:prstGeom>
          <a:noFill/>
          <a:ln w="15875" cap="flat" cmpd="sng">
            <a:solidFill>
              <a:srgbClr val="8C8C8C"/>
            </a:solidFill>
            <a:prstDash val="solid"/>
            <a:miter lim="8000"/>
            <a:headEnd type="none" w="sm" len="sm"/>
            <a:tailEnd type="none" w="sm" len="sm"/>
          </a:ln>
        </p:spPr>
      </p:cxnSp>
      <p:cxnSp>
        <p:nvCxnSpPr>
          <p:cNvPr id="347" name="Google Shape;347;p25"/>
          <p:cNvCxnSpPr/>
          <p:nvPr/>
        </p:nvCxnSpPr>
        <p:spPr>
          <a:xfrm rot="10800000">
            <a:off x="7692390" y="1542626"/>
            <a:ext cx="0" cy="628227"/>
          </a:xfrm>
          <a:prstGeom prst="straightConnector1">
            <a:avLst/>
          </a:prstGeom>
          <a:noFill/>
          <a:ln w="15875" cap="flat" cmpd="sng">
            <a:solidFill>
              <a:srgbClr val="8C8C8C"/>
            </a:solidFill>
            <a:prstDash val="solid"/>
            <a:miter lim="8000"/>
            <a:headEnd type="none" w="sm" len="sm"/>
            <a:tailEnd type="triangle" w="med" len="med"/>
          </a:ln>
        </p:spPr>
      </p:cxnSp>
      <p:cxnSp>
        <p:nvCxnSpPr>
          <p:cNvPr id="348" name="Google Shape;348;p25"/>
          <p:cNvCxnSpPr/>
          <p:nvPr/>
        </p:nvCxnSpPr>
        <p:spPr>
          <a:xfrm rot="10800000">
            <a:off x="5612130" y="3696546"/>
            <a:ext cx="0" cy="583354"/>
          </a:xfrm>
          <a:prstGeom prst="straightConnector1">
            <a:avLst/>
          </a:prstGeom>
          <a:noFill/>
          <a:ln w="15875" cap="flat" cmpd="sng">
            <a:solidFill>
              <a:srgbClr val="8C8C8C"/>
            </a:solidFill>
            <a:prstDash val="solid"/>
            <a:miter lim="8000"/>
            <a:headEnd type="none" w="sm" len="sm"/>
            <a:tailEnd type="triangle" w="med" len="med"/>
          </a:ln>
        </p:spPr>
      </p:cxnSp>
      <p:cxnSp>
        <p:nvCxnSpPr>
          <p:cNvPr id="349" name="Google Shape;349;p25"/>
          <p:cNvCxnSpPr/>
          <p:nvPr/>
        </p:nvCxnSpPr>
        <p:spPr>
          <a:xfrm rot="10800000">
            <a:off x="3531870" y="4077970"/>
            <a:ext cx="0" cy="201930"/>
          </a:xfrm>
          <a:prstGeom prst="straightConnector1">
            <a:avLst/>
          </a:prstGeom>
          <a:noFill/>
          <a:ln w="15875" cap="flat" cmpd="sng">
            <a:solidFill>
              <a:srgbClr val="8C8C8C"/>
            </a:solidFill>
            <a:prstDash val="solid"/>
            <a:miter lim="8000"/>
            <a:headEnd type="none" w="sm" len="sm"/>
            <a:tailEnd type="none" w="sm" len="sm"/>
          </a:ln>
        </p:spPr>
      </p:cxnSp>
      <p:cxnSp>
        <p:nvCxnSpPr>
          <p:cNvPr id="350" name="Google Shape;350;p25"/>
          <p:cNvCxnSpPr/>
          <p:nvPr/>
        </p:nvCxnSpPr>
        <p:spPr>
          <a:xfrm>
            <a:off x="3531870" y="4077970"/>
            <a:ext cx="1659533" cy="0"/>
          </a:xfrm>
          <a:prstGeom prst="straightConnector1">
            <a:avLst/>
          </a:prstGeom>
          <a:noFill/>
          <a:ln w="15875" cap="flat" cmpd="sng">
            <a:solidFill>
              <a:srgbClr val="8C8C8C"/>
            </a:solidFill>
            <a:prstDash val="solid"/>
            <a:miter lim="8000"/>
            <a:headEnd type="none" w="sm" len="sm"/>
            <a:tailEnd type="none" w="sm" len="sm"/>
          </a:ln>
        </p:spPr>
      </p:cxnSp>
      <p:cxnSp>
        <p:nvCxnSpPr>
          <p:cNvPr id="351" name="Google Shape;351;p25"/>
          <p:cNvCxnSpPr/>
          <p:nvPr/>
        </p:nvCxnSpPr>
        <p:spPr>
          <a:xfrm rot="10800000">
            <a:off x="5191403" y="3696546"/>
            <a:ext cx="0" cy="381424"/>
          </a:xfrm>
          <a:prstGeom prst="straightConnector1">
            <a:avLst/>
          </a:prstGeom>
          <a:noFill/>
          <a:ln w="15875" cap="flat" cmpd="sng">
            <a:solidFill>
              <a:srgbClr val="8C8C8C"/>
            </a:solidFill>
            <a:prstDash val="solid"/>
            <a:miter lim="8000"/>
            <a:headEnd type="none" w="sm" len="sm"/>
            <a:tailEnd type="triangle" w="med" len="med"/>
          </a:ln>
        </p:spPr>
      </p:cxnSp>
      <p:cxnSp>
        <p:nvCxnSpPr>
          <p:cNvPr id="352" name="Google Shape;352;p25"/>
          <p:cNvCxnSpPr/>
          <p:nvPr/>
        </p:nvCxnSpPr>
        <p:spPr>
          <a:xfrm rot="10800000">
            <a:off x="1451610" y="3898476"/>
            <a:ext cx="0" cy="381424"/>
          </a:xfrm>
          <a:prstGeom prst="straightConnector1">
            <a:avLst/>
          </a:prstGeom>
          <a:noFill/>
          <a:ln w="15875" cap="flat" cmpd="sng">
            <a:solidFill>
              <a:srgbClr val="8C8C8C"/>
            </a:solidFill>
            <a:prstDash val="solid"/>
            <a:miter lim="8000"/>
            <a:headEnd type="none" w="sm" len="sm"/>
            <a:tailEnd type="none" w="sm" len="sm"/>
          </a:ln>
        </p:spPr>
      </p:cxnSp>
      <p:cxnSp>
        <p:nvCxnSpPr>
          <p:cNvPr id="353" name="Google Shape;353;p25"/>
          <p:cNvCxnSpPr/>
          <p:nvPr/>
        </p:nvCxnSpPr>
        <p:spPr>
          <a:xfrm>
            <a:off x="1451610" y="3898476"/>
            <a:ext cx="3529429" cy="0"/>
          </a:xfrm>
          <a:prstGeom prst="straightConnector1">
            <a:avLst/>
          </a:prstGeom>
          <a:noFill/>
          <a:ln w="15875" cap="flat" cmpd="sng">
            <a:solidFill>
              <a:srgbClr val="8C8C8C"/>
            </a:solidFill>
            <a:prstDash val="solid"/>
            <a:miter lim="8000"/>
            <a:headEnd type="none" w="sm" len="sm"/>
            <a:tailEnd type="none" w="sm" len="sm"/>
          </a:ln>
        </p:spPr>
      </p:cxnSp>
      <p:cxnSp>
        <p:nvCxnSpPr>
          <p:cNvPr id="354" name="Google Shape;354;p25"/>
          <p:cNvCxnSpPr/>
          <p:nvPr/>
        </p:nvCxnSpPr>
        <p:spPr>
          <a:xfrm rot="10800000">
            <a:off x="4981039" y="3696546"/>
            <a:ext cx="0" cy="201930"/>
          </a:xfrm>
          <a:prstGeom prst="straightConnector1">
            <a:avLst/>
          </a:prstGeom>
          <a:noFill/>
          <a:ln w="15875" cap="flat" cmpd="sng">
            <a:solidFill>
              <a:srgbClr val="8C8C8C"/>
            </a:solidFill>
            <a:prstDash val="solid"/>
            <a:miter lim="8000"/>
            <a:headEnd type="none" w="sm" len="sm"/>
            <a:tailEnd type="triangle" w="med" len="med"/>
          </a:ln>
        </p:spPr>
      </p:cxnSp>
      <p:cxnSp>
        <p:nvCxnSpPr>
          <p:cNvPr id="355" name="Google Shape;355;p25"/>
          <p:cNvCxnSpPr/>
          <p:nvPr/>
        </p:nvCxnSpPr>
        <p:spPr>
          <a:xfrm rot="10800000">
            <a:off x="7692390" y="4077970"/>
            <a:ext cx="0" cy="201930"/>
          </a:xfrm>
          <a:prstGeom prst="straightConnector1">
            <a:avLst/>
          </a:prstGeom>
          <a:noFill/>
          <a:ln w="15875" cap="flat" cmpd="sng">
            <a:solidFill>
              <a:srgbClr val="8C8C8C"/>
            </a:solidFill>
            <a:prstDash val="solid"/>
            <a:miter lim="8000"/>
            <a:headEnd type="none" w="sm" len="sm"/>
            <a:tailEnd type="none" w="sm" len="sm"/>
          </a:ln>
        </p:spPr>
      </p:cxnSp>
      <p:cxnSp>
        <p:nvCxnSpPr>
          <p:cNvPr id="356" name="Google Shape;356;p25"/>
          <p:cNvCxnSpPr/>
          <p:nvPr/>
        </p:nvCxnSpPr>
        <p:spPr>
          <a:xfrm rot="10800000">
            <a:off x="6032856" y="4077970"/>
            <a:ext cx="1659534" cy="0"/>
          </a:xfrm>
          <a:prstGeom prst="straightConnector1">
            <a:avLst/>
          </a:prstGeom>
          <a:noFill/>
          <a:ln w="15875" cap="flat" cmpd="sng">
            <a:solidFill>
              <a:srgbClr val="8C8C8C"/>
            </a:solidFill>
            <a:prstDash val="solid"/>
            <a:miter lim="8000"/>
            <a:headEnd type="none" w="sm" len="sm"/>
            <a:tailEnd type="none" w="sm" len="sm"/>
          </a:ln>
        </p:spPr>
      </p:cxnSp>
      <p:cxnSp>
        <p:nvCxnSpPr>
          <p:cNvPr id="357" name="Google Shape;357;p25"/>
          <p:cNvCxnSpPr/>
          <p:nvPr/>
        </p:nvCxnSpPr>
        <p:spPr>
          <a:xfrm rot="10800000">
            <a:off x="6032856" y="3696546"/>
            <a:ext cx="0" cy="381424"/>
          </a:xfrm>
          <a:prstGeom prst="straightConnector1">
            <a:avLst/>
          </a:prstGeom>
          <a:noFill/>
          <a:ln w="15875" cap="flat" cmpd="sng">
            <a:solidFill>
              <a:srgbClr val="8C8C8C"/>
            </a:solidFill>
            <a:prstDash val="solid"/>
            <a:miter lim="8000"/>
            <a:headEnd type="none" w="sm" len="sm"/>
            <a:tailEnd type="triangle" w="med" len="med"/>
          </a:ln>
        </p:spPr>
      </p:cxnSp>
      <p:cxnSp>
        <p:nvCxnSpPr>
          <p:cNvPr id="358" name="Google Shape;358;p25"/>
          <p:cNvCxnSpPr/>
          <p:nvPr/>
        </p:nvCxnSpPr>
        <p:spPr>
          <a:xfrm rot="10800000">
            <a:off x="6465270" y="4773506"/>
            <a:ext cx="373979" cy="0"/>
          </a:xfrm>
          <a:prstGeom prst="straightConnector1">
            <a:avLst/>
          </a:prstGeom>
          <a:noFill/>
          <a:ln w="15875" cap="flat" cmpd="sng">
            <a:solidFill>
              <a:srgbClr val="8C8C8C"/>
            </a:solidFill>
            <a:prstDash val="solid"/>
            <a:miter lim="8000"/>
            <a:headEnd type="none" w="sm" len="sm"/>
            <a:tailEnd type="triangle" w="med" len="med"/>
          </a:ln>
        </p:spPr>
      </p:cxnSp>
      <p:sp>
        <p:nvSpPr>
          <p:cNvPr id="359" name="Google Shape;359;p25"/>
          <p:cNvSpPr/>
          <p:nvPr/>
        </p:nvSpPr>
        <p:spPr>
          <a:xfrm>
            <a:off x="598469" y="914400"/>
            <a:ext cx="1706280" cy="987213"/>
          </a:xfrm>
          <a:prstGeom prst="roundRect">
            <a:avLst>
              <a:gd name="adj" fmla="val 7409"/>
            </a:avLst>
          </a:prstGeom>
          <a:solidFill>
            <a:srgbClr val="FFFFFF"/>
          </a:solidFill>
          <a:ln w="12700" cap="flat" cmpd="sng">
            <a:solidFill>
              <a:srgbClr val="8C8C8C"/>
            </a:solidFill>
            <a:prstDash val="solid"/>
            <a:miter lim="8000"/>
            <a:headEnd type="none" w="sm" len="sm"/>
            <a:tailEnd type="none" w="sm" len="sm"/>
          </a:ln>
        </p:spPr>
        <p:txBody>
          <a:bodyPr spcFirstLastPara="1" wrap="square" lIns="91425" tIns="27425" rIns="91425" bIns="27425" anchor="t" anchorCtr="0">
            <a:noAutofit/>
          </a:bodyPr>
          <a:lstStyle/>
          <a:p>
            <a:pPr marL="0" marR="0" lvl="0" indent="0" algn="l" rtl="0">
              <a:spcBef>
                <a:spcPts val="0"/>
              </a:spcBef>
              <a:spcAft>
                <a:spcPts val="0"/>
              </a:spcAft>
              <a:buNone/>
            </a:pPr>
            <a:r>
              <a:rPr lang="en-US" sz="1150" b="1" i="0" u="none" strike="noStrike" cap="none">
                <a:solidFill>
                  <a:srgbClr val="1F1F1F"/>
                </a:solidFill>
                <a:latin typeface="Arial" panose="020B0604020202020204" pitchFamily="34" charset="0"/>
                <a:ea typeface="Lato"/>
                <a:cs typeface="Arial" panose="020B0604020202020204" pitchFamily="34" charset="0"/>
                <a:sym typeface="Lato"/>
              </a:rPr>
              <a:t>users</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email, username</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role: user | admin</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group_id</a:t>
            </a:r>
            <a:endParaRPr>
              <a:latin typeface="Arial" panose="020B0604020202020204" pitchFamily="34" charset="0"/>
            </a:endParaRPr>
          </a:p>
        </p:txBody>
      </p:sp>
      <p:sp>
        <p:nvSpPr>
          <p:cNvPr id="360" name="Google Shape;360;p25"/>
          <p:cNvSpPr/>
          <p:nvPr/>
        </p:nvSpPr>
        <p:spPr>
          <a:xfrm>
            <a:off x="2678729" y="914400"/>
            <a:ext cx="1706280" cy="628226"/>
          </a:xfrm>
          <a:prstGeom prst="roundRect">
            <a:avLst>
              <a:gd name="adj" fmla="val 11644"/>
            </a:avLst>
          </a:prstGeom>
          <a:solidFill>
            <a:srgbClr val="FFFFFF"/>
          </a:solidFill>
          <a:ln w="12700" cap="flat" cmpd="sng">
            <a:solidFill>
              <a:srgbClr val="8C8C8C"/>
            </a:solidFill>
            <a:prstDash val="solid"/>
            <a:miter lim="8000"/>
            <a:headEnd type="none" w="sm" len="sm"/>
            <a:tailEnd type="none" w="sm" len="sm"/>
          </a:ln>
        </p:spPr>
        <p:txBody>
          <a:bodyPr spcFirstLastPara="1" wrap="square" lIns="91425" tIns="27425" rIns="91425" bIns="27425" anchor="t" anchorCtr="0">
            <a:noAutofit/>
          </a:bodyPr>
          <a:lstStyle/>
          <a:p>
            <a:pPr marL="0" marR="0" lvl="0" indent="0" algn="l" rtl="0">
              <a:spcBef>
                <a:spcPts val="0"/>
              </a:spcBef>
              <a:spcAft>
                <a:spcPts val="0"/>
              </a:spcAft>
              <a:buNone/>
            </a:pPr>
            <a:r>
              <a:rPr lang="en-US" sz="1150" b="1" i="0" u="none" strike="noStrike" cap="none">
                <a:solidFill>
                  <a:srgbClr val="1F1F1F"/>
                </a:solidFill>
                <a:latin typeface="Arial" panose="020B0604020202020204" pitchFamily="34" charset="0"/>
                <a:ea typeface="Lato"/>
                <a:cs typeface="Arial" panose="020B0604020202020204" pitchFamily="34" charset="0"/>
                <a:sym typeface="Lato"/>
              </a:rPr>
              <a:t>groups</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admin_id</a:t>
            </a:r>
            <a:endParaRPr>
              <a:latin typeface="Arial" panose="020B0604020202020204" pitchFamily="34" charset="0"/>
            </a:endParaRPr>
          </a:p>
        </p:txBody>
      </p:sp>
      <p:sp>
        <p:nvSpPr>
          <p:cNvPr id="361" name="Google Shape;361;p25"/>
          <p:cNvSpPr/>
          <p:nvPr/>
        </p:nvSpPr>
        <p:spPr>
          <a:xfrm>
            <a:off x="4758989" y="914400"/>
            <a:ext cx="1706280" cy="628226"/>
          </a:xfrm>
          <a:prstGeom prst="roundRect">
            <a:avLst>
              <a:gd name="adj" fmla="val 11644"/>
            </a:avLst>
          </a:prstGeom>
          <a:solidFill>
            <a:srgbClr val="FFFFFF"/>
          </a:solidFill>
          <a:ln w="12700" cap="flat" cmpd="sng">
            <a:solidFill>
              <a:srgbClr val="8C8C8C"/>
            </a:solidFill>
            <a:prstDash val="solid"/>
            <a:miter lim="8000"/>
            <a:headEnd type="none" w="sm" len="sm"/>
            <a:tailEnd type="none" w="sm" len="sm"/>
          </a:ln>
        </p:spPr>
        <p:txBody>
          <a:bodyPr spcFirstLastPara="1" wrap="square" lIns="91425" tIns="27425" rIns="91425" bIns="27425" anchor="t" anchorCtr="0">
            <a:noAutofit/>
          </a:bodyPr>
          <a:lstStyle/>
          <a:p>
            <a:pPr marL="0" marR="0" lvl="0" indent="0" algn="l" rtl="0">
              <a:spcBef>
                <a:spcPts val="0"/>
              </a:spcBef>
              <a:spcAft>
                <a:spcPts val="0"/>
              </a:spcAft>
              <a:buNone/>
            </a:pPr>
            <a:r>
              <a:rPr lang="en-US" sz="1150" b="1" i="0" u="none" strike="noStrike" cap="none">
                <a:solidFill>
                  <a:srgbClr val="1F1F1F"/>
                </a:solidFill>
                <a:latin typeface="Arial" panose="020B0604020202020204" pitchFamily="34" charset="0"/>
                <a:ea typeface="Lato"/>
                <a:cs typeface="Arial" panose="020B0604020202020204" pitchFamily="34" charset="0"/>
                <a:sym typeface="Lato"/>
              </a:rPr>
              <a:t>categories</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name (duy nhất)</a:t>
            </a:r>
            <a:endParaRPr>
              <a:latin typeface="Arial" panose="020B0604020202020204" pitchFamily="34" charset="0"/>
            </a:endParaRPr>
          </a:p>
        </p:txBody>
      </p:sp>
      <p:sp>
        <p:nvSpPr>
          <p:cNvPr id="362" name="Google Shape;362;p25"/>
          <p:cNvSpPr/>
          <p:nvPr/>
        </p:nvSpPr>
        <p:spPr>
          <a:xfrm>
            <a:off x="6839249" y="914400"/>
            <a:ext cx="1706280" cy="628226"/>
          </a:xfrm>
          <a:prstGeom prst="roundRect">
            <a:avLst>
              <a:gd name="adj" fmla="val 11644"/>
            </a:avLst>
          </a:prstGeom>
          <a:solidFill>
            <a:srgbClr val="FFFFFF"/>
          </a:solidFill>
          <a:ln w="12700" cap="flat" cmpd="sng">
            <a:solidFill>
              <a:srgbClr val="8C8C8C"/>
            </a:solidFill>
            <a:prstDash val="solid"/>
            <a:miter lim="8000"/>
            <a:headEnd type="none" w="sm" len="sm"/>
            <a:tailEnd type="none" w="sm" len="sm"/>
          </a:ln>
        </p:spPr>
        <p:txBody>
          <a:bodyPr spcFirstLastPara="1" wrap="square" lIns="91425" tIns="27425" rIns="91425" bIns="27425" anchor="t" anchorCtr="0">
            <a:noAutofit/>
          </a:bodyPr>
          <a:lstStyle/>
          <a:p>
            <a:pPr marL="0" marR="0" lvl="0" indent="0" algn="l" rtl="0">
              <a:spcBef>
                <a:spcPts val="0"/>
              </a:spcBef>
              <a:spcAft>
                <a:spcPts val="0"/>
              </a:spcAft>
              <a:buNone/>
            </a:pPr>
            <a:r>
              <a:rPr lang="en-US" sz="1150" b="1" i="0" u="none" strike="noStrike" cap="none">
                <a:solidFill>
                  <a:srgbClr val="1F1F1F"/>
                </a:solidFill>
                <a:latin typeface="Arial" panose="020B0604020202020204" pitchFamily="34" charset="0"/>
                <a:ea typeface="Lato"/>
                <a:cs typeface="Arial" panose="020B0604020202020204" pitchFamily="34" charset="0"/>
                <a:sym typeface="Lato"/>
              </a:rPr>
              <a:t>units</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name (duy nhất)</a:t>
            </a:r>
            <a:endParaRPr>
              <a:latin typeface="Arial" panose="020B0604020202020204" pitchFamily="34" charset="0"/>
            </a:endParaRPr>
          </a:p>
        </p:txBody>
      </p:sp>
      <p:sp>
        <p:nvSpPr>
          <p:cNvPr id="363" name="Google Shape;363;p25"/>
          <p:cNvSpPr/>
          <p:nvPr/>
        </p:nvSpPr>
        <p:spPr>
          <a:xfrm>
            <a:off x="598469" y="2709333"/>
            <a:ext cx="1706280" cy="987213"/>
          </a:xfrm>
          <a:prstGeom prst="roundRect">
            <a:avLst>
              <a:gd name="adj" fmla="val 7409"/>
            </a:avLst>
          </a:prstGeom>
          <a:solidFill>
            <a:srgbClr val="FFFFFF"/>
          </a:solidFill>
          <a:ln w="12700" cap="flat" cmpd="sng">
            <a:solidFill>
              <a:srgbClr val="8C8C8C"/>
            </a:solidFill>
            <a:prstDash val="solid"/>
            <a:miter lim="8000"/>
            <a:headEnd type="none" w="sm" len="sm"/>
            <a:tailEnd type="none" w="sm" len="sm"/>
          </a:ln>
        </p:spPr>
        <p:txBody>
          <a:bodyPr spcFirstLastPara="1" wrap="square" lIns="91425" tIns="27425" rIns="91425" bIns="27425" anchor="t" anchorCtr="0">
            <a:noAutofit/>
          </a:bodyPr>
          <a:lstStyle/>
          <a:p>
            <a:pPr marL="0" marR="0" lvl="0" indent="0" algn="l" rtl="0">
              <a:spcBef>
                <a:spcPts val="0"/>
              </a:spcBef>
              <a:spcAft>
                <a:spcPts val="0"/>
              </a:spcAft>
              <a:buNone/>
            </a:pPr>
            <a:r>
              <a:rPr lang="en-US" sz="1150" b="1" i="0" u="none" strike="noStrike" cap="none">
                <a:solidFill>
                  <a:srgbClr val="1F1F1F"/>
                </a:solidFill>
                <a:latin typeface="Arial" panose="020B0604020202020204" pitchFamily="34" charset="0"/>
                <a:ea typeface="Lato"/>
                <a:cs typeface="Arial" panose="020B0604020202020204" pitchFamily="34" charset="0"/>
                <a:sym typeface="Lato"/>
              </a:rPr>
              <a:t>shopping_lists</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name, note, date</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assigned_to</a:t>
            </a:r>
            <a:endParaRPr>
              <a:latin typeface="Arial" panose="020B0604020202020204" pitchFamily="34" charset="0"/>
            </a:endParaRPr>
          </a:p>
        </p:txBody>
      </p:sp>
      <p:sp>
        <p:nvSpPr>
          <p:cNvPr id="364" name="Google Shape;364;p25"/>
          <p:cNvSpPr/>
          <p:nvPr/>
        </p:nvSpPr>
        <p:spPr>
          <a:xfrm>
            <a:off x="2678729" y="2709333"/>
            <a:ext cx="1706280" cy="987213"/>
          </a:xfrm>
          <a:prstGeom prst="roundRect">
            <a:avLst>
              <a:gd name="adj" fmla="val 7409"/>
            </a:avLst>
          </a:prstGeom>
          <a:solidFill>
            <a:srgbClr val="FFFFFF"/>
          </a:solidFill>
          <a:ln w="12700" cap="flat" cmpd="sng">
            <a:solidFill>
              <a:srgbClr val="8C8C8C"/>
            </a:solidFill>
            <a:prstDash val="solid"/>
            <a:miter lim="8000"/>
            <a:headEnd type="none" w="sm" len="sm"/>
            <a:tailEnd type="none" w="sm" len="sm"/>
          </a:ln>
        </p:spPr>
        <p:txBody>
          <a:bodyPr spcFirstLastPara="1" wrap="square" lIns="91425" tIns="27425" rIns="91425" bIns="27425" anchor="t" anchorCtr="0">
            <a:noAutofit/>
          </a:bodyPr>
          <a:lstStyle/>
          <a:p>
            <a:pPr marL="0" marR="0" lvl="0" indent="0" algn="l" rtl="0">
              <a:spcBef>
                <a:spcPts val="0"/>
              </a:spcBef>
              <a:spcAft>
                <a:spcPts val="0"/>
              </a:spcAft>
              <a:buNone/>
            </a:pPr>
            <a:r>
              <a:rPr lang="en-US" sz="1150" b="1" i="0" u="none" strike="noStrike" cap="none">
                <a:solidFill>
                  <a:srgbClr val="1F1F1F"/>
                </a:solidFill>
                <a:latin typeface="Arial" panose="020B0604020202020204" pitchFamily="34" charset="0"/>
                <a:ea typeface="Lato"/>
                <a:cs typeface="Arial" panose="020B0604020202020204" pitchFamily="34" charset="0"/>
                <a:sym typeface="Lato"/>
              </a:rPr>
              <a:t>shopping_tasks</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list_id, food_id</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quantity</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done, done_at</a:t>
            </a:r>
            <a:endParaRPr>
              <a:latin typeface="Arial" panose="020B0604020202020204" pitchFamily="34" charset="0"/>
            </a:endParaRPr>
          </a:p>
        </p:txBody>
      </p:sp>
      <p:sp>
        <p:nvSpPr>
          <p:cNvPr id="365" name="Google Shape;365;p25"/>
          <p:cNvSpPr/>
          <p:nvPr/>
        </p:nvSpPr>
        <p:spPr>
          <a:xfrm>
            <a:off x="4758989" y="2709333"/>
            <a:ext cx="1706280" cy="987213"/>
          </a:xfrm>
          <a:prstGeom prst="roundRect">
            <a:avLst>
              <a:gd name="adj" fmla="val 7409"/>
            </a:avLst>
          </a:prstGeom>
          <a:solidFill>
            <a:srgbClr val="FBEAEA"/>
          </a:solidFill>
          <a:ln w="22225" cap="flat" cmpd="sng">
            <a:solidFill>
              <a:srgbClr val="C00000"/>
            </a:solidFill>
            <a:prstDash val="solid"/>
            <a:miter lim="8000"/>
            <a:headEnd type="none" w="sm" len="sm"/>
            <a:tailEnd type="none" w="sm" len="sm"/>
          </a:ln>
        </p:spPr>
        <p:txBody>
          <a:bodyPr spcFirstLastPara="1" wrap="square" lIns="91425" tIns="27425" rIns="91425" bIns="27425" anchor="t" anchorCtr="0">
            <a:noAutofit/>
          </a:bodyPr>
          <a:lstStyle/>
          <a:p>
            <a:pPr marL="0" marR="0" lvl="0" indent="0" algn="l" rtl="0">
              <a:spcBef>
                <a:spcPts val="0"/>
              </a:spcBef>
              <a:spcAft>
                <a:spcPts val="0"/>
              </a:spcAft>
              <a:buNone/>
            </a:pPr>
            <a:r>
              <a:rPr lang="en-US" sz="1150" b="1" i="0" u="none" strike="noStrike" cap="none">
                <a:solidFill>
                  <a:srgbClr val="1F1F1F"/>
                </a:solidFill>
                <a:latin typeface="Arial" panose="020B0604020202020204" pitchFamily="34" charset="0"/>
                <a:ea typeface="Lato"/>
                <a:cs typeface="Arial" panose="020B0604020202020204" pitchFamily="34" charset="0"/>
                <a:sym typeface="Lato"/>
              </a:rPr>
              <a:t>foods</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name, image_url</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category_id</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unit_id</a:t>
            </a:r>
            <a:endParaRPr>
              <a:latin typeface="Arial" panose="020B0604020202020204" pitchFamily="34" charset="0"/>
            </a:endParaRPr>
          </a:p>
        </p:txBody>
      </p:sp>
      <p:sp>
        <p:nvSpPr>
          <p:cNvPr id="366" name="Google Shape;366;p25"/>
          <p:cNvSpPr/>
          <p:nvPr/>
        </p:nvSpPr>
        <p:spPr>
          <a:xfrm>
            <a:off x="6839249" y="2709333"/>
            <a:ext cx="1706280" cy="987213"/>
          </a:xfrm>
          <a:prstGeom prst="roundRect">
            <a:avLst>
              <a:gd name="adj" fmla="val 7409"/>
            </a:avLst>
          </a:prstGeom>
          <a:solidFill>
            <a:srgbClr val="FFFFFF"/>
          </a:solidFill>
          <a:ln w="12700" cap="flat" cmpd="sng">
            <a:solidFill>
              <a:srgbClr val="8C8C8C"/>
            </a:solidFill>
            <a:prstDash val="solid"/>
            <a:miter lim="8000"/>
            <a:headEnd type="none" w="sm" len="sm"/>
            <a:tailEnd type="none" w="sm" len="sm"/>
          </a:ln>
        </p:spPr>
        <p:txBody>
          <a:bodyPr spcFirstLastPara="1" wrap="square" lIns="91425" tIns="27425" rIns="91425" bIns="27425" anchor="t" anchorCtr="0">
            <a:noAutofit/>
          </a:bodyPr>
          <a:lstStyle/>
          <a:p>
            <a:pPr marL="0" marR="0" lvl="0" indent="0" algn="l" rtl="0">
              <a:spcBef>
                <a:spcPts val="0"/>
              </a:spcBef>
              <a:spcAft>
                <a:spcPts val="0"/>
              </a:spcAft>
              <a:buNone/>
            </a:pPr>
            <a:r>
              <a:rPr lang="en-US" sz="1150" b="1" i="0" u="none" strike="noStrike" cap="none">
                <a:solidFill>
                  <a:srgbClr val="1F1F1F"/>
                </a:solidFill>
                <a:latin typeface="Arial" panose="020B0604020202020204" pitchFamily="34" charset="0"/>
                <a:ea typeface="Lato"/>
                <a:cs typeface="Arial" panose="020B0604020202020204" pitchFamily="34" charset="0"/>
                <a:sym typeface="Lato"/>
              </a:rPr>
              <a:t>fridge_items</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food_id, quantity</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expires_at, note</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location</a:t>
            </a:r>
            <a:endParaRPr>
              <a:latin typeface="Arial" panose="020B0604020202020204" pitchFamily="34" charset="0"/>
            </a:endParaRPr>
          </a:p>
        </p:txBody>
      </p:sp>
      <p:sp>
        <p:nvSpPr>
          <p:cNvPr id="367" name="Google Shape;367;p25"/>
          <p:cNvSpPr/>
          <p:nvPr/>
        </p:nvSpPr>
        <p:spPr>
          <a:xfrm>
            <a:off x="598469" y="4279900"/>
            <a:ext cx="1706280" cy="987213"/>
          </a:xfrm>
          <a:prstGeom prst="roundRect">
            <a:avLst>
              <a:gd name="adj" fmla="val 7409"/>
            </a:avLst>
          </a:prstGeom>
          <a:solidFill>
            <a:srgbClr val="FFFFFF"/>
          </a:solidFill>
          <a:ln w="12700" cap="flat" cmpd="sng">
            <a:solidFill>
              <a:srgbClr val="8C8C8C"/>
            </a:solidFill>
            <a:prstDash val="solid"/>
            <a:miter lim="8000"/>
            <a:headEnd type="none" w="sm" len="sm"/>
            <a:tailEnd type="none" w="sm" len="sm"/>
          </a:ln>
        </p:spPr>
        <p:txBody>
          <a:bodyPr spcFirstLastPara="1" wrap="square" lIns="91425" tIns="27425" rIns="91425" bIns="27425" anchor="t" anchorCtr="0">
            <a:noAutofit/>
          </a:bodyPr>
          <a:lstStyle/>
          <a:p>
            <a:pPr marL="0" marR="0" lvl="0" indent="0" algn="l" rtl="0">
              <a:spcBef>
                <a:spcPts val="0"/>
              </a:spcBef>
              <a:spcAft>
                <a:spcPts val="0"/>
              </a:spcAft>
              <a:buNone/>
            </a:pPr>
            <a:r>
              <a:rPr lang="en-US" sz="1150" b="1" i="0" u="none" strike="noStrike" cap="none">
                <a:solidFill>
                  <a:srgbClr val="1F1F1F"/>
                </a:solidFill>
                <a:latin typeface="Arial" panose="020B0604020202020204" pitchFamily="34" charset="0"/>
                <a:ea typeface="Lato"/>
                <a:cs typeface="Arial" panose="020B0604020202020204" pitchFamily="34" charset="0"/>
                <a:sym typeface="Lato"/>
              </a:rPr>
              <a:t>consumption_logs</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food_id, quantity</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reason, logged_at</a:t>
            </a:r>
            <a:endParaRPr>
              <a:latin typeface="Arial" panose="020B0604020202020204" pitchFamily="34" charset="0"/>
            </a:endParaRPr>
          </a:p>
        </p:txBody>
      </p:sp>
      <p:sp>
        <p:nvSpPr>
          <p:cNvPr id="368" name="Google Shape;368;p25"/>
          <p:cNvSpPr/>
          <p:nvPr/>
        </p:nvSpPr>
        <p:spPr>
          <a:xfrm>
            <a:off x="2678729" y="4279900"/>
            <a:ext cx="1706280" cy="987213"/>
          </a:xfrm>
          <a:prstGeom prst="roundRect">
            <a:avLst>
              <a:gd name="adj" fmla="val 7409"/>
            </a:avLst>
          </a:prstGeom>
          <a:solidFill>
            <a:srgbClr val="FFFFFF"/>
          </a:solidFill>
          <a:ln w="12700" cap="flat" cmpd="sng">
            <a:solidFill>
              <a:srgbClr val="8C8C8C"/>
            </a:solidFill>
            <a:prstDash val="solid"/>
            <a:miter lim="8000"/>
            <a:headEnd type="none" w="sm" len="sm"/>
            <a:tailEnd type="none" w="sm" len="sm"/>
          </a:ln>
        </p:spPr>
        <p:txBody>
          <a:bodyPr spcFirstLastPara="1" wrap="square" lIns="91425" tIns="27425" rIns="91425" bIns="27425" anchor="t" anchorCtr="0">
            <a:noAutofit/>
          </a:bodyPr>
          <a:lstStyle/>
          <a:p>
            <a:pPr marL="0" marR="0" lvl="0" indent="0" algn="l" rtl="0">
              <a:spcBef>
                <a:spcPts val="0"/>
              </a:spcBef>
              <a:spcAft>
                <a:spcPts val="0"/>
              </a:spcAft>
              <a:buNone/>
            </a:pPr>
            <a:r>
              <a:rPr lang="en-US" sz="1150" b="1" i="0" u="none" strike="noStrike" cap="none">
                <a:solidFill>
                  <a:srgbClr val="1F1F1F"/>
                </a:solidFill>
                <a:latin typeface="Arial" panose="020B0604020202020204" pitchFamily="34" charset="0"/>
                <a:ea typeface="Lato"/>
                <a:cs typeface="Arial" panose="020B0604020202020204" pitchFamily="34" charset="0"/>
                <a:sym typeface="Lato"/>
              </a:rPr>
              <a:t>meal_plans</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food_id</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meal, date</a:t>
            </a:r>
            <a:endParaRPr>
              <a:latin typeface="Arial" panose="020B0604020202020204" pitchFamily="34" charset="0"/>
            </a:endParaRPr>
          </a:p>
        </p:txBody>
      </p:sp>
      <p:sp>
        <p:nvSpPr>
          <p:cNvPr id="369" name="Google Shape;369;p25"/>
          <p:cNvSpPr/>
          <p:nvPr/>
        </p:nvSpPr>
        <p:spPr>
          <a:xfrm>
            <a:off x="4758989" y="4279900"/>
            <a:ext cx="1706280" cy="987213"/>
          </a:xfrm>
          <a:prstGeom prst="roundRect">
            <a:avLst>
              <a:gd name="adj" fmla="val 7409"/>
            </a:avLst>
          </a:prstGeom>
          <a:solidFill>
            <a:srgbClr val="FFFFFF"/>
          </a:solidFill>
          <a:ln w="12700" cap="flat" cmpd="sng">
            <a:solidFill>
              <a:srgbClr val="8C8C8C"/>
            </a:solidFill>
            <a:prstDash val="solid"/>
            <a:miter lim="8000"/>
            <a:headEnd type="none" w="sm" len="sm"/>
            <a:tailEnd type="none" w="sm" len="sm"/>
          </a:ln>
        </p:spPr>
        <p:txBody>
          <a:bodyPr spcFirstLastPara="1" wrap="square" lIns="91425" tIns="27425" rIns="91425" bIns="27425" anchor="t" anchorCtr="0">
            <a:noAutofit/>
          </a:bodyPr>
          <a:lstStyle/>
          <a:p>
            <a:pPr marL="0" marR="0" lvl="0" indent="0" algn="l" rtl="0">
              <a:spcBef>
                <a:spcPts val="0"/>
              </a:spcBef>
              <a:spcAft>
                <a:spcPts val="0"/>
              </a:spcAft>
              <a:buNone/>
            </a:pPr>
            <a:r>
              <a:rPr lang="en-US" sz="1150" b="1" i="0" u="none" strike="noStrike" cap="none">
                <a:solidFill>
                  <a:srgbClr val="1F1F1F"/>
                </a:solidFill>
                <a:latin typeface="Arial" panose="020B0604020202020204" pitchFamily="34" charset="0"/>
                <a:ea typeface="Lato"/>
                <a:cs typeface="Arial" panose="020B0604020202020204" pitchFamily="34" charset="0"/>
                <a:sym typeface="Lato"/>
              </a:rPr>
              <a:t>recipes</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food_id, name</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description</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html_content</a:t>
            </a:r>
            <a:endParaRPr>
              <a:latin typeface="Arial" panose="020B0604020202020204" pitchFamily="34" charset="0"/>
            </a:endParaRPr>
          </a:p>
        </p:txBody>
      </p:sp>
      <p:sp>
        <p:nvSpPr>
          <p:cNvPr id="370" name="Google Shape;370;p25"/>
          <p:cNvSpPr/>
          <p:nvPr/>
        </p:nvSpPr>
        <p:spPr>
          <a:xfrm>
            <a:off x="6839249" y="4279900"/>
            <a:ext cx="1706280" cy="987213"/>
          </a:xfrm>
          <a:prstGeom prst="roundRect">
            <a:avLst>
              <a:gd name="adj" fmla="val 7409"/>
            </a:avLst>
          </a:prstGeom>
          <a:solidFill>
            <a:srgbClr val="FFFFFF"/>
          </a:solidFill>
          <a:ln w="12700" cap="flat" cmpd="sng">
            <a:solidFill>
              <a:srgbClr val="8C8C8C"/>
            </a:solidFill>
            <a:prstDash val="solid"/>
            <a:miter lim="8000"/>
            <a:headEnd type="none" w="sm" len="sm"/>
            <a:tailEnd type="none" w="sm" len="sm"/>
          </a:ln>
        </p:spPr>
        <p:txBody>
          <a:bodyPr spcFirstLastPara="1" wrap="square" lIns="91425" tIns="27425" rIns="91425" bIns="27425" anchor="t" anchorCtr="0">
            <a:noAutofit/>
          </a:bodyPr>
          <a:lstStyle/>
          <a:p>
            <a:pPr marL="0" marR="0" lvl="0" indent="0" algn="l" rtl="0">
              <a:spcBef>
                <a:spcPts val="0"/>
              </a:spcBef>
              <a:spcAft>
                <a:spcPts val="0"/>
              </a:spcAft>
              <a:buNone/>
            </a:pPr>
            <a:r>
              <a:rPr lang="en-US" sz="1150" b="1" i="0" u="none" strike="noStrike" cap="none">
                <a:solidFill>
                  <a:srgbClr val="1F1F1F"/>
                </a:solidFill>
                <a:latin typeface="Arial" panose="020B0604020202020204" pitchFamily="34" charset="0"/>
                <a:ea typeface="Lato"/>
                <a:cs typeface="Arial" panose="020B0604020202020204" pitchFamily="34" charset="0"/>
                <a:sym typeface="Lato"/>
              </a:rPr>
              <a:t>ingredients</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recipe_id, food_id</a:t>
            </a:r>
            <a:endParaRPr>
              <a:latin typeface="Arial" panose="020B0604020202020204" pitchFamily="34" charset="0"/>
            </a:endParaRPr>
          </a:p>
          <a:p>
            <a:pPr marL="0" marR="0" lvl="0" indent="0" algn="l" rtl="0">
              <a:spcBef>
                <a:spcPts val="0"/>
              </a:spcBef>
              <a:spcAft>
                <a:spcPts val="0"/>
              </a:spcAft>
              <a:buNone/>
            </a:pPr>
            <a:r>
              <a:rPr lang="en-US" sz="1050" b="0" i="0" u="none" strike="noStrike" cap="none">
                <a:solidFill>
                  <a:srgbClr val="595959"/>
                </a:solidFill>
                <a:latin typeface="Arial" panose="020B0604020202020204" pitchFamily="34" charset="0"/>
                <a:ea typeface="Lato"/>
                <a:cs typeface="Arial" panose="020B0604020202020204" pitchFamily="34" charset="0"/>
                <a:sym typeface="Lato"/>
              </a:rPr>
              <a:t>quantity</a:t>
            </a:r>
            <a:endParaRPr>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26"/>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16</a:t>
            </a:fld>
            <a:endParaRPr/>
          </a:p>
        </p:txBody>
      </p:sp>
      <p:sp>
        <p:nvSpPr>
          <p:cNvPr id="376" name="Google Shape;376;p26"/>
          <p:cNvSpPr txBox="1"/>
          <p:nvPr/>
        </p:nvSpPr>
        <p:spPr>
          <a:xfrm>
            <a:off x="4181094" y="3021991"/>
            <a:ext cx="4197975" cy="81401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C00000"/>
              </a:buClr>
              <a:buSzPts val="4800"/>
              <a:buFont typeface="Lato"/>
              <a:buNone/>
            </a:pPr>
            <a:r>
              <a:rPr lang="en-US" sz="4800" b="1" i="0" u="none" strike="noStrike" cap="none">
                <a:solidFill>
                  <a:srgbClr val="C00000"/>
                </a:solidFill>
                <a:latin typeface="Arial" panose="020B0604020202020204" pitchFamily="34" charset="0"/>
                <a:ea typeface="Lato"/>
                <a:cs typeface="Arial" panose="020B0604020202020204" pitchFamily="34" charset="0"/>
                <a:sym typeface="Lato"/>
              </a:rPr>
              <a:t>THANK YOU !</a:t>
            </a:r>
            <a:endParaRPr>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1777</Words>
  <Application>Microsoft Office PowerPoint</Application>
  <PresentationFormat>On-screen Show (4:3)</PresentationFormat>
  <Paragraphs>287</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Lato</vt:lpstr>
      <vt:lpstr>Office Theme</vt:lpstr>
      <vt:lpstr>PowerPoint Presentation</vt:lpstr>
      <vt:lpstr>Nội dung</vt:lpstr>
      <vt:lpstr>Bài toán và mục tiêu</vt:lpstr>
      <vt:lpstr>Phạm vi xây dựng</vt:lpstr>
      <vt:lpstr>Tác nhân của hệ thống</vt:lpstr>
      <vt:lpstr>Biểu đồ use case tổng quan</vt:lpstr>
      <vt:lpstr>Yêu cầu chức năng (1/2)</vt:lpstr>
      <vt:lpstr>Yêu cầu chức năng (2/2)</vt:lpstr>
      <vt:lpstr>Phân quyền theo vai trò</vt:lpstr>
      <vt:lpstr>Quy tắc nghiệp vụ</vt:lpstr>
      <vt:lpstr>Yêu cầu phi chức năng</vt:lpstr>
      <vt:lpstr>Kiến trúc tổng quan</vt:lpstr>
      <vt:lpstr>Quyết định thiết kế</vt:lpstr>
      <vt:lpstr>Công nghệ đề xuất</vt:lpstr>
      <vt:lpstr>Mô hình dữ liệu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Nguyen Manh Hung 20215388</cp:lastModifiedBy>
  <cp:revision>2</cp:revision>
  <dcterms:modified xsi:type="dcterms:W3CDTF">2026-10-09T14:26:48Z</dcterms:modified>
</cp:coreProperties>
</file>