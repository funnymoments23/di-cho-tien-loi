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notesMasterIdLst>
    <p:notesMasterId r:id="rId17"/>
  </p:notesMasterIdLst>
  <p:handoutMasterIdLst>
    <p:handoutMasterId r:id="rId18"/>
  </p:handoutMasterIdLst>
  <p:sldIdLst>
    <p:sldId id="257" r:id="rId2"/>
    <p:sldId id="272" r:id="rId3"/>
    <p:sldId id="273" r:id="rId4"/>
    <p:sldId id="274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69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82" d="100"/>
          <a:sy n="82" d="100"/>
        </p:scale>
        <p:origin x="145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5980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">
            <a:extLst>
              <a:ext uri="{FF2B5EF4-FFF2-40B4-BE49-F238E27FC236}">
                <a16:creationId xmlns:a16="http://schemas.microsoft.com/office/drawing/2014/main" id="{C5DD3B49-F775-49FC-ACAD-45B074D1C9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80488" y="2365248"/>
            <a:ext cx="4383024" cy="2127504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78804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494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7547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10/24/2026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314880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10/24/2026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7985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6">
            <a:extLst>
              <a:ext uri="{FF2B5EF4-FFF2-40B4-BE49-F238E27FC236}">
                <a16:creationId xmlns:a16="http://schemas.microsoft.com/office/drawing/2014/main" id="{689FBFE6-E7AD-40DE-88B8-794C73F956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295" y="224917"/>
            <a:ext cx="5397627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 ……………………………………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1C2ED7A5-CBB5-4B5C-BD2A-3596087A71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24251" y="1011238"/>
            <a:ext cx="5384672" cy="552926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E21F2271-B488-4DC9-A50E-592D82F22C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10/24/2026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06E966D-F219-41DE-82BF-3F3121B7D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AF61A491-C108-489A-B2EA-9FC27DAD4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388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10/24/2026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933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10/24/2026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046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89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 descr="Text&#10;&#10;Description automatically generated">
            <a:extLst>
              <a:ext uri="{FF2B5EF4-FFF2-40B4-BE49-F238E27FC236}">
                <a16:creationId xmlns:a16="http://schemas.microsoft.com/office/drawing/2014/main" id="{67FB4AA9-E9AF-4CE0-A0DC-99D795289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012" y="317038"/>
            <a:ext cx="2576374" cy="936215"/>
          </a:xfrm>
          <a:prstGeom prst="rect">
            <a:avLst/>
          </a:prstGeom>
        </p:spPr>
      </p:pic>
      <p:sp>
        <p:nvSpPr>
          <p:cNvPr id="11" name="Title 6">
            <a:extLst>
              <a:ext uri="{FF2B5EF4-FFF2-40B4-BE49-F238E27FC236}">
                <a16:creationId xmlns:a16="http://schemas.microsoft.com/office/drawing/2014/main" id="{FF8BDF70-CFA6-4031-86B7-31F910D8115D}"/>
              </a:ext>
            </a:extLst>
          </p:cNvPr>
          <p:cNvSpPr txBox="1">
            <a:spLocks/>
          </p:cNvSpPr>
          <p:nvPr/>
        </p:nvSpPr>
        <p:spPr>
          <a:xfrm>
            <a:off x="413012" y="2421636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ĐI CHỢ TIỆN LỢI</a:t>
            </a:r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A4ACF486-B7D8-4A5A-B633-83527A2F99E2}"/>
              </a:ext>
            </a:extLst>
          </p:cNvPr>
          <p:cNvSpPr txBox="1">
            <a:spLocks/>
          </p:cNvSpPr>
          <p:nvPr/>
        </p:nvSpPr>
        <p:spPr>
          <a:xfrm>
            <a:off x="413012" y="3567622"/>
            <a:ext cx="734248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b="0" dirty="0"/>
              <a:t>Thiết kế backend</a:t>
            </a:r>
          </a:p>
          <a:p>
            <a:r>
              <a:rPr lang="en-US" sz="1800" b="0" dirty="0"/>
              <a:t>IT4788 – Phát triển ứng dụng đa nền tảng</a:t>
            </a:r>
          </a:p>
          <a:p>
            <a:endParaRPr lang="en-US" sz="2800" b="0" dirty="0"/>
          </a:p>
          <a:p>
            <a:endParaRPr lang="en-US" sz="2800" b="0" dirty="0"/>
          </a:p>
          <a:p>
            <a:endParaRPr lang="en-US" sz="2800" b="0" dirty="0"/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Nội dung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520440" y="1051560"/>
            <a:ext cx="5212080" cy="5303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C02034"/>
                </a:solidFill>
              </a:rPr>
              <a:t>Tổng quan và kiến trúc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62626"/>
                </a:solidFill>
              </a:rPr>
              <a:t>1.  Vai trò, công nghệ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62626"/>
                </a:solidFill>
              </a:rPr>
              <a:t>2.  Kiến trúc phân tầng</a:t>
            </a:r>
          </a:p>
          <a:p>
            <a:pPr algn="l">
              <a:spcAft>
                <a:spcPts val="500"/>
              </a:spcAft>
            </a:pPr>
            <a:endParaRPr sz="1600" b="0">
              <a:solidFill>
                <a:srgbClr val="262626"/>
              </a:solidFill>
            </a:endParaRPr>
          </a:p>
          <a:p>
            <a:pPr algn="l">
              <a:spcAft>
                <a:spcPts val="500"/>
              </a:spcAft>
            </a:pPr>
            <a:r>
              <a:rPr sz="1500" b="1">
                <a:solidFill>
                  <a:srgbClr val="C02034"/>
                </a:solidFill>
              </a:rPr>
              <a:t>Dữ liệu và API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62626"/>
                </a:solidFill>
              </a:rPr>
              <a:t>3.  Thiết kế cơ sở dữ liệu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62626"/>
                </a:solidFill>
              </a:rPr>
              <a:t>4.  Thiết kế API, đề xuất sửa đặc tả</a:t>
            </a:r>
          </a:p>
          <a:p>
            <a:pPr algn="l">
              <a:spcAft>
                <a:spcPts val="500"/>
              </a:spcAft>
            </a:pPr>
            <a:endParaRPr sz="1600" b="0">
              <a:solidFill>
                <a:srgbClr val="262626"/>
              </a:solidFill>
            </a:endParaRPr>
          </a:p>
          <a:p>
            <a:pPr algn="l">
              <a:spcAft>
                <a:spcPts val="500"/>
              </a:spcAft>
            </a:pPr>
            <a:r>
              <a:rPr sz="1500" b="1">
                <a:solidFill>
                  <a:srgbClr val="C02034"/>
                </a:solidFill>
              </a:rPr>
              <a:t>Bảo mật và nghiệp vụ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62626"/>
                </a:solidFill>
              </a:rPr>
              <a:t>5.  Xác thực, phân quyền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62626"/>
                </a:solidFill>
              </a:rPr>
              <a:t>6.  Các luồng nghiệp vụ chính</a:t>
            </a:r>
          </a:p>
          <a:p>
            <a:pPr algn="l">
              <a:spcAft>
                <a:spcPts val="500"/>
              </a:spcAft>
            </a:pPr>
            <a:endParaRPr sz="1600" b="0">
              <a:solidFill>
                <a:srgbClr val="262626"/>
              </a:solidFill>
            </a:endParaRPr>
          </a:p>
          <a:p>
            <a:pPr algn="l">
              <a:spcAft>
                <a:spcPts val="500"/>
              </a:spcAft>
            </a:pPr>
            <a:r>
              <a:rPr sz="1500" b="1">
                <a:solidFill>
                  <a:srgbClr val="C02034"/>
                </a:solidFill>
              </a:rPr>
              <a:t>Triển khai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62626"/>
                </a:solidFill>
              </a:rPr>
              <a:t>7.  Kiểm thử, lộ trình, kết luận</a:t>
            </a:r>
          </a:p>
          <a:p>
            <a:pPr algn="l">
              <a:spcAft>
                <a:spcPts val="500"/>
              </a:spcAft>
            </a:pPr>
            <a:endParaRPr sz="1600" b="0">
              <a:solidFill>
                <a:srgbClr val="262626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Vai trò và phạm vi của backend</a:t>
            </a:r>
          </a:p>
        </p:txBody>
      </p:sp>
      <p:sp>
        <p:nvSpPr>
          <p:cNvPr id="28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62626"/>
                </a:solidFill>
              </a:rPr>
              <a:t>Ứng dụng di động chỉ lo giao diện. Dữ liệu, quy tắc nghiệp vụ, quyền truy cập và việc nền nằm ở backend.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691640"/>
            <a:ext cx="1920240" cy="1325880"/>
          </a:xfrm>
          <a:prstGeom prst="roundRect">
            <a:avLst>
              <a:gd name="adj" fmla="val 6000"/>
            </a:avLst>
          </a:prstGeom>
          <a:solidFill>
            <a:srgbClr val="FB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19202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>
                <a:solidFill>
                  <a:srgbClr val="C02034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468880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</a:rPr>
              <a:t>collection</a:t>
            </a:r>
          </a:p>
          <a:p>
            <a:pPr algn="ctr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</a:rPr>
              <a:t>MongoDB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32888" y="1691640"/>
            <a:ext cx="1920240" cy="1325880"/>
          </a:xfrm>
          <a:prstGeom prst="roundRect">
            <a:avLst>
              <a:gd name="adj" fmla="val 6000"/>
            </a:avLst>
          </a:prstGeom>
          <a:solidFill>
            <a:srgbClr val="FB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32888" y="1737360"/>
            <a:ext cx="19202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>
                <a:solidFill>
                  <a:srgbClr val="C02034"/>
                </a:solidFill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32888" y="2468880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</a:rPr>
              <a:t>nhóm API</a:t>
            </a:r>
          </a:p>
          <a:p>
            <a:pPr algn="ctr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</a:rPr>
              <a:t>(50+ endpoint)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0016" y="1691640"/>
            <a:ext cx="1920240" cy="1325880"/>
          </a:xfrm>
          <a:prstGeom prst="roundRect">
            <a:avLst>
              <a:gd name="adj" fmla="val 6000"/>
            </a:avLst>
          </a:prstGeom>
          <a:solidFill>
            <a:srgbClr val="FB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00016" y="1737360"/>
            <a:ext cx="19202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>
                <a:solidFill>
                  <a:srgbClr val="C02034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0016" y="2468880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</a:rPr>
              <a:t>cấp</a:t>
            </a:r>
          </a:p>
          <a:p>
            <a:pPr algn="ctr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</a:rPr>
              <a:t>phân quyền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67144" y="1691640"/>
            <a:ext cx="1920240" cy="1325880"/>
          </a:xfrm>
          <a:prstGeom prst="roundRect">
            <a:avLst>
              <a:gd name="adj" fmla="val 6000"/>
            </a:avLst>
          </a:prstGeom>
          <a:solidFill>
            <a:srgbClr val="FB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67144" y="1737360"/>
            <a:ext cx="19202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>
                <a:solidFill>
                  <a:srgbClr val="C02034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7144" y="2468880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</a:rPr>
              <a:t>dịch vụ</a:t>
            </a:r>
          </a:p>
          <a:p>
            <a:pPr algn="ctr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</a:rPr>
              <a:t>bên ngoài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291840"/>
            <a:ext cx="2697480" cy="2743200"/>
          </a:xfrm>
          <a:prstGeom prst="roundRect">
            <a:avLst>
              <a:gd name="adj" fmla="val 6000"/>
            </a:avLst>
          </a:prstGeom>
          <a:solidFill>
            <a:srgbClr val="FB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48640" y="3474720"/>
            <a:ext cx="365760" cy="365760"/>
          </a:xfrm>
          <a:prstGeom prst="ellipse">
            <a:avLst/>
          </a:prstGeom>
          <a:solidFill>
            <a:srgbClr val="C02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456432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62626"/>
                </a:solidFill>
              </a:rPr>
              <a:t>Lưu và chia sẻ dữ liệu nhóm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069080"/>
            <a:ext cx="2331720" cy="18745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62626"/>
                </a:solidFill>
              </a:rPr>
              <a:t>Tài khoản, nhóm gia đình, thực phẩm, tủ lạnh, danh sách đi chợ, bữa ăn, công thức.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0" y="3291840"/>
            <a:ext cx="2697480" cy="2743200"/>
          </a:xfrm>
          <a:prstGeom prst="roundRect">
            <a:avLst>
              <a:gd name="adj" fmla="val 6000"/>
            </a:avLst>
          </a:prstGeom>
          <a:solidFill>
            <a:srgbClr val="FB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3383280" y="3474720"/>
            <a:ext cx="365760" cy="365760"/>
          </a:xfrm>
          <a:prstGeom prst="ellipse">
            <a:avLst/>
          </a:prstGeom>
          <a:solidFill>
            <a:srgbClr val="C02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86200" y="3456432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62626"/>
                </a:solidFill>
              </a:rPr>
              <a:t>Xác thực và phân quyền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4069080"/>
            <a:ext cx="2331720" cy="18745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62626"/>
                </a:solidFill>
              </a:rPr>
              <a:t>JWT access và refresh token.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62626"/>
                </a:solidFill>
              </a:rPr>
              <a:t>Quản trị viên, trưởng nhóm, thành viên.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35040" y="3291840"/>
            <a:ext cx="2697480" cy="2743200"/>
          </a:xfrm>
          <a:prstGeom prst="roundRect">
            <a:avLst>
              <a:gd name="adj" fmla="val 6000"/>
            </a:avLst>
          </a:prstGeom>
          <a:solidFill>
            <a:srgbClr val="FB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217920" y="3474720"/>
            <a:ext cx="365760" cy="365760"/>
          </a:xfrm>
          <a:prstGeom prst="ellipse">
            <a:avLst/>
          </a:prstGeom>
          <a:solidFill>
            <a:srgbClr val="C02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3456432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62626"/>
                </a:solidFill>
              </a:rPr>
              <a:t>Việc nền và dịch vụ ngoài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069080"/>
            <a:ext cx="2331720" cy="18745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62626"/>
                </a:solidFill>
              </a:rPr>
              <a:t>Cron quét hạn sử dụng mỗi ngày.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62626"/>
                </a:solidFill>
              </a:rPr>
              <a:t>Cloudinary, Gmail SMTP, Expo Push.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Công nghệ sử dụng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914400"/>
          <a:ext cx="8412480" cy="47548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Thành phần</a:t>
                      </a:r>
                    </a:p>
                  </a:txBody>
                  <a:tcPr marL="73152" marR="73152" marT="36576" marB="36576" anchor="ctr">
                    <a:solidFill>
                      <a:srgbClr val="C020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Công nghệ</a:t>
                      </a:r>
                    </a:p>
                  </a:txBody>
                  <a:tcPr marL="73152" marR="73152" marT="36576" marB="36576" anchor="ctr">
                    <a:solidFill>
                      <a:srgbClr val="C020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Lý do chọn</a:t>
                      </a:r>
                    </a:p>
                  </a:txBody>
                  <a:tcPr marL="73152" marR="73152" marT="36576" marB="36576" anchor="ctr">
                    <a:solidFill>
                      <a:srgbClr val="C020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2626"/>
                          </a:solidFill>
                        </a:rPr>
                        <a:t>Backend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Node.js + Express + Mongoose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Khớp đặc tả API của đề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2626"/>
                          </a:solidFill>
                        </a:rPr>
                        <a:t>Cơ sở dữ liệu</a:t>
                      </a:r>
                    </a:p>
                  </a:txBody>
                  <a:tcPr marL="73152" marR="73152" marT="36576" marB="36576" anchor="ctr">
                    <a:solidFill>
                      <a:srgbClr val="FBE9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MongoDB Atlas (M0)</a:t>
                      </a:r>
                    </a:p>
                  </a:txBody>
                  <a:tcPr marL="73152" marR="73152" marT="36576" marB="36576" anchor="ctr">
                    <a:solidFill>
                      <a:srgbClr val="FBE9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Miễn phí, dùng chung cả nhóm</a:t>
                      </a:r>
                    </a:p>
                  </a:txBody>
                  <a:tcPr marL="73152" marR="73152" marT="36576" marB="36576" anchor="ctr">
                    <a:solidFill>
                      <a:srgbClr val="FB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2626"/>
                          </a:solidFill>
                        </a:rPr>
                        <a:t>Xác thực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JWT (access + refresh)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Đúng API làm mới token của đề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2626"/>
                          </a:solidFill>
                        </a:rPr>
                        <a:t>Lưu ảnh</a:t>
                      </a:r>
                    </a:p>
                  </a:txBody>
                  <a:tcPr marL="73152" marR="73152" marT="36576" marB="36576" anchor="ctr">
                    <a:solidFill>
                      <a:srgbClr val="FBE9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Cloudinary</a:t>
                      </a:r>
                    </a:p>
                  </a:txBody>
                  <a:tcPr marL="73152" marR="73152" marT="36576" marB="36576" anchor="ctr">
                    <a:solidFill>
                      <a:srgbClr val="FBE9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Không mất ảnh khi triển khai lại</a:t>
                      </a:r>
                    </a:p>
                  </a:txBody>
                  <a:tcPr marL="73152" marR="73152" marT="36576" marB="36576" anchor="ctr">
                    <a:solidFill>
                      <a:srgbClr val="FB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2626"/>
                          </a:solidFill>
                        </a:rPr>
                        <a:t>Email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Nodemailer + Gmail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Gửi mã xác minh 6 số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2626"/>
                          </a:solidFill>
                        </a:rPr>
                        <a:t>Thông báo đẩy</a:t>
                      </a:r>
                    </a:p>
                  </a:txBody>
                  <a:tcPr marL="73152" marR="73152" marT="36576" marB="36576" anchor="ctr">
                    <a:solidFill>
                      <a:srgbClr val="FBE9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Expo Push Service</a:t>
                      </a:r>
                    </a:p>
                  </a:txBody>
                  <a:tcPr marL="73152" marR="73152" marT="36576" marB="36576" anchor="ctr">
                    <a:solidFill>
                      <a:srgbClr val="FBE9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Nhắc hết hạn trước 3 ngày</a:t>
                      </a:r>
                    </a:p>
                  </a:txBody>
                  <a:tcPr marL="73152" marR="73152" marT="36576" marB="36576" anchor="ctr">
                    <a:solidFill>
                      <a:srgbClr val="FB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2626"/>
                          </a:solidFill>
                        </a:rPr>
                        <a:t>Lập lịch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node-cron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Quét hạn sử dụng hằng ngày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2626"/>
                          </a:solidFill>
                        </a:rPr>
                        <a:t>Triển khai</a:t>
                      </a:r>
                    </a:p>
                  </a:txBody>
                  <a:tcPr marL="73152" marR="73152" marT="36576" marB="36576" anchor="ctr">
                    <a:solidFill>
                      <a:srgbClr val="FBE9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Render.com hoặc Railway</a:t>
                      </a:r>
                    </a:p>
                  </a:txBody>
                  <a:tcPr marL="73152" marR="73152" marT="36576" marB="36576" anchor="ctr">
                    <a:solidFill>
                      <a:srgbClr val="FBE9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Có sẵn HTTPS</a:t>
                      </a:r>
                    </a:p>
                  </a:txBody>
                  <a:tcPr marL="73152" marR="73152" marT="36576" marB="36576" anchor="ctr">
                    <a:solidFill>
                      <a:srgbClr val="FB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2626"/>
                          </a:solidFill>
                        </a:rPr>
                        <a:t>Kiểm thử API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Postman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Đề cung cấp collection mẫu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5760720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</a:rPr>
              <a:t>Mã lỗi 00023 (ObjectId) cho thấy đề gốc dùng MongoDB, nên backend chọn Node.js + MongoDB.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Kiến trúc tổng thể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3" name="Picture 2" descr="fig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607" y="822960"/>
            <a:ext cx="7446784" cy="4800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733288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</a:rPr>
              <a:t>Client chỉ nói chuyện với server qua HTTPS và JSON. Mọi dịch vụ ngoài đều do tầng Services gọi, cron job dùng lại chính các service đó.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Phân tầng và luồng một request</a:t>
            </a:r>
          </a:p>
        </p:txBody>
      </p: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3" name="Picture 2" descr="fi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" y="868680"/>
            <a:ext cx="8328355" cy="21031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365760" y="3337560"/>
            <a:ext cx="2697480" cy="2651760"/>
          </a:xfrm>
          <a:prstGeom prst="roundRect">
            <a:avLst>
              <a:gd name="adj" fmla="val 6000"/>
            </a:avLst>
          </a:prstGeom>
          <a:solidFill>
            <a:srgbClr val="FB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48640" y="3520440"/>
            <a:ext cx="365760" cy="365760"/>
          </a:xfrm>
          <a:prstGeom prst="ellipse">
            <a:avLst/>
          </a:prstGeom>
          <a:solidFill>
            <a:srgbClr val="C02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502152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62626"/>
                </a:solidFill>
              </a:rPr>
              <a:t>Phân tầng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0"/>
            <a:ext cx="233172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262626"/>
                </a:solidFill>
              </a:rPr>
              <a:t>Controller không chạm Model. Logic nằm ở Service, dùng lại cho app và admin, viết test đơn vị được.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3337560"/>
            <a:ext cx="2697480" cy="2651760"/>
          </a:xfrm>
          <a:prstGeom prst="roundRect">
            <a:avLst>
              <a:gd name="adj" fmla="val 6000"/>
            </a:avLst>
          </a:prstGeom>
          <a:solidFill>
            <a:srgbClr val="FB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383280" y="3520440"/>
            <a:ext cx="365760" cy="365760"/>
          </a:xfrm>
          <a:prstGeom prst="ellipse">
            <a:avLst/>
          </a:prstGeom>
          <a:solidFill>
            <a:srgbClr val="C02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0" y="3502152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62626"/>
                </a:solidFill>
              </a:rPr>
              <a:t>Đồng nhất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4114800"/>
            <a:ext cx="233172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262626"/>
                </a:solidFill>
              </a:rPr>
              <a:t>Mọi response đều có dạng code, message, data, kể cả khi thất bại.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3337560"/>
            <a:ext cx="2697480" cy="2651760"/>
          </a:xfrm>
          <a:prstGeom prst="roundRect">
            <a:avLst>
              <a:gd name="adj" fmla="val 6000"/>
            </a:avLst>
          </a:prstGeom>
          <a:solidFill>
            <a:srgbClr val="FB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217920" y="3520440"/>
            <a:ext cx="365760" cy="365760"/>
          </a:xfrm>
          <a:prstGeom prst="ellipse">
            <a:avLst/>
          </a:prstGeom>
          <a:solidFill>
            <a:srgbClr val="C02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3502152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62626"/>
                </a:solidFill>
              </a:rPr>
              <a:t>Trong suốt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114800"/>
            <a:ext cx="233172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262626"/>
                </a:solidFill>
              </a:rPr>
              <a:t>Mọi lỗi ném qua AppError, một errorHandler duy nhất bắt ở cuối chuỗi.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Mô hình dữ liệu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3" name="Picture 2" descr="fig_e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842" y="822960"/>
            <a:ext cx="7872314" cy="5074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8932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</a:rPr>
              <a:t>foods là collection trung tâm. Dữ liệu nghiệp vụ gắn với nhóm qua groupId; categories và units dùng chung toàn hệ thống.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Ràng buộc và chỉ mục</a:t>
            </a: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Rounded Rectangle 2"/>
          <p:cNvSpPr/>
          <p:nvPr/>
        </p:nvSpPr>
        <p:spPr>
          <a:xfrm>
            <a:off x="365760" y="868680"/>
            <a:ext cx="4023360" cy="5166360"/>
          </a:xfrm>
          <a:prstGeom prst="roundRect">
            <a:avLst>
              <a:gd name="adj" fmla="val 6000"/>
            </a:avLst>
          </a:prstGeom>
          <a:solidFill>
            <a:srgbClr val="FB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C02034"/>
                </a:solidFill>
              </a:rPr>
              <a:t>Ràng buộc nghiệp vụ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3657600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1">
                <a:solidFill>
                  <a:srgbClr val="C02034"/>
                </a:solidFill>
              </a:rPr>
              <a:t>1.  </a:t>
            </a:r>
            <a:r>
              <a:rPr sz="1500" b="0">
                <a:solidFill>
                  <a:srgbClr val="262626"/>
                </a:solidFill>
              </a:rPr>
              <a:t>Mỗi người dùng chỉ thuộc một nhóm (00093)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C02034"/>
                </a:solidFill>
              </a:rPr>
              <a:t>2.  </a:t>
            </a:r>
            <a:r>
              <a:rPr sz="1500" b="0">
                <a:solidFill>
                  <a:srgbClr val="262626"/>
                </a:solidFill>
              </a:rPr>
              <a:t>Tên thực phẩm duy nhất trong nhóm (00151)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C02034"/>
                </a:solidFill>
              </a:rPr>
              <a:t>3.  </a:t>
            </a:r>
            <a:r>
              <a:rPr sz="1500" b="0">
                <a:solidFill>
                  <a:srgbClr val="262626"/>
                </a:solidFill>
              </a:rPr>
              <a:t>Mỗi thực phẩm một mục trong tủ lạnh của nhóm (00199)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C02034"/>
                </a:solidFill>
              </a:rPr>
              <a:t>4.  </a:t>
            </a:r>
            <a:r>
              <a:rPr sz="1500" b="0">
                <a:solidFill>
                  <a:srgbClr val="262626"/>
                </a:solidFill>
              </a:rPr>
              <a:t>Mỗi món một lần trong một danh sách mua sắm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C02034"/>
                </a:solidFill>
              </a:rPr>
              <a:t>5.  </a:t>
            </a:r>
            <a:r>
              <a:rPr sz="1500" b="0">
                <a:solidFill>
                  <a:srgbClr val="262626"/>
                </a:solidFill>
              </a:rPr>
              <a:t>Chưa vào nhóm thì chỉ dùng API tài khoản (00096)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17720" y="86868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C02034"/>
                </a:solidFill>
              </a:rPr>
              <a:t>Chỉ mục cần tạo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617720" y="1325880"/>
          <a:ext cx="4160520" cy="499262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Collection</a:t>
                      </a:r>
                    </a:p>
                  </a:txBody>
                  <a:tcPr marL="73152" marR="73152" marT="36576" marB="36576" anchor="ctr">
                    <a:solidFill>
                      <a:srgbClr val="C020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Chỉ mục</a:t>
                      </a:r>
                    </a:p>
                  </a:txBody>
                  <a:tcPr marL="73152" marR="73152" marT="36576" marB="36576" anchor="ctr">
                    <a:solidFill>
                      <a:srgbClr val="C020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</a:rPr>
                        <a:t>users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email, username (duy nhất)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</a:rPr>
                        <a:t>foods</a:t>
                      </a:r>
                    </a:p>
                  </a:txBody>
                  <a:tcPr marL="73152" marR="73152" marT="36576" marB="36576" anchor="ctr">
                    <a:solidFill>
                      <a:srgbClr val="FBE9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groupId + name (duy nhất)</a:t>
                      </a:r>
                    </a:p>
                  </a:txBody>
                  <a:tcPr marL="73152" marR="73152" marT="36576" marB="36576" anchor="ctr">
                    <a:solidFill>
                      <a:srgbClr val="FB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</a:rPr>
                        <a:t>fridgeitems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groupId + foodId (duy nhất); expiryDate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</a:rPr>
                        <a:t>tasks</a:t>
                      </a:r>
                    </a:p>
                  </a:txBody>
                  <a:tcPr marL="73152" marR="73152" marT="36576" marB="36576" anchor="ctr">
                    <a:solidFill>
                      <a:srgbClr val="FBE9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listId + foodId (duy nhất)</a:t>
                      </a:r>
                    </a:p>
                  </a:txBody>
                  <a:tcPr marL="73152" marR="73152" marT="36576" marB="36576" anchor="ctr">
                    <a:solidFill>
                      <a:srgbClr val="FB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</a:rPr>
                        <a:t>mealplans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groupId + timestamp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</a:rPr>
                        <a:t>logs</a:t>
                      </a:r>
                    </a:p>
                  </a:txBody>
                  <a:tcPr marL="73152" marR="73152" marT="36576" marB="36576" anchor="ctr">
                    <a:solidFill>
                      <a:srgbClr val="FBE9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groupId + createdAt giảm dần</a:t>
                      </a:r>
                    </a:p>
                  </a:txBody>
                  <a:tcPr marL="73152" marR="73152" marT="36576" marB="36576" anchor="ctr">
                    <a:solidFill>
                      <a:srgbClr val="FB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Khuôn response thống nhất</a:t>
            </a:r>
          </a:p>
        </p:txBody>
      </p:sp>
      <p:sp>
        <p:nvSpPr>
          <p:cNvPr id="18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C02034"/>
                </a:solidFill>
              </a:rPr>
              <a:t>Thành công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34440"/>
            <a:ext cx="4572000" cy="2011680"/>
          </a:xfrm>
          <a:prstGeom prst="roundRect">
            <a:avLst>
              <a:gd name="adj" fmla="val 4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429768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Consolas"/>
              </a:rPr>
              <a:t>{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Consolas"/>
              </a:rPr>
              <a:t>  "code": "00047",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Consolas"/>
              </a:rPr>
              <a:t>  "message": "Bạn đã đăng nhập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Consolas"/>
              </a:rPr>
              <a:t>             thành công.",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Consolas"/>
              </a:rPr>
              <a:t>  "data": { ... }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4747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C02034"/>
                </a:solidFill>
              </a:rPr>
              <a:t>Thất bại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840480"/>
            <a:ext cx="4572000" cy="2011680"/>
          </a:xfrm>
          <a:prstGeom prst="roundRect">
            <a:avLst>
              <a:gd name="adj" fmla="val 4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3931920"/>
            <a:ext cx="429768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Consolas"/>
              </a:rPr>
              <a:t>{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Consolas"/>
              </a:rPr>
              <a:t>  "code": "00045",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Consolas"/>
              </a:rPr>
              <a:t>  "message": "Email hoặc mật khẩu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Consolas"/>
              </a:rPr>
              <a:t>             không hợp lệ.",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Consolas"/>
              </a:rPr>
              <a:t>  "data": null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66360" y="868680"/>
            <a:ext cx="3611880" cy="1600200"/>
          </a:xfrm>
          <a:prstGeom prst="roundRect">
            <a:avLst>
              <a:gd name="adj" fmla="val 6000"/>
            </a:avLst>
          </a:prstGeom>
          <a:solidFill>
            <a:srgbClr val="FB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49240" y="1033271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262626"/>
                </a:solidFill>
              </a:rPr>
              <a:t>Địa chỉ gốc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1463040"/>
            <a:ext cx="3246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262626"/>
                </a:solidFill>
              </a:rPr>
              <a:t>Dev: localhost:5000/it4788/</a:t>
            </a: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262626"/>
                </a:solidFill>
              </a:rPr>
              <a:t>Prod: https://&lt;tên-miền&gt;/it4788/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66360" y="2606039"/>
            <a:ext cx="3611880" cy="1600200"/>
          </a:xfrm>
          <a:prstGeom prst="roundRect">
            <a:avLst>
              <a:gd name="adj" fmla="val 6000"/>
            </a:avLst>
          </a:prstGeom>
          <a:solidFill>
            <a:srgbClr val="FB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49240" y="2770632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262626"/>
                </a:solidFill>
              </a:rPr>
              <a:t>Mã lỗi tập trung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3200399"/>
            <a:ext cx="3246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262626"/>
                </a:solidFill>
              </a:rPr>
              <a:t>Hơn 200 mã nằm trong một file responseCode.js; không gõ tay mã lỗi.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6360" y="4343400"/>
            <a:ext cx="3611880" cy="1600200"/>
          </a:xfrm>
          <a:prstGeom prst="roundRect">
            <a:avLst>
              <a:gd name="adj" fmla="val 6000"/>
            </a:avLst>
          </a:prstGeom>
          <a:solidFill>
            <a:srgbClr val="FB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49240" y="4507992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262626"/>
                </a:solidFill>
              </a:rPr>
              <a:t>Dựa vào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4937760"/>
            <a:ext cx="3246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262626"/>
                </a:solidFill>
              </a:rPr>
              <a:t>App xử lý theo trường code, không theo HTTP status.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Các nhóm API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10</a:t>
            </a:fld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868680"/>
          <a:ext cx="8412480" cy="47548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Nhóm</a:t>
                      </a:r>
                    </a:p>
                  </a:txBody>
                  <a:tcPr marL="73152" marR="73152" marT="36576" marB="36576" anchor="ctr">
                    <a:solidFill>
                      <a:srgbClr val="C020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Endpoint chính</a:t>
                      </a:r>
                    </a:p>
                  </a:txBody>
                  <a:tcPr marL="73152" marR="73152" marT="36576" marB="36576" anchor="ctr">
                    <a:solidFill>
                      <a:srgbClr val="C020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Chức năng</a:t>
                      </a:r>
                    </a:p>
                  </a:txBody>
                  <a:tcPr marL="73152" marR="73152" marT="36576" marB="36576" anchor="ctr">
                    <a:solidFill>
                      <a:srgbClr val="C020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</a:rPr>
                        <a:t>Xác thực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onsolas"/>
                        </a:rPr>
                        <a:t>/user/login, /user, /logout, /refresh-token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Đăng nhập, xác minh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</a:rPr>
                        <a:t>Tài khoản</a:t>
                      </a:r>
                    </a:p>
                  </a:txBody>
                  <a:tcPr marL="73152" marR="73152" marT="36576" marB="36576" anchor="ctr">
                    <a:solidFill>
                      <a:srgbClr val="FBE9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onsolas"/>
                        </a:rPr>
                        <a:t>/user (GET, PUT, DELETE), /change-password</a:t>
                      </a:r>
                    </a:p>
                  </a:txBody>
                  <a:tcPr marL="73152" marR="73152" marT="36576" marB="36576" anchor="ctr">
                    <a:solidFill>
                      <a:srgbClr val="FBE9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Hồ sơ cá nhân</a:t>
                      </a:r>
                    </a:p>
                  </a:txBody>
                  <a:tcPr marL="73152" marR="73152" marT="36576" marB="36576" anchor="ctr">
                    <a:solidFill>
                      <a:srgbClr val="FB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</a:rPr>
                        <a:t>Nhóm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onsolas"/>
                        </a:rPr>
                        <a:t>/user/group, /user/group/add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Nhóm gia đình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</a:rPr>
                        <a:t>Danh mục, đơn vị</a:t>
                      </a:r>
                    </a:p>
                  </a:txBody>
                  <a:tcPr marL="73152" marR="73152" marT="36576" marB="36576" anchor="ctr">
                    <a:solidFill>
                      <a:srgbClr val="FBE9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onsolas"/>
                        </a:rPr>
                        <a:t>/admin/category, /admin/unit, /admin/logs</a:t>
                      </a:r>
                    </a:p>
                  </a:txBody>
                  <a:tcPr marL="73152" marR="73152" marT="36576" marB="36576" anchor="ctr">
                    <a:solidFill>
                      <a:srgbClr val="FBE9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Quản trị hệ thống</a:t>
                      </a:r>
                    </a:p>
                  </a:txBody>
                  <a:tcPr marL="73152" marR="73152" marT="36576" marB="36576" anchor="ctr">
                    <a:solidFill>
                      <a:srgbClr val="FB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</a:rPr>
                        <a:t>Thực phẩm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onsolas"/>
                        </a:rPr>
                        <a:t>/food (CRUD, tải ảnh)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Kho thực phẩm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</a:rPr>
                        <a:t>Tủ lạnh</a:t>
                      </a:r>
                    </a:p>
                  </a:txBody>
                  <a:tcPr marL="73152" marR="73152" marT="36576" marB="36576" anchor="ctr">
                    <a:solidFill>
                      <a:srgbClr val="FBE9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onsolas"/>
                        </a:rPr>
                        <a:t>/fridge (CRUD)</a:t>
                      </a:r>
                    </a:p>
                  </a:txBody>
                  <a:tcPr marL="73152" marR="73152" marT="36576" marB="36576" anchor="ctr">
                    <a:solidFill>
                      <a:srgbClr val="FBE9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Theo dõi hạn dùng</a:t>
                      </a:r>
                    </a:p>
                  </a:txBody>
                  <a:tcPr marL="73152" marR="73152" marT="36576" marB="36576" anchor="ctr">
                    <a:solidFill>
                      <a:srgbClr val="FB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</a:rPr>
                        <a:t>Đi chợ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onsolas"/>
                        </a:rPr>
                        <a:t>/shopping, /shopping/task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Danh sách, phân công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</a:rPr>
                        <a:t>Bữa ăn, công thức</a:t>
                      </a:r>
                    </a:p>
                  </a:txBody>
                  <a:tcPr marL="73152" marR="73152" marT="36576" marB="36576" anchor="ctr">
                    <a:solidFill>
                      <a:srgbClr val="FBE9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onsolas"/>
                        </a:rPr>
                        <a:t>/meal, /recipe</a:t>
                      </a:r>
                    </a:p>
                  </a:txBody>
                  <a:tcPr marL="73152" marR="73152" marT="36576" marB="36576" anchor="ctr">
                    <a:solidFill>
                      <a:srgbClr val="FBE9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Lịch ăn, công thức</a:t>
                      </a:r>
                    </a:p>
                  </a:txBody>
                  <a:tcPr marL="73152" marR="73152" marT="36576" marB="36576" anchor="ctr">
                    <a:solidFill>
                      <a:srgbClr val="FB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</a:rPr>
                        <a:t>Bổ sung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onsolas"/>
                        </a:rPr>
                        <a:t>/food/search, /meal/suggestion, /report/*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Tìm, gợi ý, thống kê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5760720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</a:rPr>
              <a:t>Toàn bộ endpoint nằm dưới địa chỉ gốc /it4788/ và đều trả response theo khuôn chuẩn.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Điều chỉnh đặc tả và API bổ sung</a:t>
            </a:r>
          </a:p>
        </p:txBody>
      </p:sp>
      <p:sp>
        <p:nvSpPr>
          <p:cNvPr id="17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Rounded Rectangle 2"/>
          <p:cNvSpPr/>
          <p:nvPr/>
        </p:nvSpPr>
        <p:spPr>
          <a:xfrm>
            <a:off x="365760" y="868680"/>
            <a:ext cx="4160520" cy="5166360"/>
          </a:xfrm>
          <a:prstGeom prst="roundRect">
            <a:avLst>
              <a:gd name="adj" fmla="val 6000"/>
            </a:avLst>
          </a:prstGeom>
          <a:solidFill>
            <a:srgbClr val="FB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02034"/>
                </a:solidFill>
              </a:rPr>
              <a:t>4 lỗi nghiêm trọng đã sửa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38404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262626"/>
                </a:solidFill>
              </a:rPr>
              <a:t>Tải ảnh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595959"/>
                </a:solidFill>
              </a:rPr>
              <a:t>Content-Type phải là multipart/form-data, không phải x-www-form-urlencoded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38404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262626"/>
                </a:solidFill>
              </a:rPr>
              <a:t>Logout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595959"/>
                </a:solidFill>
              </a:rPr>
              <a:t>Yêu cầu Bearer Token để thu hồi refresh token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38404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262626"/>
                </a:solidFill>
              </a:rPr>
              <a:t>Tạo nhóm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595959"/>
                </a:solidFill>
              </a:rPr>
              <a:t>Thêm body groupName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937760"/>
            <a:ext cx="38404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262626"/>
                </a:solidFill>
              </a:rPr>
              <a:t>Sửa task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595959"/>
                </a:solidFill>
              </a:rPr>
              <a:t>Bổ sung newQuantity, đúng với mã 00302, 00304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868680"/>
            <a:ext cx="4160520" cy="51663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00600" y="100584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02034"/>
                </a:solidFill>
              </a:rPr>
              <a:t>6 chức năng API còn thiếu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1508760"/>
            <a:ext cx="3840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>
                <a:solidFill>
                  <a:srgbClr val="262626"/>
                </a:solidFill>
              </a:rPr>
              <a:t>Tìm kiếm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595959"/>
                </a:solidFill>
                <a:latin typeface="Consolas"/>
              </a:rPr>
              <a:t>GET /food/search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267712"/>
            <a:ext cx="3840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>
                <a:solidFill>
                  <a:srgbClr val="262626"/>
                </a:solidFill>
              </a:rPr>
              <a:t>Gợi ý món ăn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595959"/>
                </a:solidFill>
                <a:latin typeface="Consolas"/>
              </a:rPr>
              <a:t>GET /meal/suggestion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3026664"/>
            <a:ext cx="3840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>
                <a:solidFill>
                  <a:srgbClr val="262626"/>
                </a:solidFill>
              </a:rPr>
              <a:t>Thống kê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595959"/>
                </a:solidFill>
                <a:latin typeface="Consolas"/>
              </a:rPr>
              <a:t>GET /report/shopping, consumption, waste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3785615"/>
            <a:ext cx="3840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>
                <a:solidFill>
                  <a:srgbClr val="262626"/>
                </a:solidFill>
              </a:rPr>
              <a:t>Device token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595959"/>
                </a:solidFill>
                <a:latin typeface="Consolas"/>
              </a:rPr>
              <a:t>PUT /user/device-token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4544568"/>
            <a:ext cx="3840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>
                <a:solidFill>
                  <a:srgbClr val="262626"/>
                </a:solidFill>
              </a:rPr>
              <a:t>Đã mua xong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595959"/>
                </a:solidFill>
                <a:latin typeface="Consolas"/>
              </a:rPr>
              <a:t>PATCH /shopping/task/:id/complete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5303520"/>
            <a:ext cx="3840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>
                <a:solidFill>
                  <a:srgbClr val="262626"/>
                </a:solidFill>
              </a:rPr>
              <a:t>Vị trí trong tủ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595959"/>
                </a:solidFill>
                <a:latin typeface="Consolas"/>
              </a:rPr>
              <a:t>Trường location của fridge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Xác thực và phân quyền</a:t>
            </a:r>
          </a:p>
        </p:txBody>
      </p:sp>
      <p:sp>
        <p:nvSpPr>
          <p:cNvPr id="3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Rounded Rectangle 2"/>
          <p:cNvSpPr/>
          <p:nvPr/>
        </p:nvSpPr>
        <p:spPr>
          <a:xfrm>
            <a:off x="365760" y="868680"/>
            <a:ext cx="1920240" cy="11887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50" b="1">
                <a:solidFill>
                  <a:srgbClr val="C02034"/>
                </a:solidFill>
              </a:rPr>
              <a:t>Đăng nhập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737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</a:rPr>
              <a:t>email + mật khẩu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234440"/>
            <a:ext cx="2468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C02034"/>
                </a:solidFill>
              </a:rPr>
              <a:t>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32888" y="868680"/>
            <a:ext cx="1920240" cy="1188720"/>
          </a:xfrm>
          <a:prstGeom prst="roundRect">
            <a:avLst>
              <a:gd name="adj" fmla="val 6000"/>
            </a:avLst>
          </a:prstGeom>
          <a:solidFill>
            <a:srgbClr val="FB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624328" y="9601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50" b="1">
                <a:solidFill>
                  <a:srgbClr val="C02034"/>
                </a:solidFill>
              </a:rPr>
              <a:t>Access token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4328" y="1371600"/>
            <a:ext cx="1737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</a:rPr>
              <a:t>hiệu lực 1 giờ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3128" y="1234440"/>
            <a:ext cx="2468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C02034"/>
                </a:solidFill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0016" y="868680"/>
            <a:ext cx="1920240" cy="1188720"/>
          </a:xfrm>
          <a:prstGeom prst="roundRect">
            <a:avLst>
              <a:gd name="adj" fmla="val 6000"/>
            </a:avLst>
          </a:prstGeom>
          <a:solidFill>
            <a:srgbClr val="FB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91456" y="9601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50" b="1">
                <a:solidFill>
                  <a:srgbClr val="C02034"/>
                </a:solidFill>
              </a:rPr>
              <a:t>Refresh token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91456" y="1371600"/>
            <a:ext cx="1737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</a:rPr>
              <a:t>hiệu lực 7 ngày, lưu để thu hồi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0256" y="1234440"/>
            <a:ext cx="2468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C02034"/>
                </a:solidFill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67144" y="868680"/>
            <a:ext cx="1920240" cy="11887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58584" y="9601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50" b="1">
                <a:solidFill>
                  <a:srgbClr val="C02034"/>
                </a:solidFill>
              </a:rPr>
              <a:t>Đăng xuất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58584" y="1371600"/>
            <a:ext cx="1737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</a:rPr>
              <a:t>xóa refreshToken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194560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95959"/>
                </a:solidFill>
              </a:rPr>
              <a:t>Token hết hạn (00011, 00012): app tự gọi refresh-token rồi phát lại request cũ. Chỉ khi refresh hỏng (00062) mới về màn hình đăng nhập.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2971800"/>
            <a:ext cx="2697480" cy="2377440"/>
          </a:xfrm>
          <a:prstGeom prst="roundRect">
            <a:avLst>
              <a:gd name="adj" fmla="val 6000"/>
            </a:avLst>
          </a:prstGeom>
          <a:solidFill>
            <a:srgbClr val="FB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48640" y="3154680"/>
            <a:ext cx="365760" cy="365760"/>
          </a:xfrm>
          <a:prstGeom prst="ellipse">
            <a:avLst/>
          </a:prstGeom>
          <a:solidFill>
            <a:srgbClr val="C02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3136392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62626"/>
                </a:solidFill>
              </a:rPr>
              <a:t>Quản trị viên hệ thống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749039"/>
            <a:ext cx="2331720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62626"/>
                </a:solidFill>
              </a:rPr>
              <a:t>role = admin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62626"/>
                </a:solidFill>
              </a:rPr>
              <a:t>Quản lý danh mục, đơn vị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62626"/>
                </a:solidFill>
              </a:rPr>
              <a:t>Xem logs, quản lý tài khoản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0" y="2971800"/>
            <a:ext cx="2697480" cy="2377440"/>
          </a:xfrm>
          <a:prstGeom prst="roundRect">
            <a:avLst>
              <a:gd name="adj" fmla="val 6000"/>
            </a:avLst>
          </a:prstGeom>
          <a:solidFill>
            <a:srgbClr val="FB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3383280" y="3154680"/>
            <a:ext cx="365760" cy="365760"/>
          </a:xfrm>
          <a:prstGeom prst="ellipse">
            <a:avLst/>
          </a:prstGeom>
          <a:solidFill>
            <a:srgbClr val="C02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86200" y="3136392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62626"/>
                </a:solidFill>
              </a:rPr>
              <a:t>Trưởng nhóm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3749039"/>
            <a:ext cx="2331720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62626"/>
                </a:solidFill>
              </a:rPr>
              <a:t>group.adminId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62626"/>
                </a:solidFill>
              </a:rPr>
              <a:t>Thêm, xóa thành viên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62626"/>
                </a:solidFill>
              </a:rPr>
              <a:t>Tạo, phân công danh sách đi chợ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35040" y="2971800"/>
            <a:ext cx="2697480" cy="2377440"/>
          </a:xfrm>
          <a:prstGeom prst="roundRect">
            <a:avLst>
              <a:gd name="adj" fmla="val 6000"/>
            </a:avLst>
          </a:prstGeom>
          <a:solidFill>
            <a:srgbClr val="FB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217920" y="3154680"/>
            <a:ext cx="365760" cy="365760"/>
          </a:xfrm>
          <a:prstGeom prst="ellipse">
            <a:avLst/>
          </a:prstGeom>
          <a:solidFill>
            <a:srgbClr val="C02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3136392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62626"/>
                </a:solidFill>
              </a:rPr>
              <a:t>Thành viên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3749039"/>
            <a:ext cx="2331720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62626"/>
                </a:solidFill>
              </a:rPr>
              <a:t>Có groupId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62626"/>
                </a:solidFill>
              </a:rPr>
              <a:t>Xem, sửa dữ liệu nhóm mình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62626"/>
                </a:solidFill>
              </a:rPr>
              <a:t>Hoàn thành việc được giao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5486400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95959"/>
                </a:solidFill>
              </a:rPr>
              <a:t>Mật khẩu băm bằng bcrypt · dữ liệu kiểm tra bằng Joi · truy vấn theo groupId nên nhóm này không đọc được dữ liệu nhóm khác.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Luồng nghiệp vụ: đăng ký và nhắc hết hạn</a:t>
            </a:r>
          </a:p>
        </p:txBody>
      </p:sp>
      <p:sp>
        <p:nvSpPr>
          <p:cNvPr id="29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Rounded Rectangle 2"/>
          <p:cNvSpPr/>
          <p:nvPr/>
        </p:nvSpPr>
        <p:spPr>
          <a:xfrm>
            <a:off x="365760" y="868680"/>
            <a:ext cx="4114800" cy="4434840"/>
          </a:xfrm>
          <a:prstGeom prst="roundRect">
            <a:avLst>
              <a:gd name="adj" fmla="val 6000"/>
            </a:avLst>
          </a:prstGeom>
          <a:solidFill>
            <a:srgbClr val="FB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37490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02034"/>
                </a:solidFill>
              </a:rPr>
              <a:t>Đăng ký và xác minh email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554480"/>
            <a:ext cx="365760" cy="365760"/>
          </a:xfrm>
          <a:prstGeom prst="ellipse">
            <a:avLst/>
          </a:prstGeom>
          <a:solidFill>
            <a:srgbClr val="C02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508760"/>
            <a:ext cx="32918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</a:rPr>
              <a:t>POST /user: kiểm tra email trùng, băm mật khẩu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304287"/>
            <a:ext cx="365760" cy="365760"/>
          </a:xfrm>
          <a:prstGeom prst="ellipse">
            <a:avLst/>
          </a:prstGeom>
          <a:solidFill>
            <a:srgbClr val="C02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258568"/>
            <a:ext cx="32918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</a:rPr>
              <a:t>Sinh mã 6 số, hết hạn sau 10 phút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054096"/>
            <a:ext cx="365760" cy="365760"/>
          </a:xfrm>
          <a:prstGeom prst="ellipse">
            <a:avLst/>
          </a:prstGeom>
          <a:solidFill>
            <a:srgbClr val="C02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008376"/>
            <a:ext cx="32918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</a:rPr>
              <a:t>Gửi mã qua Gmail SMTP, trả 00035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803903"/>
            <a:ext cx="365760" cy="365760"/>
          </a:xfrm>
          <a:prstGeom prst="ellipse">
            <a:avLst/>
          </a:prstGeom>
          <a:solidFill>
            <a:srgbClr val="C02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758183"/>
            <a:ext cx="32918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</a:rPr>
              <a:t>POST /user/verify-email: sai mã trả 00054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553712"/>
            <a:ext cx="365760" cy="365760"/>
          </a:xfrm>
          <a:prstGeom prst="ellipse">
            <a:avLst/>
          </a:prstGeom>
          <a:solidFill>
            <a:srgbClr val="C02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507992"/>
            <a:ext cx="32918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</a:rPr>
              <a:t>Đăng nhập, nhận access và refresh token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868680"/>
            <a:ext cx="4114800" cy="44348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46320" y="960120"/>
            <a:ext cx="37490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02034"/>
                </a:solidFill>
              </a:rPr>
              <a:t>Nhắc thực phẩm sắp hết hạn</a:t>
            </a:r>
          </a:p>
        </p:txBody>
      </p:sp>
      <p:sp>
        <p:nvSpPr>
          <p:cNvPr id="17" name="Oval 16"/>
          <p:cNvSpPr/>
          <p:nvPr/>
        </p:nvSpPr>
        <p:spPr>
          <a:xfrm>
            <a:off x="4846320" y="1554480"/>
            <a:ext cx="365760" cy="365760"/>
          </a:xfrm>
          <a:prstGeom prst="ellipse">
            <a:avLst/>
          </a:prstGeom>
          <a:solidFill>
            <a:srgbClr val="C02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1508760"/>
            <a:ext cx="32918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</a:rPr>
              <a:t>Cron 08:00 mỗi ngày</a:t>
            </a:r>
          </a:p>
        </p:txBody>
      </p:sp>
      <p:sp>
        <p:nvSpPr>
          <p:cNvPr id="19" name="Oval 18"/>
          <p:cNvSpPr/>
          <p:nvPr/>
        </p:nvSpPr>
        <p:spPr>
          <a:xfrm>
            <a:off x="4846320" y="2304287"/>
            <a:ext cx="365760" cy="365760"/>
          </a:xfrm>
          <a:prstGeom prst="ellipse">
            <a:avLst/>
          </a:prstGeom>
          <a:solidFill>
            <a:srgbClr val="C02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2258568"/>
            <a:ext cx="32918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</a:rPr>
              <a:t>Tìm fridgeitems còn 3 ngày và isNotified = false</a:t>
            </a:r>
          </a:p>
        </p:txBody>
      </p:sp>
      <p:sp>
        <p:nvSpPr>
          <p:cNvPr id="21" name="Oval 20"/>
          <p:cNvSpPr/>
          <p:nvPr/>
        </p:nvSpPr>
        <p:spPr>
          <a:xfrm>
            <a:off x="4846320" y="3054096"/>
            <a:ext cx="365760" cy="365760"/>
          </a:xfrm>
          <a:prstGeom prst="ellipse">
            <a:avLst/>
          </a:prstGeom>
          <a:solidFill>
            <a:srgbClr val="C02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3008376"/>
            <a:ext cx="32918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</a:rPr>
              <a:t>Lấy deviceToken mọi thành viên nhóm</a:t>
            </a:r>
          </a:p>
        </p:txBody>
      </p:sp>
      <p:sp>
        <p:nvSpPr>
          <p:cNvPr id="23" name="Oval 22"/>
          <p:cNvSpPr/>
          <p:nvPr/>
        </p:nvSpPr>
        <p:spPr>
          <a:xfrm>
            <a:off x="4846320" y="3803903"/>
            <a:ext cx="365760" cy="365760"/>
          </a:xfrm>
          <a:prstGeom prst="ellipse">
            <a:avLst/>
          </a:prstGeom>
          <a:solidFill>
            <a:srgbClr val="C02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3758183"/>
            <a:ext cx="32918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</a:rPr>
              <a:t>Gửi lô thông báo qua Expo Push</a:t>
            </a:r>
          </a:p>
        </p:txBody>
      </p:sp>
      <p:sp>
        <p:nvSpPr>
          <p:cNvPr id="25" name="Oval 24"/>
          <p:cNvSpPr/>
          <p:nvPr/>
        </p:nvSpPr>
        <p:spPr>
          <a:xfrm>
            <a:off x="4846320" y="4553712"/>
            <a:ext cx="365760" cy="365760"/>
          </a:xfrm>
          <a:prstGeom prst="ellipse">
            <a:avLst/>
          </a:prstGeom>
          <a:solidFill>
            <a:srgbClr val="C02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4507992"/>
            <a:ext cx="32918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</a:rPr>
              <a:t>Đặt isNotified = true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5440680"/>
            <a:ext cx="8412480" cy="594360"/>
          </a:xfrm>
          <a:prstGeom prst="roundRect">
            <a:avLst>
              <a:gd name="adj" fmla="val 6000"/>
            </a:avLst>
          </a:prstGeom>
          <a:solidFill>
            <a:srgbClr val="E49C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5440680"/>
            <a:ext cx="80467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</a:rPr>
              <a:t>Cờ isNotified chống nhắc lặp mỗi ngày; sửa expiryDate thì đặt lại về false.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Gợi ý món ăn và thống kê</a:t>
            </a:r>
          </a:p>
        </p:txBody>
      </p:sp>
      <p:sp>
        <p:nvSpPr>
          <p:cNvPr id="2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C02034"/>
                </a:solidFill>
                <a:latin typeface="Consolas"/>
              </a:rPr>
              <a:t>GET /meal/suggestion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4114800" cy="960120"/>
          </a:xfrm>
          <a:prstGeom prst="roundRect">
            <a:avLst>
              <a:gd name="adj" fmla="val 6000"/>
            </a:avLst>
          </a:prstGeom>
          <a:solidFill>
            <a:srgbClr val="FB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48640" y="1664208"/>
            <a:ext cx="365760" cy="365760"/>
          </a:xfrm>
          <a:prstGeom prst="ellipse">
            <a:avLst/>
          </a:prstGeom>
          <a:solidFill>
            <a:srgbClr val="C02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371600"/>
            <a:ext cx="329184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262626"/>
                </a:solidFill>
              </a:rPr>
              <a:t>Lấy foodId đang có trong tủ lạnh của nhóm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468880"/>
            <a:ext cx="4114800" cy="960120"/>
          </a:xfrm>
          <a:prstGeom prst="roundRect">
            <a:avLst>
              <a:gd name="adj" fmla="val 6000"/>
            </a:avLst>
          </a:prstGeom>
          <a:solidFill>
            <a:srgbClr val="FB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48640" y="2761488"/>
            <a:ext cx="365760" cy="365760"/>
          </a:xfrm>
          <a:prstGeom prst="ellipse">
            <a:avLst/>
          </a:prstGeom>
          <a:solidFill>
            <a:srgbClr val="C02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68880"/>
            <a:ext cx="329184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262626"/>
                </a:solidFill>
              </a:rPr>
              <a:t>Tìm recipe có foodId nằm trong danh sách đó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566160"/>
            <a:ext cx="4114800" cy="960120"/>
          </a:xfrm>
          <a:prstGeom prst="roundRect">
            <a:avLst>
              <a:gd name="adj" fmla="val 6000"/>
            </a:avLst>
          </a:prstGeom>
          <a:solidFill>
            <a:srgbClr val="FB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48640" y="3858768"/>
            <a:ext cx="365760" cy="365760"/>
          </a:xfrm>
          <a:prstGeom prst="ellipse">
            <a:avLst/>
          </a:prstGeom>
          <a:solidFill>
            <a:srgbClr val="C02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566160"/>
            <a:ext cx="329184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262626"/>
                </a:solidFill>
              </a:rPr>
              <a:t>Xếp món dùng thực phẩm gần hết hạn lên đầu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86868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C02034"/>
                </a:solidFill>
                <a:latin typeface="Consolas"/>
              </a:rPr>
              <a:t>GET /report/*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09160" y="1371600"/>
            <a:ext cx="4069080" cy="9601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92040" y="1463040"/>
            <a:ext cx="3749039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262626"/>
                </a:solidFill>
                <a:latin typeface="Consolas"/>
              </a:rPr>
              <a:t>shopping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595959"/>
                </a:solidFill>
              </a:rPr>
              <a:t>Những món đã mua trong khoảng from – 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9160" y="2468880"/>
            <a:ext cx="4069080" cy="9601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92040" y="2560320"/>
            <a:ext cx="3749039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262626"/>
                </a:solidFill>
                <a:latin typeface="Consolas"/>
              </a:rPr>
              <a:t>consumption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595959"/>
                </a:solidFill>
              </a:rPr>
              <a:t>Thực phẩm đã tiêu thụ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60" y="3566160"/>
            <a:ext cx="4069080" cy="9601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92040" y="3657600"/>
            <a:ext cx="3749039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262626"/>
                </a:solidFill>
                <a:latin typeface="Consolas"/>
              </a:rPr>
              <a:t>waste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595959"/>
                </a:solidFill>
              </a:rPr>
              <a:t>Thực phẩm hết hạn chưa dùng (lãng phí)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4709160"/>
            <a:ext cx="841248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9C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4754880"/>
            <a:ext cx="804672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E49C0F"/>
                </a:solidFill>
              </a:rPr>
              <a:t>Hạn chế đã biết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262626"/>
                </a:solidFill>
              </a:rPr>
              <a:t>Mỗi recipe chỉ gắn một foodId nên chưa xếp hạng theo số nguyên liệu khớp. Hướng mở rộng: thêm ingredients[] vào recipes và tính điểm theo tỷ lệ nguyên liệu có sẵn.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37B5C8-2095-4D2D-97FE-E4E8D8937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Title 10">
            <a:extLst>
              <a:ext uri="{FF2B5EF4-FFF2-40B4-BE49-F238E27FC236}">
                <a16:creationId xmlns:a16="http://schemas.microsoft.com/office/drawing/2014/main" id="{F78B3876-6ECC-4098-BDD1-C48CE4B42721}"/>
              </a:ext>
            </a:extLst>
          </p:cNvPr>
          <p:cNvSpPr txBox="1">
            <a:spLocks/>
          </p:cNvSpPr>
          <p:nvPr/>
        </p:nvSpPr>
        <p:spPr>
          <a:xfrm>
            <a:off x="4181094" y="3021991"/>
            <a:ext cx="4197975" cy="8140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4800" dirty="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2830535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111</TotalTime>
  <Words>1437</Words>
  <Application>Microsoft Office PowerPoint</Application>
  <PresentationFormat>On-screen Show (4:3)</PresentationFormat>
  <Paragraphs>274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Consolas</vt:lpstr>
      <vt:lpstr>Lato</vt:lpstr>
      <vt:lpstr>Office Theme</vt:lpstr>
      <vt:lpstr>PowerPoint Presentation</vt:lpstr>
      <vt:lpstr>Nội dung</vt:lpstr>
      <vt:lpstr>Vai trò và phạm vi của backend</vt:lpstr>
      <vt:lpstr>Công nghệ sử dụng</vt:lpstr>
      <vt:lpstr>Kiến trúc tổng thể</vt:lpstr>
      <vt:lpstr>Phân tầng và luồng một request</vt:lpstr>
      <vt:lpstr>Mô hình dữ liệu</vt:lpstr>
      <vt:lpstr>Ràng buộc và chỉ mục</vt:lpstr>
      <vt:lpstr>Khuôn response thống nhất</vt:lpstr>
      <vt:lpstr>Các nhóm API</vt:lpstr>
      <vt:lpstr>Điều chỉnh đặc tả và API bổ sung</vt:lpstr>
      <vt:lpstr>Xác thực và phân quyền</vt:lpstr>
      <vt:lpstr>Luồng nghiệp vụ: đăng ký và nhắc hết hạn</vt:lpstr>
      <vt:lpstr>Gợi ý món ăn và thống kê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Nguyen Manh Hung 20215388</cp:lastModifiedBy>
  <cp:revision>10</cp:revision>
  <dcterms:created xsi:type="dcterms:W3CDTF">2021-05-28T04:32:29Z</dcterms:created>
  <dcterms:modified xsi:type="dcterms:W3CDTF">2026-10-24T14:21:51Z</dcterms:modified>
</cp:coreProperties>
</file>